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4" r:id="rId10"/>
    <p:sldId id="259" r:id="rId5"/>
    <p:sldId id="260" r:id="rId6"/>
    <p:sldId id="267" r:id="rId18"/>
    <p:sldId id="262" r:id="rId8"/>
    <p:sldId id="261" r:id="rId7"/>
    <p:sldId id="263" r:id="rId9"/>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10.xml"/><Relationship Id="rId10" Type="http://schemas.openxmlformats.org/officeDocument/2006/relationships/slide" Target="slides/slide4.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A0A"/>
          </a:solidFill>
          <a:ln/>
        </p:spPr>
        <p:txBody>
          <a:bodyPr/>
          <a:p/>
        </p:txBody>
      </p:sp>
      <p:sp>
        <p:nvSpPr>
          <p:cNvPr id="3" name="Shape 1"/>
          <p:cNvSpPr/>
          <p:nvPr/>
        </p:nvSpPr>
        <p:spPr>
          <a:xfrm>
            <a:off x="0" y="0"/>
            <a:ext cx="73152" cy="6858000"/>
          </a:xfrm>
          <a:prstGeom prst="rect">
            <a:avLst/>
          </a:prstGeom>
          <a:solidFill>
            <a:srgbClr val="85D155"/>
          </a:solidFill>
          <a:ln/>
        </p:spPr>
        <p:txBody>
          <a:bodyPr/>
          <a:p/>
        </p:txBody>
      </p:sp>
      <p:sp>
        <p:nvSpPr>
          <p:cNvPr id="4" name="Text 2"/>
          <p:cNvSpPr/>
          <p:nvPr/>
        </p:nvSpPr>
        <p:spPr>
          <a:xfrm>
            <a:off x="731520" y="822960"/>
            <a:ext cx="3657600" cy="54864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Invest</a:t>
            </a:r>
            <a:pPr indent="0" marL="0">
              <a:buNone/>
            </a:pPr>
            <a:r>
              <a:rPr lang="en-US" sz="3200" b="1" dirty="0">
                <a:solidFill>
                  <a:srgbClr val="85D155"/>
                </a:solidFill>
                <a:latin typeface="Arial" pitchFamily="34" charset="0"/>
                <a:ea typeface="Arial" pitchFamily="34" charset="-122"/>
                <a:cs typeface="Arial" pitchFamily="34" charset="-120"/>
              </a:rPr>
              <a:t>Puppy</a:t>
            </a:r>
            <a:endParaRPr lang="en-US" sz="3200" dirty="0"/>
          </a:p>
        </p:txBody>
      </p:sp>
      <p:sp>
        <p:nvSpPr>
          <p:cNvPr id="5" name="Shape 3"/>
          <p:cNvSpPr/>
          <p:nvPr/>
        </p:nvSpPr>
        <p:spPr>
          <a:xfrm>
            <a:off x="731520" y="1508760"/>
            <a:ext cx="10725912" cy="0"/>
          </a:xfrm>
          <a:prstGeom prst="line">
            <a:avLst/>
          </a:prstGeom>
          <a:noFill/>
          <a:ln w="6350">
            <a:solidFill>
              <a:srgbClr val="333333"/>
            </a:solidFill>
            <a:prstDash val="solid"/>
          </a:ln>
        </p:spPr>
        <p:txBody>
          <a:bodyPr/>
          <a:p/>
        </p:txBody>
      </p:sp>
      <p:sp>
        <p:nvSpPr>
          <p:cNvPr id="6" name="Text 4"/>
          <p:cNvSpPr/>
          <p:nvPr/>
        </p:nvSpPr>
        <p:spPr>
          <a:xfrm>
            <a:off x="731520" y="1691640"/>
            <a:ext cx="8229600" cy="64008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Investor Presentation</a:t>
            </a:r>
            <a:endParaRPr lang="en-US" sz="3400" dirty="0"/>
          </a:p>
        </p:txBody>
      </p:sp>
      <p:sp>
        <p:nvSpPr>
          <p:cNvPr id="7" name="Text 5"/>
          <p:cNvSpPr/>
          <p:nvPr/>
        </p:nvSpPr>
        <p:spPr>
          <a:xfrm>
            <a:off x="731520" y="2423160"/>
            <a:ext cx="9144000" cy="365760"/>
          </a:xfrm>
          <a:prstGeom prst="rect">
            <a:avLst/>
          </a:prstGeom>
          <a:noFill/>
          <a:ln/>
        </p:spPr>
        <p:txBody>
          <a:bodyPr wrap="square" rtlCol="0" anchor="ctr"/>
          <a:lstStyle/>
          <a:p>
            <a:pPr indent="0" marL="0">
              <a:buNone/>
            </a:pPr>
            <a:r>
              <a:rPr lang="en-US" sz="1400" dirty="0">
                <a:solidFill>
                  <a:srgbClr val="AAAAAA"/>
                </a:solidFill>
                <a:latin typeface="Arial" pitchFamily="34" charset="0"/>
                <a:ea typeface="Arial" pitchFamily="34" charset="-122"/>
                <a:cs typeface="Arial" pitchFamily="34" charset="-120"/>
              </a:rPr>
              <a:t>Vektor — Systematic Listed Equity Portfolio Management</a:t>
            </a:r>
            <a:endParaRPr lang="en-US" sz="1400" dirty="0"/>
          </a:p>
        </p:txBody>
      </p:sp>
      <p:sp>
        <p:nvSpPr>
          <p:cNvPr id="8" name="Text 6"/>
          <p:cNvSpPr/>
          <p:nvPr/>
        </p:nvSpPr>
        <p:spPr>
          <a:xfrm>
            <a:off x="731520" y="2926080"/>
            <a:ext cx="7315200" cy="320040"/>
          </a:xfrm>
          <a:prstGeom prst="rect">
            <a:avLst/>
          </a:prstGeom>
          <a:noFill/>
          <a:ln/>
        </p:spPr>
        <p:txBody>
          <a:bodyPr wrap="square" rtlCol="0" anchor="ctr"/>
          <a:lstStyle/>
          <a:p>
            <a:pPr indent="0" marL="0">
              <a:buNone/>
            </a:pPr>
            <a:r>
              <a:rPr lang="en-US" sz="1300" b="1" i="1" dirty="0">
                <a:solidFill>
                  <a:srgbClr val="85D155"/>
                </a:solidFill>
                <a:latin typeface="Arial" pitchFamily="34" charset="0"/>
                <a:ea typeface="Arial" pitchFamily="34" charset="-122"/>
                <a:cs typeface="Arial" pitchFamily="34" charset="-120"/>
              </a:rPr>
              <a:t>"Honest by design."</a:t>
            </a:r>
            <a:endParaRPr lang="en-US" sz="1300" dirty="0"/>
          </a:p>
        </p:txBody>
      </p:sp>
      <p:sp>
        <p:nvSpPr>
          <p:cNvPr id="9" name="Shape 7"/>
          <p:cNvSpPr/>
          <p:nvPr/>
        </p:nvSpPr>
        <p:spPr>
          <a:xfrm>
            <a:off x="731520" y="3429000"/>
            <a:ext cx="10725912" cy="0"/>
          </a:xfrm>
          <a:prstGeom prst="line">
            <a:avLst/>
          </a:prstGeom>
          <a:noFill/>
          <a:ln w="6350">
            <a:solidFill>
              <a:srgbClr val="333333"/>
            </a:solidFill>
            <a:prstDash val="solid"/>
          </a:ln>
        </p:spPr>
        <p:txBody>
          <a:bodyPr/>
          <a:p/>
        </p:txBody>
      </p:sp>
      <p:sp>
        <p:nvSpPr>
          <p:cNvPr id="10" name="Text 8"/>
          <p:cNvSpPr/>
          <p:nvPr/>
        </p:nvSpPr>
        <p:spPr>
          <a:xfrm>
            <a:off x="731520" y="3657600"/>
            <a:ext cx="1371600" cy="228600"/>
          </a:xfrm>
          <a:prstGeom prst="rect">
            <a:avLst/>
          </a:prstGeom>
          <a:noFill/>
          <a:ln/>
        </p:spPr>
        <p:txBody>
          <a:bodyPr wrap="square" rtlCol="0" anchor="ctr"/>
          <a:lstStyle/>
          <a:p>
            <a:pPr indent="0" marL="0">
              <a:buNone/>
            </a:pPr>
            <a:r>
              <a:rPr lang="en-US" sz="900" b="1" dirty="0">
                <a:solidFill>
                  <a:srgbClr val="888888"/>
                </a:solidFill>
                <a:latin typeface="Arial" pitchFamily="34" charset="0"/>
                <a:ea typeface="Arial" pitchFamily="34" charset="-122"/>
                <a:cs typeface="Arial" pitchFamily="34" charset="-120"/>
              </a:rPr>
              <a:t>Raise target:</a:t>
            </a:r>
            <a:endParaRPr lang="en-US" sz="900" dirty="0"/>
          </a:p>
        </p:txBody>
      </p:sp>
      <p:sp>
        <p:nvSpPr>
          <p:cNvPr id="11" name="Text 9"/>
          <p:cNvSpPr/>
          <p:nvPr/>
        </p:nvSpPr>
        <p:spPr>
          <a:xfrm>
            <a:off x="2194560" y="3657600"/>
            <a:ext cx="8229600" cy="22860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US$2.5M</a:t>
            </a:r>
            <a:endParaRPr lang="en-US" sz="900" dirty="0"/>
          </a:p>
        </p:txBody>
      </p:sp>
      <p:sp>
        <p:nvSpPr>
          <p:cNvPr id="12" name="Text 10"/>
          <p:cNvSpPr/>
          <p:nvPr/>
        </p:nvSpPr>
        <p:spPr>
          <a:xfrm>
            <a:off x="731520" y="3913632"/>
            <a:ext cx="1371600" cy="228600"/>
          </a:xfrm>
          <a:prstGeom prst="rect">
            <a:avLst/>
          </a:prstGeom>
          <a:noFill/>
          <a:ln/>
        </p:spPr>
        <p:txBody>
          <a:bodyPr wrap="square" rtlCol="0" anchor="ctr"/>
          <a:lstStyle/>
          <a:p>
            <a:pPr indent="0" marL="0">
              <a:buNone/>
            </a:pPr>
            <a:r>
              <a:rPr lang="en-US" sz="900" b="1" dirty="0">
                <a:solidFill>
                  <a:srgbClr val="888888"/>
                </a:solidFill>
                <a:latin typeface="Arial" pitchFamily="34" charset="0"/>
                <a:ea typeface="Arial" pitchFamily="34" charset="-122"/>
                <a:cs typeface="Arial" pitchFamily="34" charset="-120"/>
              </a:rPr>
              <a:t>Pre-money:</a:t>
            </a:r>
            <a:endParaRPr lang="en-US" sz="900" dirty="0"/>
          </a:p>
        </p:txBody>
      </p:sp>
      <p:sp>
        <p:nvSpPr>
          <p:cNvPr id="13" name="Text 11"/>
          <p:cNvSpPr/>
          <p:nvPr/>
        </p:nvSpPr>
        <p:spPr>
          <a:xfrm>
            <a:off x="2194560" y="3913632"/>
            <a:ext cx="8229600" cy="22860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US$9M – US$10M</a:t>
            </a:r>
            <a:endParaRPr lang="en-US" sz="900" dirty="0"/>
          </a:p>
        </p:txBody>
      </p:sp>
      <p:sp>
        <p:nvSpPr>
          <p:cNvPr id="14" name="Text 12"/>
          <p:cNvSpPr/>
          <p:nvPr/>
        </p:nvSpPr>
        <p:spPr>
          <a:xfrm>
            <a:off x="731520" y="4169664"/>
            <a:ext cx="1371600" cy="228600"/>
          </a:xfrm>
          <a:prstGeom prst="rect">
            <a:avLst/>
          </a:prstGeom>
          <a:noFill/>
          <a:ln/>
        </p:spPr>
        <p:txBody>
          <a:bodyPr wrap="square" rtlCol="0" anchor="ctr"/>
          <a:lstStyle/>
          <a:p>
            <a:pPr indent="0" marL="0">
              <a:buNone/>
            </a:pPr>
            <a:r>
              <a:rPr lang="en-US" sz="900" b="1" dirty="0">
                <a:solidFill>
                  <a:srgbClr val="888888"/>
                </a:solidFill>
                <a:latin typeface="Arial" pitchFamily="34" charset="0"/>
                <a:ea typeface="Arial" pitchFamily="34" charset="-122"/>
                <a:cs typeface="Arial" pitchFamily="34" charset="-120"/>
              </a:rPr>
              <a:t>Stage:</a:t>
            </a:r>
            <a:endParaRPr lang="en-US" sz="900" dirty="0"/>
          </a:p>
        </p:txBody>
      </p:sp>
      <p:sp>
        <p:nvSpPr>
          <p:cNvPr id="15" name="Text 13"/>
          <p:cNvSpPr/>
          <p:nvPr/>
        </p:nvSpPr>
        <p:spPr>
          <a:xfrm>
            <a:off x="2194560" y="4169664"/>
            <a:ext cx="8229600" cy="22860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Pre-revenue · building toward first Proof Partner</a:t>
            </a:r>
            <a:endParaRPr lang="en-US" sz="900" dirty="0"/>
          </a:p>
        </p:txBody>
      </p:sp>
      <p:sp>
        <p:nvSpPr>
          <p:cNvPr id="16" name="Text 14"/>
          <p:cNvSpPr/>
          <p:nvPr/>
        </p:nvSpPr>
        <p:spPr>
          <a:xfrm>
            <a:off x="731520" y="4425696"/>
            <a:ext cx="1371600" cy="228600"/>
          </a:xfrm>
          <a:prstGeom prst="rect">
            <a:avLst/>
          </a:prstGeom>
          <a:noFill/>
          <a:ln/>
        </p:spPr>
        <p:txBody>
          <a:bodyPr wrap="square" rtlCol="0" anchor="ctr"/>
          <a:lstStyle/>
          <a:p>
            <a:pPr indent="0" marL="0">
              <a:buNone/>
            </a:pPr>
            <a:r>
              <a:rPr lang="en-US" sz="900" b="1" dirty="0">
                <a:solidFill>
                  <a:srgbClr val="888888"/>
                </a:solidFill>
                <a:latin typeface="Arial" pitchFamily="34" charset="0"/>
                <a:ea typeface="Arial" pitchFamily="34" charset="-122"/>
                <a:cs typeface="Arial" pitchFamily="34" charset="-120"/>
              </a:rPr>
              <a:t>Date:</a:t>
            </a:r>
            <a:endParaRPr lang="en-US" sz="900" dirty="0"/>
          </a:p>
        </p:txBody>
      </p:sp>
      <p:sp>
        <p:nvSpPr>
          <p:cNvPr id="17" name="Text 15"/>
          <p:cNvSpPr/>
          <p:nvPr/>
        </p:nvSpPr>
        <p:spPr>
          <a:xfrm>
            <a:off x="2194560" y="4425696"/>
            <a:ext cx="8229600" cy="22860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May 2026</a:t>
            </a:r>
            <a:endParaRPr lang="en-US" sz="900" dirty="0"/>
          </a:p>
        </p:txBody>
      </p:sp>
      <p:sp>
        <p:nvSpPr>
          <p:cNvPr id="18" name="Text 16"/>
          <p:cNvSpPr/>
          <p:nvPr/>
        </p:nvSpPr>
        <p:spPr>
          <a:xfrm>
            <a:off x="731520" y="6492240"/>
            <a:ext cx="9144000" cy="256032"/>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Confidential · Not for distribution · InvestPuppy Pte Ltd</a:t>
            </a:r>
            <a:endParaRPr lang="en-US" sz="800" dirty="0"/>
          </a:p>
        </p:txBody>
      </p:sp>
      <p:sp>
        <p:nvSpPr>
          <p:cNvPr id="19" name="TextBox 18"/>
          <p:cNvSpPr txBox="1"/>
          <p:nvPr/>
        </p:nvSpPr>
        <p:spPr>
          <a:xfrm>
            <a:off x="731520" y="5074920"/>
            <a:ext cx="10058400" cy="457200"/>
          </a:xfrm>
          <a:prstGeom prst="rect">
            <a:avLst/>
          </a:prstGeom>
          <a:noFill/>
        </p:spPr>
        <p:txBody>
          <a:bodyPr wrap="none">
            <a:spAutoFit/>
          </a:bodyPr>
          <a:lstStyle/>
          <a:p>
            <a:r>
              <a:rPr sz="1100" i="1">
                <a:solidFill>
                  <a:srgbClr val="666666"/>
                </a:solidFill>
                <a:latin typeface="Calibri"/>
              </a:rPr>
              <a:t>A team that published ten papers on why platforms fail before building one.</a:t>
            </a:r>
          </a:p>
          <a:p>
            <a:r>
              <a:rPr sz="1000" i="1">
                <a:solidFill>
                  <a:srgbClr val="444444"/>
                </a:solidFill>
                <a:latin typeface="Calibri"/>
              </a:rPr>
              <a:t>Not a pitch for an idea. A raise to fund a product that already exists.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548640"/>
          </a:xfrm>
          <a:prstGeom prst="rect">
            <a:avLst/>
          </a:prstGeom>
          <a:solidFill>
            <a:srgbClr val="0A0A0A"/>
          </a:solidFill>
          <a:ln/>
        </p:spPr>
        <p:txBody>
          <a:bodyPr/>
          <a:p/>
        </p:txBody>
      </p:sp>
      <p:sp>
        <p:nvSpPr>
          <p:cNvPr id="3" name="Text 1"/>
          <p:cNvSpPr/>
          <p:nvPr/>
        </p:nvSpPr>
        <p:spPr>
          <a:xfrm>
            <a:off x="457200" y="45720"/>
            <a:ext cx="182880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Invest</a:t>
            </a:r>
            <a:pPr indent="0" marL="0">
              <a:buNone/>
            </a:pPr>
            <a:r>
              <a:rPr lang="en-US" sz="1400" b="1" dirty="0">
                <a:solidFill>
                  <a:srgbClr val="85D155"/>
                </a:solidFill>
                <a:latin typeface="Arial" pitchFamily="34" charset="0"/>
                <a:ea typeface="Arial" pitchFamily="34" charset="-122"/>
                <a:cs typeface="Arial" pitchFamily="34" charset="-120"/>
              </a:rPr>
              <a:t>Puppy</a:t>
            </a:r>
            <a:endParaRPr lang="en-US" sz="1400" dirty="0"/>
          </a:p>
        </p:txBody>
      </p:sp>
      <p:sp>
        <p:nvSpPr>
          <p:cNvPr id="4" name="Text 2"/>
          <p:cNvSpPr/>
          <p:nvPr/>
        </p:nvSpPr>
        <p:spPr>
          <a:xfrm>
            <a:off x="8531352" y="45720"/>
            <a:ext cx="3200400" cy="274320"/>
          </a:xfrm>
          <a:prstGeom prst="rect">
            <a:avLst/>
          </a:prstGeom>
          <a:noFill/>
          <a:ln/>
        </p:spPr>
        <p:txBody>
          <a:bodyPr wrap="square" rtlCol="0" anchor="ctr"/>
          <a:lstStyle/>
          <a:p>
            <a:pPr algn="r" indent="0" marL="0">
              <a:buNone/>
            </a:pPr>
            <a:r>
              <a:rPr lang="en-US" sz="900" dirty="0">
                <a:solidFill>
                  <a:srgbClr val="FFFFFF"/>
                </a:solidFill>
                <a:latin typeface="Arial" pitchFamily="34" charset="0"/>
                <a:ea typeface="Arial" pitchFamily="34" charset="-122"/>
                <a:cs typeface="Arial" pitchFamily="34" charset="-120"/>
              </a:rPr>
              <a:t>The Problem</a:t>
            </a:r>
            <a:endParaRPr lang="en-US" sz="900" dirty="0"/>
          </a:p>
        </p:txBody>
      </p:sp>
      <p:sp>
        <p:nvSpPr>
          <p:cNvPr id="5" name="Text 3"/>
          <p:cNvSpPr/>
          <p:nvPr/>
        </p:nvSpPr>
        <p:spPr>
          <a:xfrm>
            <a:off x="8531352" y="301752"/>
            <a:ext cx="3200400" cy="201168"/>
          </a:xfrm>
          <a:prstGeom prst="rect">
            <a:avLst/>
          </a:prstGeom>
          <a:noFill/>
          <a:ln/>
        </p:spPr>
        <p:txBody>
          <a:bodyPr wrap="square" rtlCol="0" anchor="ctr"/>
          <a:lstStyle/>
          <a:p>
            <a:pPr algn="r" indent="0" marL="0">
              <a:buNone/>
            </a:pPr>
            <a:r>
              <a:rPr lang="en-US" sz="800" dirty="0">
                <a:solidFill>
                  <a:srgbClr val="888888"/>
                </a:solidFill>
                <a:latin typeface="Arial" pitchFamily="34" charset="0"/>
                <a:ea typeface="Arial" pitchFamily="34" charset="-122"/>
                <a:cs typeface="Arial" pitchFamily="34" charset="-120"/>
              </a:rPr>
              <a:t>Confidential · May 2026</a:t>
            </a:r>
            <a:endParaRPr lang="en-US" sz="800" dirty="0"/>
          </a:p>
        </p:txBody>
      </p:sp>
      <p:sp>
        <p:nvSpPr>
          <p:cNvPr id="6" name="Shape 4"/>
          <p:cNvSpPr/>
          <p:nvPr/>
        </p:nvSpPr>
        <p:spPr>
          <a:xfrm>
            <a:off x="0" y="548640"/>
            <a:ext cx="12188952" cy="0"/>
          </a:xfrm>
          <a:prstGeom prst="line">
            <a:avLst/>
          </a:prstGeom>
          <a:noFill/>
          <a:ln w="25400">
            <a:solidFill>
              <a:srgbClr val="85D155"/>
            </a:solidFill>
            <a:prstDash val="solid"/>
          </a:ln>
        </p:spPr>
        <p:txBody>
          <a:bodyPr/>
          <a:p/>
        </p:txBody>
      </p:sp>
      <p:sp>
        <p:nvSpPr>
          <p:cNvPr id="7" name="Shape 5"/>
          <p:cNvSpPr/>
          <p:nvPr/>
        </p:nvSpPr>
        <p:spPr>
          <a:xfrm>
            <a:off x="457200" y="6510528"/>
            <a:ext cx="11274552" cy="0"/>
          </a:xfrm>
          <a:prstGeom prst="line">
            <a:avLst/>
          </a:prstGeom>
          <a:noFill/>
          <a:ln w="6350">
            <a:solidFill>
              <a:srgbClr val="D0D0D0"/>
            </a:solidFill>
            <a:prstDash val="solid"/>
          </a:ln>
        </p:spPr>
        <p:txBody>
          <a:bodyPr/>
          <a:p/>
        </p:txBody>
      </p:sp>
      <p:sp>
        <p:nvSpPr>
          <p:cNvPr id="8" name="Text 6"/>
          <p:cNvSpPr/>
          <p:nvPr/>
        </p:nvSpPr>
        <p:spPr>
          <a:xfrm>
            <a:off x="457200" y="6547104"/>
            <a:ext cx="10360152" cy="219456"/>
          </a:xfrm>
          <a:prstGeom prst="rect">
            <a:avLst/>
          </a:prstGeom>
          <a:noFill/>
          <a:ln/>
        </p:spPr>
        <p:txBody>
          <a:bodyPr wrap="square" rtlCol="0" anchor="ctr"/>
          <a:lstStyle/>
          <a:p>
            <a:pPr indent="0" marL="0">
              <a:buNone/>
            </a:pPr>
            <a:r>
              <a:rPr lang="en-US" sz="750" dirty="0">
                <a:solidFill>
                  <a:srgbClr val="888888"/>
                </a:solidFill>
                <a:latin typeface="Arial" pitchFamily="34" charset="0"/>
                <a:ea typeface="Arial" pitchFamily="34" charset="-122"/>
                <a:cs typeface="Arial" pitchFamily="34" charset="-120"/>
              </a:rPr>
              <a:t>InvestPuppy Pte Ltd · investpuppy.com · Confidential</a:t>
            </a:r>
            <a:endParaRPr lang="en-US" sz="750" dirty="0"/>
          </a:p>
        </p:txBody>
      </p:sp>
      <p:sp>
        <p:nvSpPr>
          <p:cNvPr id="9" name="Text 7"/>
          <p:cNvSpPr/>
          <p:nvPr/>
        </p:nvSpPr>
        <p:spPr>
          <a:xfrm>
            <a:off x="11457432" y="6547104"/>
            <a:ext cx="502920" cy="219456"/>
          </a:xfrm>
          <a:prstGeom prst="rect">
            <a:avLst/>
          </a:prstGeom>
          <a:noFill/>
          <a:ln/>
        </p:spPr>
        <p:txBody>
          <a:bodyPr wrap="square" rtlCol="0" anchor="ctr"/>
          <a:lstStyle/>
          <a:p>
            <a:pPr algn="r" indent="0" marL="0">
              <a:buNone/>
            </a:pPr>
            <a:r>
              <a:rPr lang="en-US" sz="750" dirty="0">
                <a:solidFill>
                  <a:srgbClr val="888888"/>
                </a:solidFill>
                <a:latin typeface="Arial" pitchFamily="34" charset="0"/>
                <a:ea typeface="Arial" pitchFamily="34" charset="-122"/>
                <a:cs typeface="Arial" pitchFamily="34" charset="-120"/>
              </a:rPr>
              <a:t>2</a:t>
            </a:r>
            <a:endParaRPr lang="en-US" sz="750" dirty="0"/>
          </a:p>
        </p:txBody>
      </p:sp>
      <p:sp>
        <p:nvSpPr>
          <p:cNvPr id="10" name="Text 8"/>
          <p:cNvSpPr/>
          <p:nvPr/>
        </p:nvSpPr>
        <p:spPr>
          <a:xfrm>
            <a:off x="457200" y="685800"/>
            <a:ext cx="11274552" cy="365760"/>
          </a:xfrm>
          <a:prstGeom prst="rect">
            <a:avLst/>
          </a:prstGeom>
          <a:noFill/>
          <a:ln/>
        </p:spPr>
        <p:txBody>
          <a:bodyPr wrap="square" rtlCol="0" anchor="ctr"/>
          <a:lstStyle/>
          <a:p>
            <a:pPr indent="0" marL="0">
              <a:buNone/>
            </a:pPr>
            <a:r>
              <a:rPr lang="en-US" sz="1300" b="1" dirty="0">
                <a:solidFill>
                  <a:srgbClr val="0A0A0A"/>
                </a:solidFill>
                <a:latin typeface="Arial" pitchFamily="34" charset="0"/>
                <a:ea typeface="Arial" pitchFamily="34" charset="-122"/>
                <a:cs typeface="Arial" pitchFamily="34" charset="-120"/>
              </a:rPr>
              <a:t>Boutique practitioners have institutional investment processes and consumer-grade tooling.</a:t>
            </a:r>
            <a:endParaRPr lang="en-US" sz="1300" dirty="0"/>
          </a:p>
        </p:txBody>
      </p:sp>
      <p:sp>
        <p:nvSpPr>
          <p:cNvPr id="11" name="Text 9"/>
          <p:cNvSpPr/>
          <p:nvPr/>
        </p:nvSpPr>
        <p:spPr>
          <a:xfrm>
            <a:off x="8138160" y="1234440"/>
            <a:ext cx="3474720" cy="201168"/>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THE TOOL MISMATCH</a:t>
            </a:r>
            <a:endParaRPr lang="en-US" sz="750" dirty="0"/>
          </a:p>
        </p:txBody>
      </p:sp>
      <p:sp>
        <p:nvSpPr>
          <p:cNvPr id="12" name="Shape 10"/>
          <p:cNvSpPr/>
          <p:nvPr/>
        </p:nvSpPr>
        <p:spPr>
          <a:xfrm>
            <a:off x="457200" y="1435608"/>
            <a:ext cx="3474720" cy="0"/>
          </a:xfrm>
          <a:prstGeom prst="line">
            <a:avLst/>
          </a:prstGeom>
          <a:noFill/>
          <a:ln w="9525">
            <a:solidFill>
              <a:srgbClr val="85D155"/>
            </a:solidFill>
            <a:prstDash val="solid"/>
          </a:ln>
        </p:spPr>
        <p:txBody>
          <a:bodyPr/>
          <a:p/>
        </p:txBody>
      </p:sp>
      <p:sp>
        <p:nvSpPr>
          <p:cNvPr id="13" name="Text 11"/>
          <p:cNvSpPr/>
          <p:nvPr/>
        </p:nvSpPr>
        <p:spPr>
          <a:xfrm>
            <a:off x="8138160" y="1600200"/>
            <a:ext cx="3474720" cy="64008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Bloomberg Terminal costs ~US$32,000/seat/year. It was built for sell-side research. It is not a portfolio management platform.</a:t>
            </a:r>
            <a:endParaRPr lang="en-US" sz="950" dirty="0"/>
          </a:p>
        </p:txBody>
      </p:sp>
      <p:sp>
        <p:nvSpPr>
          <p:cNvPr id="14" name="Text 12"/>
          <p:cNvSpPr/>
          <p:nvPr/>
        </p:nvSpPr>
        <p:spPr>
          <a:xfrm>
            <a:off x="8138160" y="2350008"/>
            <a:ext cx="3474720" cy="64008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Bloomberg PORT is an add-on at additional cost. Still not systematic portfolio construction.</a:t>
            </a:r>
            <a:endParaRPr lang="en-US" sz="950" dirty="0"/>
          </a:p>
        </p:txBody>
      </p:sp>
      <p:sp>
        <p:nvSpPr>
          <p:cNvPr id="15" name="Text 13"/>
          <p:cNvSpPr/>
          <p:nvPr/>
        </p:nvSpPr>
        <p:spPr>
          <a:xfrm>
            <a:off x="8138160" y="3099816"/>
            <a:ext cx="3474720" cy="64008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Incumbent platforms (Advent, Iress) are scaled for large institutions — pricing and architecture exclude the boutique.</a:t>
            </a:r>
            <a:endParaRPr lang="en-US" sz="950" dirty="0"/>
          </a:p>
        </p:txBody>
      </p:sp>
      <p:sp>
        <p:nvSpPr>
          <p:cNvPr id="16" name="Text 14"/>
          <p:cNvSpPr/>
          <p:nvPr/>
        </p:nvSpPr>
        <p:spPr>
          <a:xfrm>
            <a:off x="4297680" y="1234440"/>
            <a:ext cx="3474720" cy="201168"/>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THE WORKFLOW GAP</a:t>
            </a:r>
            <a:endParaRPr lang="en-US" sz="750" dirty="0"/>
          </a:p>
        </p:txBody>
      </p:sp>
      <p:sp>
        <p:nvSpPr>
          <p:cNvPr id="17" name="Shape 15"/>
          <p:cNvSpPr/>
          <p:nvPr/>
        </p:nvSpPr>
        <p:spPr>
          <a:xfrm>
            <a:off x="4297680" y="1435608"/>
            <a:ext cx="3474720" cy="0"/>
          </a:xfrm>
          <a:prstGeom prst="line">
            <a:avLst/>
          </a:prstGeom>
          <a:noFill/>
          <a:ln w="9525">
            <a:solidFill>
              <a:srgbClr val="85D155"/>
            </a:solidFill>
            <a:prstDash val="solid"/>
          </a:ln>
        </p:spPr>
        <p:txBody>
          <a:bodyPr/>
          <a:p/>
        </p:txBody>
      </p:sp>
      <p:sp>
        <p:nvSpPr>
          <p:cNvPr id="18" name="Text 16"/>
          <p:cNvSpPr/>
          <p:nvPr/>
        </p:nvSpPr>
        <p:spPr>
          <a:xfrm>
            <a:off x="4297680" y="1600200"/>
            <a:ext cx="3474720" cy="64008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Signal application is manual. Translating a systematic view into portfolio actions requires human judgment at every step.</a:t>
            </a:r>
            <a:endParaRPr lang="en-US" sz="950" dirty="0"/>
          </a:p>
        </p:txBody>
      </p:sp>
      <p:sp>
        <p:nvSpPr>
          <p:cNvPr id="19" name="Text 17"/>
          <p:cNvSpPr/>
          <p:nvPr/>
        </p:nvSpPr>
        <p:spPr>
          <a:xfrm>
            <a:off x="4297680" y="2350008"/>
            <a:ext cx="3474720" cy="64008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Rebalancing is not systematic. Without 10,000 portfolio configurations per strategy, construction defaults to heuristic approximation.</a:t>
            </a:r>
            <a:endParaRPr lang="en-US" sz="950" dirty="0"/>
          </a:p>
        </p:txBody>
      </p:sp>
      <p:sp>
        <p:nvSpPr>
          <p:cNvPr id="20" name="Text 18"/>
          <p:cNvSpPr/>
          <p:nvPr/>
        </p:nvSpPr>
        <p:spPr>
          <a:xfrm>
            <a:off x="4297680" y="3099816"/>
            <a:ext cx="3474720" cy="64008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Audit trail is incomplete. MAS and regulatory requirements assume documented rationale. Manual workflows cannot produce this reliably.</a:t>
            </a:r>
            <a:endParaRPr lang="en-US" sz="950" dirty="0"/>
          </a:p>
        </p:txBody>
      </p:sp>
      <p:sp>
        <p:nvSpPr>
          <p:cNvPr id="21" name="Text 19"/>
          <p:cNvSpPr/>
          <p:nvPr/>
        </p:nvSpPr>
        <p:spPr>
          <a:xfrm>
            <a:off x="457200" y="1234440"/>
            <a:ext cx="3474720" cy="201168"/>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THE IMPLEMENTATION PROBLEM</a:t>
            </a:r>
            <a:endParaRPr lang="en-US" sz="750" dirty="0"/>
          </a:p>
        </p:txBody>
      </p:sp>
      <p:sp>
        <p:nvSpPr>
          <p:cNvPr id="22" name="Shape 20"/>
          <p:cNvSpPr/>
          <p:nvPr/>
        </p:nvSpPr>
        <p:spPr>
          <a:xfrm>
            <a:off x="8138160" y="1435608"/>
            <a:ext cx="3474720" cy="0"/>
          </a:xfrm>
          <a:prstGeom prst="line">
            <a:avLst/>
          </a:prstGeom>
          <a:noFill/>
          <a:ln w="9525">
            <a:solidFill>
              <a:srgbClr val="85D155"/>
            </a:solidFill>
            <a:prstDash val="solid"/>
          </a:ln>
        </p:spPr>
        <p:txBody>
          <a:bodyPr/>
          <a:p/>
        </p:txBody>
      </p:sp>
      <p:sp>
        <p:nvSpPr>
          <p:cNvPr id="23" name="Text 21"/>
          <p:cNvSpPr/>
          <p:nvPr/>
        </p:nvSpPr>
        <p:spPr>
          <a:xfrm>
            <a:off x="457200" y="1600200"/>
            <a:ext cx="3474720" cy="64008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When boutique managers try to implement platforms built for institutions, projects fail. Not from incompetence.</a:t>
            </a:r>
            <a:endParaRPr lang="en-US" sz="950" dirty="0"/>
          </a:p>
        </p:txBody>
      </p:sp>
      <p:sp>
        <p:nvSpPr>
          <p:cNvPr id="24" name="Text 22"/>
          <p:cNvSpPr/>
          <p:nvPr/>
        </p:nvSpPr>
        <p:spPr>
          <a:xfrm>
            <a:off x="457200" y="2350008"/>
            <a:ext cx="3474720" cy="64008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From incentive structures. Nobody owns the implementation. The plan was built before anyone understood the workflow.</a:t>
            </a:r>
            <a:endParaRPr lang="en-US" sz="950" dirty="0"/>
          </a:p>
        </p:txBody>
      </p:sp>
      <p:sp>
        <p:nvSpPr>
          <p:cNvPr id="25" name="Text 23"/>
          <p:cNvSpPr/>
          <p:nvPr/>
        </p:nvSpPr>
        <p:spPr>
          <a:xfrm>
            <a:off x="457200" y="3099816"/>
            <a:ext cx="3474720" cy="64008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We documented this in 10 published papers. We know exactly why this keeps happening.</a:t>
            </a:r>
            <a:endParaRPr lang="en-US" sz="950" dirty="0"/>
          </a:p>
        </p:txBody>
      </p:sp>
      <p:sp>
        <p:nvSpPr>
          <p:cNvPr id="26" name="Shape 24"/>
          <p:cNvSpPr/>
          <p:nvPr/>
        </p:nvSpPr>
        <p:spPr>
          <a:xfrm>
            <a:off x="457200" y="5303520"/>
            <a:ext cx="11274552" cy="1051560"/>
          </a:xfrm>
          <a:prstGeom prst="rect">
            <a:avLst/>
          </a:prstGeom>
          <a:solidFill>
            <a:srgbClr val="F0F7EA"/>
          </a:solidFill>
          <a:ln/>
        </p:spPr>
        <p:txBody>
          <a:bodyPr/>
          <a:p/>
        </p:txBody>
      </p:sp>
      <p:sp>
        <p:nvSpPr>
          <p:cNvPr id="27" name="Text 25"/>
          <p:cNvSpPr/>
          <p:nvPr/>
        </p:nvSpPr>
        <p:spPr>
          <a:xfrm>
            <a:off x="594360" y="5376672"/>
            <a:ext cx="11000232" cy="905256"/>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The Unvarnished series — 10 published papers on why financial software implementations fail. These are the field notes from the rooms where the same projects failed for the third time. Thought leadership that names the problems competitors know but will not publish. investpuppy.com/unvarnished</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548640"/>
          </a:xfrm>
          <a:prstGeom prst="rect">
            <a:avLst/>
          </a:prstGeom>
          <a:solidFill>
            <a:srgbClr val="0A0A0A"/>
          </a:solidFill>
          <a:ln/>
        </p:spPr>
        <p:txBody>
          <a:bodyPr/>
          <a:p/>
        </p:txBody>
      </p:sp>
      <p:sp>
        <p:nvSpPr>
          <p:cNvPr id="3" name="Text 1"/>
          <p:cNvSpPr/>
          <p:nvPr/>
        </p:nvSpPr>
        <p:spPr>
          <a:xfrm>
            <a:off x="457200" y="45720"/>
            <a:ext cx="182880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Invest</a:t>
            </a:r>
            <a:pPr indent="0" marL="0">
              <a:buNone/>
            </a:pPr>
            <a:r>
              <a:rPr lang="en-US" sz="1400" b="1" dirty="0">
                <a:solidFill>
                  <a:srgbClr val="85D155"/>
                </a:solidFill>
                <a:latin typeface="Arial" pitchFamily="34" charset="0"/>
                <a:ea typeface="Arial" pitchFamily="34" charset="-122"/>
                <a:cs typeface="Arial" pitchFamily="34" charset="-120"/>
              </a:rPr>
              <a:t>Puppy</a:t>
            </a:r>
            <a:endParaRPr lang="en-US" sz="1400" dirty="0"/>
          </a:p>
        </p:txBody>
      </p:sp>
      <p:sp>
        <p:nvSpPr>
          <p:cNvPr id="4" name="Text 2"/>
          <p:cNvSpPr/>
          <p:nvPr/>
        </p:nvSpPr>
        <p:spPr>
          <a:xfrm>
            <a:off x="8531352" y="45720"/>
            <a:ext cx="3200400" cy="274320"/>
          </a:xfrm>
          <a:prstGeom prst="rect">
            <a:avLst/>
          </a:prstGeom>
          <a:noFill/>
          <a:ln/>
        </p:spPr>
        <p:txBody>
          <a:bodyPr wrap="square" rtlCol="0" anchor="ctr"/>
          <a:lstStyle/>
          <a:p>
            <a:pPr algn="r" indent="0" marL="0">
              <a:buNone/>
            </a:pPr>
            <a:r>
              <a:rPr lang="en-US" sz="900" dirty="0">
                <a:solidFill>
                  <a:srgbClr val="FFFFFF"/>
                </a:solidFill>
                <a:latin typeface="Arial" pitchFamily="34" charset="0"/>
                <a:ea typeface="Arial" pitchFamily="34" charset="-122"/>
                <a:cs typeface="Arial" pitchFamily="34" charset="-120"/>
              </a:rPr>
              <a:t>The Platform — Vektor</a:t>
            </a:r>
            <a:endParaRPr lang="en-US" sz="900" dirty="0"/>
          </a:p>
        </p:txBody>
      </p:sp>
      <p:sp>
        <p:nvSpPr>
          <p:cNvPr id="5" name="Text 3"/>
          <p:cNvSpPr/>
          <p:nvPr/>
        </p:nvSpPr>
        <p:spPr>
          <a:xfrm>
            <a:off x="8531352" y="301752"/>
            <a:ext cx="3200400" cy="201168"/>
          </a:xfrm>
          <a:prstGeom prst="rect">
            <a:avLst/>
          </a:prstGeom>
          <a:noFill/>
          <a:ln/>
        </p:spPr>
        <p:txBody>
          <a:bodyPr wrap="square" rtlCol="0" anchor="ctr"/>
          <a:lstStyle/>
          <a:p>
            <a:pPr algn="r" indent="0" marL="0">
              <a:buNone/>
            </a:pPr>
            <a:r>
              <a:rPr lang="en-US" sz="800" dirty="0">
                <a:solidFill>
                  <a:srgbClr val="888888"/>
                </a:solidFill>
                <a:latin typeface="Arial" pitchFamily="34" charset="0"/>
                <a:ea typeface="Arial" pitchFamily="34" charset="-122"/>
                <a:cs typeface="Arial" pitchFamily="34" charset="-120"/>
              </a:rPr>
              <a:t>Confidential · May 2026</a:t>
            </a:r>
            <a:endParaRPr lang="en-US" sz="800" dirty="0"/>
          </a:p>
        </p:txBody>
      </p:sp>
      <p:sp>
        <p:nvSpPr>
          <p:cNvPr id="6" name="Shape 4"/>
          <p:cNvSpPr/>
          <p:nvPr/>
        </p:nvSpPr>
        <p:spPr>
          <a:xfrm>
            <a:off x="0" y="548640"/>
            <a:ext cx="12188952" cy="0"/>
          </a:xfrm>
          <a:prstGeom prst="line">
            <a:avLst/>
          </a:prstGeom>
          <a:noFill/>
          <a:ln w="25400">
            <a:solidFill>
              <a:srgbClr val="85D155"/>
            </a:solidFill>
            <a:prstDash val="solid"/>
          </a:ln>
        </p:spPr>
        <p:txBody>
          <a:bodyPr/>
          <a:p/>
        </p:txBody>
      </p:sp>
      <p:sp>
        <p:nvSpPr>
          <p:cNvPr id="7" name="Shape 5"/>
          <p:cNvSpPr/>
          <p:nvPr/>
        </p:nvSpPr>
        <p:spPr>
          <a:xfrm>
            <a:off x="457200" y="6510528"/>
            <a:ext cx="11274552" cy="0"/>
          </a:xfrm>
          <a:prstGeom prst="line">
            <a:avLst/>
          </a:prstGeom>
          <a:noFill/>
          <a:ln w="6350">
            <a:solidFill>
              <a:srgbClr val="D0D0D0"/>
            </a:solidFill>
            <a:prstDash val="solid"/>
          </a:ln>
        </p:spPr>
        <p:txBody>
          <a:bodyPr/>
          <a:p/>
        </p:txBody>
      </p:sp>
      <p:sp>
        <p:nvSpPr>
          <p:cNvPr id="8" name="Text 6"/>
          <p:cNvSpPr/>
          <p:nvPr/>
        </p:nvSpPr>
        <p:spPr>
          <a:xfrm>
            <a:off x="457200" y="6547104"/>
            <a:ext cx="10360152" cy="219456"/>
          </a:xfrm>
          <a:prstGeom prst="rect">
            <a:avLst/>
          </a:prstGeom>
          <a:noFill/>
          <a:ln/>
        </p:spPr>
        <p:txBody>
          <a:bodyPr wrap="square" rtlCol="0" anchor="ctr"/>
          <a:lstStyle/>
          <a:p>
            <a:pPr indent="0" marL="0">
              <a:buNone/>
            </a:pPr>
            <a:r>
              <a:rPr lang="en-US" sz="750" dirty="0">
                <a:solidFill>
                  <a:srgbClr val="888888"/>
                </a:solidFill>
                <a:latin typeface="Arial" pitchFamily="34" charset="0"/>
                <a:ea typeface="Arial" pitchFamily="34" charset="-122"/>
                <a:cs typeface="Arial" pitchFamily="34" charset="-120"/>
              </a:rPr>
              <a:t>InvestPuppy Pte Ltd · investpuppy.com · Confidential</a:t>
            </a:r>
            <a:endParaRPr lang="en-US" sz="750" dirty="0"/>
          </a:p>
        </p:txBody>
      </p:sp>
      <p:sp>
        <p:nvSpPr>
          <p:cNvPr id="9" name="Text 7"/>
          <p:cNvSpPr/>
          <p:nvPr/>
        </p:nvSpPr>
        <p:spPr>
          <a:xfrm>
            <a:off x="11457432" y="6547104"/>
            <a:ext cx="502920" cy="219456"/>
          </a:xfrm>
          <a:prstGeom prst="rect">
            <a:avLst/>
          </a:prstGeom>
          <a:noFill/>
          <a:ln/>
        </p:spPr>
        <p:txBody>
          <a:bodyPr wrap="square" rtlCol="0" anchor="ctr"/>
          <a:lstStyle/>
          <a:p>
            <a:pPr algn="r" indent="0" marL="0">
              <a:buNone/>
            </a:pPr>
            <a:r>
              <a:rPr lang="en-US" sz="750" dirty="0">
                <a:solidFill>
                  <a:srgbClr val="888888"/>
                </a:solidFill>
                <a:latin typeface="Arial" pitchFamily="34" charset="0"/>
                <a:ea typeface="Arial" pitchFamily="34" charset="-122"/>
                <a:cs typeface="Arial" pitchFamily="34" charset="-120"/>
              </a:rPr>
              <a:t>3</a:t>
            </a:r>
            <a:endParaRPr lang="en-US" sz="750" dirty="0"/>
          </a:p>
        </p:txBody>
      </p:sp>
      <p:sp>
        <p:nvSpPr>
          <p:cNvPr id="10" name="Text 8"/>
          <p:cNvSpPr/>
          <p:nvPr/>
        </p:nvSpPr>
        <p:spPr>
          <a:xfrm>
            <a:off x="457200" y="685800"/>
            <a:ext cx="2286000" cy="411480"/>
          </a:xfrm>
          <a:prstGeom prst="rect">
            <a:avLst/>
          </a:prstGeom>
          <a:noFill/>
          <a:ln/>
        </p:spPr>
        <p:txBody>
          <a:bodyPr wrap="square" rtlCol="0" anchor="ctr"/>
          <a:lstStyle/>
          <a:p>
            <a:pPr indent="0" marL="0">
              <a:buNone/>
            </a:pPr>
            <a:r>
              <a:rPr lang="en-US" sz="2400" b="1" dirty="0">
                <a:solidFill>
                  <a:srgbClr val="85D155"/>
                </a:solidFill>
                <a:latin typeface="Arial" pitchFamily="34" charset="0"/>
                <a:ea typeface="Arial" pitchFamily="34" charset="-122"/>
                <a:cs typeface="Arial" pitchFamily="34" charset="-120"/>
              </a:rPr>
              <a:t>Vektor</a:t>
            </a:r>
            <a:endParaRPr lang="en-US" sz="2400" dirty="0"/>
          </a:p>
        </p:txBody>
      </p:sp>
      <p:sp>
        <p:nvSpPr>
          <p:cNvPr id="11" name="Text 9"/>
          <p:cNvSpPr/>
          <p:nvPr/>
        </p:nvSpPr>
        <p:spPr>
          <a:xfrm>
            <a:off x="2926080" y="731520"/>
            <a:ext cx="8229600" cy="347472"/>
          </a:xfrm>
          <a:prstGeom prst="rect">
            <a:avLst/>
          </a:prstGeom>
          <a:noFill/>
          <a:ln/>
        </p:spPr>
        <p:txBody>
          <a:bodyPr wrap="square" rtlCol="0" anchor="ctr"/>
          <a:lstStyle/>
          <a:p>
            <a:pPr indent="0" marL="0">
              <a:buNone/>
            </a:pPr>
            <a:r>
              <a:rPr lang="en-US" sz="1200" dirty="0">
                <a:solidFill>
                  <a:srgbClr val="0A0A0A"/>
                </a:solidFill>
                <a:latin typeface="Arial" pitchFamily="34" charset="0"/>
                <a:ea typeface="Arial" pitchFamily="34" charset="-122"/>
                <a:cs typeface="Arial" pitchFamily="34" charset="-120"/>
              </a:rPr>
              <a:t>Systematic listed equity portfolio management. One product. Three delivery models.</a:t>
            </a:r>
            <a:endParaRPr lang="en-US" sz="1200" dirty="0"/>
          </a:p>
        </p:txBody>
      </p:sp>
      <p:sp>
        <p:nvSpPr>
          <p:cNvPr id="12" name="Shape 10"/>
          <p:cNvSpPr/>
          <p:nvPr/>
        </p:nvSpPr>
        <p:spPr>
          <a:xfrm>
            <a:off x="457200" y="1325880"/>
            <a:ext cx="3758184" cy="1234440"/>
          </a:xfrm>
          <a:prstGeom prst="rect">
            <a:avLst/>
          </a:prstGeom>
          <a:solidFill>
            <a:srgbClr val="0A0A0A"/>
          </a:solidFill>
          <a:ln/>
        </p:spPr>
        <p:txBody>
          <a:bodyPr/>
          <a:p/>
        </p:txBody>
      </p:sp>
      <p:sp>
        <p:nvSpPr>
          <p:cNvPr id="13" name="Text 11"/>
          <p:cNvSpPr/>
          <p:nvPr/>
        </p:nvSpPr>
        <p:spPr>
          <a:xfrm>
            <a:off x="594360" y="1435608"/>
            <a:ext cx="3483864" cy="548640"/>
          </a:xfrm>
          <a:prstGeom prst="rect">
            <a:avLst/>
          </a:prstGeom>
          <a:noFill/>
          <a:ln/>
        </p:spPr>
        <p:txBody>
          <a:bodyPr wrap="square" rtlCol="0" anchor="ctr"/>
          <a:lstStyle/>
          <a:p>
            <a:pPr indent="0" marL="0">
              <a:buNone/>
            </a:pPr>
            <a:r>
              <a:rPr lang="en-US" sz="1700" b="1" dirty="0">
                <a:solidFill>
                  <a:srgbClr val="85D155"/>
                </a:solidFill>
                <a:latin typeface="Arial" pitchFamily="34" charset="0"/>
                <a:ea typeface="Arial" pitchFamily="34" charset="-122"/>
                <a:cs typeface="Arial" pitchFamily="34" charset="-120"/>
              </a:rPr>
              <a:t>10,000</a:t>
            </a:r>
            <a:endParaRPr lang="en-US" sz="1700" dirty="0"/>
          </a:p>
          <a:p>
            <a:pPr indent="0" marL="0">
              <a:buNone/>
            </a:pPr>
            <a:r>
              <a:rPr lang="en-US" sz="1700" b="1" dirty="0">
                <a:solidFill>
                  <a:srgbClr val="85D155"/>
                </a:solidFill>
                <a:latin typeface="Arial" pitchFamily="34" charset="0"/>
                <a:ea typeface="Arial" pitchFamily="34" charset="-122"/>
                <a:cs typeface="Arial" pitchFamily="34" charset="-120"/>
              </a:rPr>
              <a:t>configurations</a:t>
            </a:r>
            <a:endParaRPr lang="en-US" sz="1700" dirty="0"/>
          </a:p>
        </p:txBody>
      </p:sp>
      <p:sp>
        <p:nvSpPr>
          <p:cNvPr id="14" name="Text 12"/>
          <p:cNvSpPr/>
          <p:nvPr/>
        </p:nvSpPr>
        <p:spPr>
          <a:xfrm>
            <a:off x="594360" y="1984248"/>
            <a:ext cx="3483864" cy="475488"/>
          </a:xfrm>
          <a:prstGeom prst="rect">
            <a:avLst/>
          </a:prstGeom>
          <a:noFill/>
          <a:ln/>
        </p:spPr>
        <p:txBody>
          <a:bodyPr wrap="square" rtlCol="0" anchor="ctr"/>
          <a:lstStyle/>
          <a:p>
            <a:pPr indent="0" marL="0">
              <a:buNone/>
            </a:pPr>
            <a:r>
              <a:rPr lang="en-US" sz="900" dirty="0">
                <a:solidFill>
                  <a:srgbClr val="AAAAAA"/>
                </a:solidFill>
                <a:latin typeface="Arial" pitchFamily="34" charset="0"/>
                <a:ea typeface="Arial" pitchFamily="34" charset="-122"/>
                <a:cs typeface="Arial" pitchFamily="34" charset="-120"/>
              </a:rPr>
              <a:t>per strategy — systematic signal application at institutional quality</a:t>
            </a:r>
            <a:endParaRPr lang="en-US" sz="900" dirty="0"/>
          </a:p>
        </p:txBody>
      </p:sp>
      <p:sp>
        <p:nvSpPr>
          <p:cNvPr id="15" name="Shape 13"/>
          <p:cNvSpPr/>
          <p:nvPr/>
        </p:nvSpPr>
        <p:spPr>
          <a:xfrm>
            <a:off x="4325112" y="1325880"/>
            <a:ext cx="3758184" cy="1234440"/>
          </a:xfrm>
          <a:prstGeom prst="rect">
            <a:avLst/>
          </a:prstGeom>
          <a:solidFill>
            <a:srgbClr val="F4F4F4"/>
          </a:solidFill>
          <a:ln/>
        </p:spPr>
        <p:txBody>
          <a:bodyPr/>
          <a:p/>
        </p:txBody>
      </p:sp>
      <p:sp>
        <p:nvSpPr>
          <p:cNvPr id="16" name="Text 14"/>
          <p:cNvSpPr/>
          <p:nvPr/>
        </p:nvSpPr>
        <p:spPr>
          <a:xfrm>
            <a:off x="4462272" y="1435608"/>
            <a:ext cx="3483864" cy="548640"/>
          </a:xfrm>
          <a:prstGeom prst="rect">
            <a:avLst/>
          </a:prstGeom>
          <a:noFill/>
          <a:ln/>
        </p:spPr>
        <p:txBody>
          <a:bodyPr wrap="square" rtlCol="0" anchor="ctr"/>
          <a:lstStyle/>
          <a:p>
            <a:pPr indent="0" marL="0">
              <a:buNone/>
            </a:pPr>
            <a:r>
              <a:rPr lang="en-US" sz="1700" b="1" dirty="0">
                <a:solidFill>
                  <a:srgbClr val="0A0A0A"/>
                </a:solidFill>
                <a:latin typeface="Arial" pitchFamily="34" charset="0"/>
                <a:ea typeface="Arial" pitchFamily="34" charset="-122"/>
                <a:cs typeface="Arial" pitchFamily="34" charset="-120"/>
              </a:rPr>
              <a:t>99.94%</a:t>
            </a:r>
            <a:endParaRPr lang="en-US" sz="1700" dirty="0"/>
          </a:p>
        </p:txBody>
      </p:sp>
      <p:sp>
        <p:nvSpPr>
          <p:cNvPr id="17" name="Text 15"/>
          <p:cNvSpPr/>
          <p:nvPr/>
        </p:nvSpPr>
        <p:spPr>
          <a:xfrm>
            <a:off x="4462272" y="1984248"/>
            <a:ext cx="3483864" cy="475488"/>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capital allocation efficiency</a:t>
            </a:r>
            <a:endParaRPr lang="en-US" sz="900" dirty="0"/>
          </a:p>
        </p:txBody>
      </p:sp>
      <p:sp>
        <p:nvSpPr>
          <p:cNvPr id="18" name="Shape 16"/>
          <p:cNvSpPr/>
          <p:nvPr/>
        </p:nvSpPr>
        <p:spPr>
          <a:xfrm>
            <a:off x="8193024" y="1325880"/>
            <a:ext cx="3758184" cy="1234440"/>
          </a:xfrm>
          <a:prstGeom prst="rect">
            <a:avLst/>
          </a:prstGeom>
          <a:solidFill>
            <a:srgbClr val="F4F4F4"/>
          </a:solidFill>
          <a:ln/>
        </p:spPr>
        <p:txBody>
          <a:bodyPr/>
          <a:p/>
        </p:txBody>
      </p:sp>
      <p:sp>
        <p:nvSpPr>
          <p:cNvPr id="19" name="Text 17"/>
          <p:cNvSpPr/>
          <p:nvPr/>
        </p:nvSpPr>
        <p:spPr>
          <a:xfrm>
            <a:off x="8330184" y="1435608"/>
            <a:ext cx="3483864" cy="548640"/>
          </a:xfrm>
          <a:prstGeom prst="rect">
            <a:avLst/>
          </a:prstGeom>
          <a:noFill/>
          <a:ln/>
        </p:spPr>
        <p:txBody>
          <a:bodyPr wrap="square" rtlCol="0" anchor="ctr"/>
          <a:lstStyle/>
          <a:p>
            <a:pPr indent="0" marL="0">
              <a:buNone/>
            </a:pPr>
            <a:r>
              <a:rPr lang="en-US" sz="1700" b="1" dirty="0">
                <a:solidFill>
                  <a:srgbClr val="0A0A0A"/>
                </a:solidFill>
                <a:latin typeface="Arial" pitchFamily="34" charset="0"/>
                <a:ea typeface="Arial" pitchFamily="34" charset="-122"/>
                <a:cs typeface="Arial" pitchFamily="34" charset="-120"/>
              </a:rPr>
              <a:t>Full</a:t>
            </a:r>
            <a:endParaRPr lang="en-US" sz="1700" dirty="0"/>
          </a:p>
          <a:p>
            <a:pPr indent="0" marL="0">
              <a:buNone/>
            </a:pPr>
            <a:r>
              <a:rPr lang="en-US" sz="1700" b="1" dirty="0">
                <a:solidFill>
                  <a:srgbClr val="0A0A0A"/>
                </a:solidFill>
                <a:latin typeface="Arial" pitchFamily="34" charset="0"/>
                <a:ea typeface="Arial" pitchFamily="34" charset="-122"/>
                <a:cs typeface="Arial" pitchFamily="34" charset="-120"/>
              </a:rPr>
              <a:t>audit trail</a:t>
            </a:r>
            <a:endParaRPr lang="en-US" sz="1700" dirty="0"/>
          </a:p>
        </p:txBody>
      </p:sp>
      <p:sp>
        <p:nvSpPr>
          <p:cNvPr id="20" name="Text 18"/>
          <p:cNvSpPr/>
          <p:nvPr/>
        </p:nvSpPr>
        <p:spPr>
          <a:xfrm>
            <a:off x="8330184" y="1984248"/>
            <a:ext cx="3483864" cy="475488"/>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every rebalance, every override, every decision — transparent to regulators</a:t>
            </a:r>
            <a:endParaRPr lang="en-US" sz="900" dirty="0"/>
          </a:p>
        </p:txBody>
      </p:sp>
      <p:sp>
        <p:nvSpPr>
          <p:cNvPr id="21" name="Shape 19"/>
          <p:cNvSpPr/>
          <p:nvPr/>
        </p:nvSpPr>
        <p:spPr>
          <a:xfrm>
            <a:off x="457200" y="2743200"/>
            <a:ext cx="3758184" cy="1234440"/>
          </a:xfrm>
          <a:prstGeom prst="rect">
            <a:avLst/>
          </a:prstGeom>
          <a:solidFill>
            <a:srgbClr val="F4F4F4"/>
          </a:solidFill>
          <a:ln/>
        </p:spPr>
        <p:txBody>
          <a:bodyPr/>
          <a:p/>
        </p:txBody>
      </p:sp>
      <p:sp>
        <p:nvSpPr>
          <p:cNvPr id="22" name="Text 20"/>
          <p:cNvSpPr/>
          <p:nvPr/>
        </p:nvSpPr>
        <p:spPr>
          <a:xfrm>
            <a:off x="594360" y="2852928"/>
            <a:ext cx="3483864" cy="548640"/>
          </a:xfrm>
          <a:prstGeom prst="rect">
            <a:avLst/>
          </a:prstGeom>
          <a:noFill/>
          <a:ln/>
        </p:spPr>
        <p:txBody>
          <a:bodyPr wrap="square" rtlCol="0" anchor="ctr"/>
          <a:lstStyle/>
          <a:p>
            <a:pPr indent="0" marL="0">
              <a:buNone/>
            </a:pPr>
            <a:r>
              <a:rPr lang="en-US" sz="1700" b="1" dirty="0">
                <a:solidFill>
                  <a:srgbClr val="0A0A0A"/>
                </a:solidFill>
                <a:latin typeface="Arial" pitchFamily="34" charset="0"/>
                <a:ea typeface="Arial" pitchFamily="34" charset="-122"/>
                <a:cs typeface="Arial" pitchFamily="34" charset="-120"/>
              </a:rPr>
              <a:t>Multi-custodian</a:t>
            </a:r>
            <a:endParaRPr lang="en-US" sz="1700" dirty="0"/>
          </a:p>
        </p:txBody>
      </p:sp>
      <p:sp>
        <p:nvSpPr>
          <p:cNvPr id="23" name="Text 21"/>
          <p:cNvSpPr/>
          <p:nvPr/>
        </p:nvSpPr>
        <p:spPr>
          <a:xfrm>
            <a:off x="594360" y="3401568"/>
            <a:ext cx="3483864" cy="475488"/>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independent sub-accounts sharing a common strategy</a:t>
            </a:r>
            <a:endParaRPr lang="en-US" sz="900" dirty="0"/>
          </a:p>
        </p:txBody>
      </p:sp>
      <p:sp>
        <p:nvSpPr>
          <p:cNvPr id="24" name="Shape 22"/>
          <p:cNvSpPr/>
          <p:nvPr/>
        </p:nvSpPr>
        <p:spPr>
          <a:xfrm>
            <a:off x="4325112" y="2743200"/>
            <a:ext cx="3758184" cy="1234440"/>
          </a:xfrm>
          <a:prstGeom prst="rect">
            <a:avLst/>
          </a:prstGeom>
          <a:solidFill>
            <a:srgbClr val="F4F4F4"/>
          </a:solidFill>
          <a:ln/>
        </p:spPr>
        <p:txBody>
          <a:bodyPr/>
          <a:p/>
        </p:txBody>
      </p:sp>
      <p:sp>
        <p:nvSpPr>
          <p:cNvPr id="25" name="Text 23"/>
          <p:cNvSpPr/>
          <p:nvPr/>
        </p:nvSpPr>
        <p:spPr>
          <a:xfrm>
            <a:off x="4462272" y="2852928"/>
            <a:ext cx="3483864" cy="548640"/>
          </a:xfrm>
          <a:prstGeom prst="rect">
            <a:avLst/>
          </a:prstGeom>
          <a:noFill/>
          <a:ln/>
        </p:spPr>
        <p:txBody>
          <a:bodyPr wrap="square" rtlCol="0" anchor="ctr"/>
          <a:lstStyle/>
          <a:p>
            <a:pPr indent="0" marL="0">
              <a:buNone/>
            </a:pPr>
            <a:r>
              <a:rPr lang="en-US" sz="1700" b="1" dirty="0">
                <a:solidFill>
                  <a:srgbClr val="0A0A0A"/>
                </a:solidFill>
                <a:latin typeface="Arial" pitchFamily="34" charset="0"/>
                <a:ea typeface="Arial" pitchFamily="34" charset="-122"/>
                <a:cs typeface="Arial" pitchFamily="34" charset="-120"/>
              </a:rPr>
              <a:t>IBKR</a:t>
            </a:r>
            <a:endParaRPr lang="en-US" sz="1700" dirty="0"/>
          </a:p>
          <a:p>
            <a:pPr indent="0" marL="0">
              <a:buNone/>
            </a:pPr>
            <a:r>
              <a:rPr lang="en-US" sz="1700" b="1" dirty="0">
                <a:solidFill>
                  <a:srgbClr val="0A0A0A"/>
                </a:solidFill>
                <a:latin typeface="Arial" pitchFamily="34" charset="0"/>
                <a:ea typeface="Arial" pitchFamily="34" charset="-122"/>
                <a:cs typeface="Arial" pitchFamily="34" charset="-120"/>
              </a:rPr>
              <a:t>integrated</a:t>
            </a:r>
            <a:endParaRPr lang="en-US" sz="1700" dirty="0"/>
          </a:p>
        </p:txBody>
      </p:sp>
      <p:sp>
        <p:nvSpPr>
          <p:cNvPr id="26" name="Text 24"/>
          <p:cNvSpPr/>
          <p:nvPr/>
        </p:nvSpPr>
        <p:spPr>
          <a:xfrm>
            <a:off x="4462272" y="3401568"/>
            <a:ext cx="3483864" cy="475488"/>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order routing — automated or manual for any custodian</a:t>
            </a:r>
            <a:endParaRPr lang="en-US" sz="900" dirty="0"/>
          </a:p>
        </p:txBody>
      </p:sp>
      <p:sp>
        <p:nvSpPr>
          <p:cNvPr id="27" name="Shape 25"/>
          <p:cNvSpPr/>
          <p:nvPr/>
        </p:nvSpPr>
        <p:spPr>
          <a:xfrm>
            <a:off x="8193024" y="2743200"/>
            <a:ext cx="3758184" cy="1234440"/>
          </a:xfrm>
          <a:prstGeom prst="rect">
            <a:avLst/>
          </a:prstGeom>
          <a:solidFill>
            <a:srgbClr val="F4F4F4"/>
          </a:solidFill>
          <a:ln/>
        </p:spPr>
        <p:txBody>
          <a:bodyPr/>
          <a:p/>
        </p:txBody>
      </p:sp>
      <p:sp>
        <p:nvSpPr>
          <p:cNvPr id="28" name="Text 26"/>
          <p:cNvSpPr/>
          <p:nvPr/>
        </p:nvSpPr>
        <p:spPr>
          <a:xfrm>
            <a:off x="8330184" y="2852928"/>
            <a:ext cx="3483864" cy="548640"/>
          </a:xfrm>
          <a:prstGeom prst="rect">
            <a:avLst/>
          </a:prstGeom>
          <a:noFill/>
          <a:ln/>
        </p:spPr>
        <p:txBody>
          <a:bodyPr wrap="square" rtlCol="0" anchor="ctr"/>
          <a:lstStyle/>
          <a:p>
            <a:pPr indent="0" marL="0">
              <a:buNone/>
            </a:pPr>
            <a:r>
              <a:rPr lang="en-US" sz="1700" b="1" dirty="0">
                <a:solidFill>
                  <a:srgbClr val="0A0A0A"/>
                </a:solidFill>
                <a:latin typeface="Arial" pitchFamily="34" charset="0"/>
                <a:ea typeface="Arial" pitchFamily="34" charset="-122"/>
                <a:cs typeface="Arial" pitchFamily="34" charset="-120"/>
              </a:rPr>
              <a:t>RBAC</a:t>
            </a:r>
            <a:endParaRPr lang="en-US" sz="1700" dirty="0"/>
          </a:p>
        </p:txBody>
      </p:sp>
      <p:sp>
        <p:nvSpPr>
          <p:cNvPr id="29" name="Text 27"/>
          <p:cNvSpPr/>
          <p:nvPr/>
        </p:nvSpPr>
        <p:spPr>
          <a:xfrm>
            <a:off x="8330184" y="3401568"/>
            <a:ext cx="3483864" cy="475488"/>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maker/checker workflow — institutional-grade access controls</a:t>
            </a:r>
            <a:endParaRPr lang="en-US" sz="900" dirty="0"/>
          </a:p>
        </p:txBody>
      </p:sp>
      <p:sp>
        <p:nvSpPr>
          <p:cNvPr id="30" name="Shape 28"/>
          <p:cNvSpPr/>
          <p:nvPr/>
        </p:nvSpPr>
        <p:spPr>
          <a:xfrm>
            <a:off x="457200" y="4297680"/>
            <a:ext cx="11274552" cy="640080"/>
          </a:xfrm>
          <a:prstGeom prst="rect">
            <a:avLst/>
          </a:prstGeom>
          <a:solidFill>
            <a:srgbClr val="0A0A0A"/>
          </a:solidFill>
          <a:ln/>
        </p:spPr>
        <p:txBody>
          <a:bodyPr/>
          <a:p/>
        </p:txBody>
      </p:sp>
      <p:sp>
        <p:nvSpPr>
          <p:cNvPr id="31" name="Text 29"/>
          <p:cNvSpPr/>
          <p:nvPr/>
        </p:nvSpPr>
        <p:spPr>
          <a:xfrm>
            <a:off x="594360" y="4370832"/>
            <a:ext cx="11000232" cy="493776"/>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Platform status: Systematic signal generation and portfolio construction live. IBKR integration in place. Has not yet executed in a live account. Proof Partners programme open. First conversations beginning now. Live execution target [provisional]: within three months of first Proof Partner onboarding.</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548640"/>
          </a:xfrm>
          <a:prstGeom prst="rect">
            <a:avLst/>
          </a:prstGeom>
          <a:solidFill>
            <a:srgbClr val="0A0A0A"/>
          </a:solidFill>
          <a:ln/>
        </p:spPr>
        <p:txBody>
          <a:bodyPr/>
          <a:p/>
        </p:txBody>
      </p:sp>
      <p:sp>
        <p:nvSpPr>
          <p:cNvPr id="3" name="Text 1"/>
          <p:cNvSpPr/>
          <p:nvPr/>
        </p:nvSpPr>
        <p:spPr>
          <a:xfrm>
            <a:off x="457200" y="45720"/>
            <a:ext cx="182880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Invest</a:t>
            </a:r>
            <a:pPr indent="0" marL="0">
              <a:buNone/>
            </a:pPr>
            <a:r>
              <a:rPr lang="en-US" sz="1400" b="1" dirty="0">
                <a:solidFill>
                  <a:srgbClr val="85D155"/>
                </a:solidFill>
                <a:latin typeface="Arial" pitchFamily="34" charset="0"/>
                <a:ea typeface="Arial" pitchFamily="34" charset="-122"/>
                <a:cs typeface="Arial" pitchFamily="34" charset="-120"/>
              </a:rPr>
              <a:t>Puppy</a:t>
            </a:r>
            <a:endParaRPr lang="en-US" sz="1400" dirty="0"/>
          </a:p>
        </p:txBody>
      </p:sp>
      <p:sp>
        <p:nvSpPr>
          <p:cNvPr id="4" name="Text 2"/>
          <p:cNvSpPr/>
          <p:nvPr/>
        </p:nvSpPr>
        <p:spPr>
          <a:xfrm>
            <a:off x="8531352" y="45720"/>
            <a:ext cx="3200400" cy="274320"/>
          </a:xfrm>
          <a:prstGeom prst="rect">
            <a:avLst/>
          </a:prstGeom>
          <a:noFill/>
          <a:ln/>
        </p:spPr>
        <p:txBody>
          <a:bodyPr wrap="square" rtlCol="0" anchor="ctr"/>
          <a:lstStyle/>
          <a:p>
            <a:pPr algn="r" indent="0" marL="0">
              <a:buNone/>
            </a:pPr>
            <a:r>
              <a:rPr lang="en-US" sz="900" dirty="0">
                <a:solidFill>
                  <a:srgbClr val="FFFFFF"/>
                </a:solidFill>
                <a:latin typeface="Arial" pitchFamily="34" charset="0"/>
                <a:ea typeface="Arial" pitchFamily="34" charset="-122"/>
                <a:cs typeface="Arial" pitchFamily="34" charset="-120"/>
              </a:rPr>
              <a:t>Team</a:t>
            </a:r>
            <a:endParaRPr lang="en-US" sz="900" dirty="0"/>
          </a:p>
        </p:txBody>
      </p:sp>
      <p:sp>
        <p:nvSpPr>
          <p:cNvPr id="5" name="Text 3"/>
          <p:cNvSpPr/>
          <p:nvPr/>
        </p:nvSpPr>
        <p:spPr>
          <a:xfrm>
            <a:off x="8531352" y="301752"/>
            <a:ext cx="3200400" cy="201168"/>
          </a:xfrm>
          <a:prstGeom prst="rect">
            <a:avLst/>
          </a:prstGeom>
          <a:noFill/>
          <a:ln/>
        </p:spPr>
        <p:txBody>
          <a:bodyPr wrap="square" rtlCol="0" anchor="ctr"/>
          <a:lstStyle/>
          <a:p>
            <a:pPr algn="r" indent="0" marL="0">
              <a:buNone/>
            </a:pPr>
            <a:r>
              <a:rPr lang="en-US" sz="800" dirty="0">
                <a:solidFill>
                  <a:srgbClr val="888888"/>
                </a:solidFill>
                <a:latin typeface="Arial" pitchFamily="34" charset="0"/>
                <a:ea typeface="Arial" pitchFamily="34" charset="-122"/>
                <a:cs typeface="Arial" pitchFamily="34" charset="-120"/>
              </a:rPr>
              <a:t>Confidential · May 2026</a:t>
            </a:r>
            <a:endParaRPr lang="en-US" sz="800" dirty="0"/>
          </a:p>
        </p:txBody>
      </p:sp>
      <p:sp>
        <p:nvSpPr>
          <p:cNvPr id="6" name="Shape 4"/>
          <p:cNvSpPr/>
          <p:nvPr/>
        </p:nvSpPr>
        <p:spPr>
          <a:xfrm>
            <a:off x="0" y="548640"/>
            <a:ext cx="12188952" cy="0"/>
          </a:xfrm>
          <a:prstGeom prst="line">
            <a:avLst/>
          </a:prstGeom>
          <a:noFill/>
          <a:ln w="25400">
            <a:solidFill>
              <a:srgbClr val="85D155"/>
            </a:solidFill>
            <a:prstDash val="solid"/>
          </a:ln>
        </p:spPr>
        <p:txBody>
          <a:bodyPr/>
          <a:p/>
        </p:txBody>
      </p:sp>
      <p:sp>
        <p:nvSpPr>
          <p:cNvPr id="7" name="Shape 5"/>
          <p:cNvSpPr/>
          <p:nvPr/>
        </p:nvSpPr>
        <p:spPr>
          <a:xfrm>
            <a:off x="457200" y="6510528"/>
            <a:ext cx="11274552" cy="0"/>
          </a:xfrm>
          <a:prstGeom prst="line">
            <a:avLst/>
          </a:prstGeom>
          <a:noFill/>
          <a:ln w="6350">
            <a:solidFill>
              <a:srgbClr val="D0D0D0"/>
            </a:solidFill>
            <a:prstDash val="solid"/>
          </a:ln>
        </p:spPr>
        <p:txBody>
          <a:bodyPr/>
          <a:p/>
        </p:txBody>
      </p:sp>
      <p:sp>
        <p:nvSpPr>
          <p:cNvPr id="8" name="Text 6"/>
          <p:cNvSpPr/>
          <p:nvPr/>
        </p:nvSpPr>
        <p:spPr>
          <a:xfrm>
            <a:off x="457200" y="6547104"/>
            <a:ext cx="10360152" cy="219456"/>
          </a:xfrm>
          <a:prstGeom prst="rect">
            <a:avLst/>
          </a:prstGeom>
          <a:noFill/>
          <a:ln/>
        </p:spPr>
        <p:txBody>
          <a:bodyPr wrap="square" rtlCol="0" anchor="ctr"/>
          <a:lstStyle/>
          <a:p>
            <a:pPr indent="0" marL="0">
              <a:buNone/>
            </a:pPr>
            <a:r>
              <a:rPr lang="en-US" sz="750" dirty="0">
                <a:solidFill>
                  <a:srgbClr val="888888"/>
                </a:solidFill>
                <a:latin typeface="Arial" pitchFamily="34" charset="0"/>
                <a:ea typeface="Arial" pitchFamily="34" charset="-122"/>
                <a:cs typeface="Arial" pitchFamily="34" charset="-120"/>
              </a:rPr>
              <a:t>InvestPuppy Pte Ltd · investpuppy.com · Confidential</a:t>
            </a:r>
            <a:endParaRPr lang="en-US" sz="750" dirty="0"/>
          </a:p>
        </p:txBody>
      </p:sp>
      <p:sp>
        <p:nvSpPr>
          <p:cNvPr id="9" name="Text 7"/>
          <p:cNvSpPr/>
          <p:nvPr/>
        </p:nvSpPr>
        <p:spPr>
          <a:xfrm>
            <a:off x="11457432" y="6547104"/>
            <a:ext cx="502920" cy="219456"/>
          </a:xfrm>
          <a:prstGeom prst="rect">
            <a:avLst/>
          </a:prstGeom>
          <a:noFill/>
          <a:ln/>
        </p:spPr>
        <p:txBody>
          <a:bodyPr wrap="square" rtlCol="0" anchor="ctr"/>
          <a:lstStyle/>
          <a:p>
            <a:pPr algn="r" indent="0" marL="0">
              <a:buNone/>
            </a:pPr>
            <a:r>
              <a:rPr lang="en-US" sz="750" dirty="0">
                <a:solidFill>
                  <a:srgbClr val="888888"/>
                </a:solidFill>
                <a:latin typeface="Arial" pitchFamily="34" charset="0"/>
                <a:ea typeface="Arial" pitchFamily="34" charset="-122"/>
                <a:cs typeface="Arial" pitchFamily="34" charset="-120"/>
              </a:rPr>
              <a:t>4</a:t>
            </a:r>
            <a:endParaRPr lang="en-US" sz="750" dirty="0"/>
          </a:p>
        </p:txBody>
      </p:sp>
      <p:sp>
        <p:nvSpPr>
          <p:cNvPr id="10" name="Text 8"/>
          <p:cNvSpPr/>
          <p:nvPr/>
        </p:nvSpPr>
        <p:spPr>
          <a:xfrm>
            <a:off x="457200" y="685800"/>
            <a:ext cx="11274552" cy="292608"/>
          </a:xfrm>
          <a:prstGeom prst="rect">
            <a:avLst/>
          </a:prstGeom>
          <a:noFill/>
          <a:ln/>
        </p:spPr>
        <p:txBody>
          <a:bodyPr wrap="square" rtlCol="0" anchor="ctr"/>
          <a:lstStyle/>
          <a:p>
            <a:pPr indent="0" marL="0">
              <a:buNone/>
            </a:pPr>
            <a:r>
              <a:rPr lang="en-US" sz="1200" b="1" dirty="0">
                <a:solidFill>
                  <a:srgbClr val="0A0A0A"/>
                </a:solidFill>
                <a:latin typeface="Arial" pitchFamily="34" charset="0"/>
                <a:ea typeface="Arial" pitchFamily="34" charset="-122"/>
                <a:cs typeface="Arial" pitchFamily="34" charset="-120"/>
              </a:rPr>
              <a:t>Five people. Decades of institutional experience. One conviction.</a:t>
            </a:r>
            <a:endParaRPr lang="en-US" sz="1200" dirty="0"/>
          </a:p>
        </p:txBody>
      </p:sp>
      <p:sp>
        <p:nvSpPr>
          <p:cNvPr id="11" name="Text 9"/>
          <p:cNvSpPr/>
          <p:nvPr/>
        </p:nvSpPr>
        <p:spPr>
          <a:xfrm>
            <a:off x="457200" y="1024128"/>
            <a:ext cx="11274552" cy="228600"/>
          </a:xfrm>
          <a:prstGeom prst="rect">
            <a:avLst/>
          </a:prstGeom>
          <a:noFill/>
          <a:ln/>
        </p:spPr>
        <p:txBody>
          <a:bodyPr wrap="square" rtlCol="0" anchor="ctr"/>
          <a:lstStyle/>
          <a:p>
            <a:pPr indent="0" marL="0">
              <a:buNone/>
            </a:pPr>
            <a:r>
              <a:rPr lang="en-US" sz="900" i="1" dirty="0">
                <a:solidFill>
                  <a:srgbClr val="888888"/>
                </a:solidFill>
                <a:latin typeface="Arial" pitchFamily="34" charset="0"/>
                <a:ea typeface="Arial" pitchFamily="34" charset="-122"/>
                <a:cs typeface="Arial" pitchFamily="34" charset="-120"/>
              </a:rPr>
              <a:t>Full founder biographies disclosed under NDA. The founding partnership predates InvestPuppy by approximately a decade.</a:t>
            </a:r>
            <a:endParaRPr lang="en-US" sz="900" dirty="0"/>
          </a:p>
        </p:txBody>
      </p:sp>
      <p:sp>
        <p:nvSpPr>
          <p:cNvPr id="12" name="Shape 10"/>
          <p:cNvSpPr/>
          <p:nvPr/>
        </p:nvSpPr>
        <p:spPr>
          <a:xfrm>
            <a:off x="457200" y="1371600"/>
            <a:ext cx="5029200" cy="3657600"/>
          </a:xfrm>
          <a:prstGeom prst="rect">
            <a:avLst/>
          </a:prstGeom>
          <a:solidFill>
            <a:srgbClr val="0A0A0A"/>
          </a:solidFill>
          <a:ln/>
        </p:spPr>
        <p:txBody>
          <a:bodyPr/>
          <a:p/>
        </p:txBody>
      </p:sp>
      <p:sp>
        <p:nvSpPr>
          <p:cNvPr id="13" name="Text 11"/>
          <p:cNvSpPr/>
          <p:nvPr/>
        </p:nvSpPr>
        <p:spPr>
          <a:xfrm>
            <a:off x="594360" y="1481328"/>
            <a:ext cx="4754880" cy="256032"/>
          </a:xfrm>
          <a:prstGeom prst="rect">
            <a:avLst/>
          </a:prstGeom>
          <a:noFill/>
          <a:ln/>
        </p:spPr>
        <p:txBody>
          <a:bodyPr wrap="square" rtlCol="0" anchor="ctr"/>
          <a:lstStyle/>
          <a:p>
            <a:pPr indent="0" marL="0">
              <a:buNone/>
            </a:pPr>
            <a:r>
              <a:rPr lang="en-US" sz="1100" b="1" dirty="0">
                <a:solidFill>
                  <a:srgbClr val="85D155"/>
                </a:solidFill>
                <a:latin typeface="Arial" pitchFamily="34" charset="0"/>
                <a:ea typeface="Arial" pitchFamily="34" charset="-122"/>
                <a:cs typeface="Arial" pitchFamily="34" charset="-120"/>
              </a:rPr>
              <a:t>CEO</a:t>
            </a:r>
            <a:endParaRPr lang="en-US" sz="1100" dirty="0"/>
          </a:p>
        </p:txBody>
      </p:sp>
      <p:sp>
        <p:nvSpPr>
          <p:cNvPr id="14" name="Text 12"/>
          <p:cNvSpPr/>
          <p:nvPr/>
        </p:nvSpPr>
        <p:spPr>
          <a:xfrm>
            <a:off x="594360" y="1737360"/>
            <a:ext cx="4754880" cy="292608"/>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Chief Executive Officer</a:t>
            </a:r>
            <a:endParaRPr lang="en-US" sz="1400" dirty="0"/>
          </a:p>
        </p:txBody>
      </p:sp>
      <p:sp>
        <p:nvSpPr>
          <p:cNvPr id="15" name="Text 13"/>
          <p:cNvSpPr/>
          <p:nvPr/>
        </p:nvSpPr>
        <p:spPr>
          <a:xfrm>
            <a:off x="594360" y="2084831"/>
            <a:ext cx="4754880" cy="2834640"/>
          </a:xfrm>
          <a:prstGeom prst="rect">
            <a:avLst/>
          </a:prstGeom>
          <a:noFill/>
          <a:ln/>
        </p:spPr>
        <p:txBody>
          <a:bodyPr wrap="square" rtlCol="0" anchor="ctr"/>
          <a:lstStyle/>
          <a:p>
            <a:pPr indent="0" marL="0">
              <a:buNone/>
            </a:pPr>
            <a:r>
              <a:rPr sz="950">
                <a:solidFill>
                  <a:srgbClr val="FFFFFF"/>
                </a:solidFill>
              </a:rPr>
              <a:t>·  Co-equal founder. Spent the better part of three decades inside the institutional portfolio management technology that boutique practitioners cannot access — spanning the product’s full commercial lifecycle from vendor through solution architect and programme and engagement management for Global Tier 1 bank deployments.</a:t>
            </a:r>
            <a:endParaRPr lang="en-US" sz="950" dirty="0"/>
          </a:p>
          <a:p/>
          <a:p>
            <a:r>
              <a:t/>
            </a:r>
          </a:p>
          <a:p>
            <a:r>
              <a:rPr sz="950">
                <a:solidFill>
                  <a:srgbClr val="FFFFFF"/>
                </a:solidFill>
              </a:rPr>
              <a:t>·  Production OpenWealth API credentials across Tier 1 custodian institutions in EMEA and APAC — established over years of direct institutional relationship work. The commercial foundation of the Vektor : Wrapped channel.</a:t>
            </a:r>
          </a:p>
          <a:p/>
          <a:p>
            <a:r>
              <a:t/>
            </a:r>
          </a:p>
          <a:p>
            <a:r>
              <a:rPr sz="950">
                <a:solidFill>
                  <a:srgbClr val="FFFFFF"/>
                </a:solidFill>
              </a:rPr>
              <a:t>·  The Unvarnished series is a partial record of what was seen in those rooms — not as an observer, but as the person responsible for the outcome.</a:t>
            </a:r>
          </a:p>
          <a:p/>
          <a:p>
            <a:r>
              <a:t/>
            </a:r>
          </a:p>
          <a:p>
            <a:r>
              <a:rPr sz="950">
                <a:solidFill>
                  <a:srgbClr val="FFFFFF"/>
                </a:solidFill>
              </a:rPr>
              <a:t>·  Full biography disclosed under NDA.</a:t>
            </a:r>
          </a:p>
        </p:txBody>
      </p:sp>
      <p:sp>
        <p:nvSpPr>
          <p:cNvPr id="16" name="Text 14"/>
          <p:cNvSpPr/>
          <p:nvPr/>
        </p:nvSpPr>
        <p:spPr>
          <a:xfrm>
            <a:off x="594360" y="7315200"/>
            <a:ext cx="4754880" cy="347472"/>
          </a:xfrm>
          <a:prstGeom prst="rect">
            <a:avLst/>
          </a:prstGeom>
          <a:noFill/>
          <a:ln/>
        </p:spPr>
        <p:txBody>
          <a:bodyPr wrap="square" rtlCol="0" anchor="ctr"/>
          <a:lstStyle/>
          <a:p>
            <a:pPr indent="0" marL="0">
              <a:buNone/>
            </a:pPr>
            <a:r>
              <a:rPr lang="en-US" sz="950" dirty="0">
                <a:solidFill>
                  <a:srgbClr val="CCCCCC"/>
                </a:solidFill>
                <a:latin typeface="Arial" pitchFamily="34" charset="0"/>
                <a:ea typeface="Arial" pitchFamily="34" charset="-122"/>
                <a:cs typeface="Arial" pitchFamily="34" charset="-120"/>
              </a:rPr>
              <a:t/>
            </a:r>
            <a:endParaRPr lang="en-US" sz="950" dirty="0"/>
          </a:p>
        </p:txBody>
      </p:sp>
      <p:sp>
        <p:nvSpPr>
          <p:cNvPr id="17" name="Text 15"/>
          <p:cNvSpPr/>
          <p:nvPr/>
        </p:nvSpPr>
        <p:spPr>
          <a:xfrm>
            <a:off x="594360" y="7315200"/>
            <a:ext cx="4754880" cy="347472"/>
          </a:xfrm>
          <a:prstGeom prst="rect">
            <a:avLst/>
          </a:prstGeom>
          <a:noFill/>
          <a:ln/>
        </p:spPr>
        <p:txBody>
          <a:bodyPr wrap="square" rtlCol="0" anchor="ctr"/>
          <a:lstStyle/>
          <a:p>
            <a:pPr indent="0" marL="0">
              <a:buNone/>
            </a:pPr>
            <a:r>
              <a:rPr lang="en-US" sz="950" dirty="0">
                <a:solidFill>
                  <a:srgbClr val="CCCCCC"/>
                </a:solidFill>
                <a:latin typeface="Arial" pitchFamily="34" charset="0"/>
                <a:ea typeface="Arial" pitchFamily="34" charset="-122"/>
                <a:cs typeface="Arial" pitchFamily="34" charset="-120"/>
              </a:rPr>
              <a:t/>
            </a:r>
            <a:endParaRPr lang="en-US" sz="950" dirty="0"/>
          </a:p>
        </p:txBody>
      </p:sp>
      <p:sp>
        <p:nvSpPr>
          <p:cNvPr id="18" name="Text 16"/>
          <p:cNvSpPr/>
          <p:nvPr/>
        </p:nvSpPr>
        <p:spPr>
          <a:xfrm>
            <a:off x="594360" y="7315200"/>
            <a:ext cx="4754880" cy="347472"/>
          </a:xfrm>
          <a:prstGeom prst="rect">
            <a:avLst/>
          </a:prstGeom>
          <a:noFill/>
          <a:ln/>
        </p:spPr>
        <p:txBody>
          <a:bodyPr wrap="square" rtlCol="0" anchor="ctr"/>
          <a:lstStyle/>
          <a:p>
            <a:pPr indent="0" marL="0">
              <a:buNone/>
            </a:pPr>
            <a:r>
              <a:rPr lang="en-US" sz="950" dirty="0">
                <a:solidFill>
                  <a:srgbClr val="CCCCCC"/>
                </a:solidFill>
                <a:latin typeface="Arial" pitchFamily="34" charset="0"/>
                <a:ea typeface="Arial" pitchFamily="34" charset="-122"/>
                <a:cs typeface="Arial" pitchFamily="34" charset="-120"/>
              </a:rPr>
              <a:t/>
            </a:r>
            <a:endParaRPr lang="en-US" sz="950" dirty="0"/>
          </a:p>
        </p:txBody>
      </p:sp>
      <p:sp>
        <p:nvSpPr>
          <p:cNvPr id="19" name="Shape 17"/>
          <p:cNvSpPr/>
          <p:nvPr/>
        </p:nvSpPr>
        <p:spPr>
          <a:xfrm>
            <a:off x="5669280" y="1371600"/>
            <a:ext cx="5029200" cy="3657600"/>
          </a:xfrm>
          <a:prstGeom prst="rect">
            <a:avLst/>
          </a:prstGeom>
          <a:solidFill>
            <a:srgbClr val="0A0A0A"/>
          </a:solidFill>
          <a:ln/>
        </p:spPr>
        <p:txBody>
          <a:bodyPr/>
          <a:p/>
        </p:txBody>
      </p:sp>
      <p:sp>
        <p:nvSpPr>
          <p:cNvPr id="20" name="Text 18"/>
          <p:cNvSpPr/>
          <p:nvPr/>
        </p:nvSpPr>
        <p:spPr>
          <a:xfrm>
            <a:off x="5806440" y="1481328"/>
            <a:ext cx="4754880" cy="256032"/>
          </a:xfrm>
          <a:prstGeom prst="rect">
            <a:avLst/>
          </a:prstGeom>
          <a:noFill/>
          <a:ln/>
        </p:spPr>
        <p:txBody>
          <a:bodyPr wrap="square" rtlCol="0" anchor="ctr"/>
          <a:lstStyle/>
          <a:p>
            <a:pPr indent="0" marL="0">
              <a:buNone/>
            </a:pPr>
            <a:r>
              <a:rPr lang="en-US" sz="1100" b="1" dirty="0">
                <a:solidFill>
                  <a:srgbClr val="85D155"/>
                </a:solidFill>
                <a:latin typeface="Arial" pitchFamily="34" charset="0"/>
                <a:ea typeface="Arial" pitchFamily="34" charset="-122"/>
                <a:cs typeface="Arial" pitchFamily="34" charset="-120"/>
              </a:rPr>
              <a:t>CTO</a:t>
            </a:r>
            <a:endParaRPr lang="en-US" sz="1100" dirty="0"/>
          </a:p>
        </p:txBody>
      </p:sp>
      <p:sp>
        <p:nvSpPr>
          <p:cNvPr id="21" name="Text 19"/>
          <p:cNvSpPr/>
          <p:nvPr/>
        </p:nvSpPr>
        <p:spPr>
          <a:xfrm>
            <a:off x="5806440" y="1737360"/>
            <a:ext cx="4754880" cy="292608"/>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Chief Technology Officer</a:t>
            </a:r>
            <a:endParaRPr lang="en-US" sz="1400" dirty="0"/>
          </a:p>
        </p:txBody>
      </p:sp>
      <p:sp>
        <p:nvSpPr>
          <p:cNvPr id="22" name="Text 20"/>
          <p:cNvSpPr/>
          <p:nvPr/>
        </p:nvSpPr>
        <p:spPr>
          <a:xfrm>
            <a:off x="5806440" y="2084831"/>
            <a:ext cx="4754880" cy="2834640"/>
          </a:xfrm>
          <a:prstGeom prst="rect">
            <a:avLst/>
          </a:prstGeom>
          <a:noFill/>
          <a:ln/>
        </p:spPr>
        <p:txBody>
          <a:bodyPr wrap="square" rtlCol="0" anchor="ctr"/>
          <a:lstStyle/>
          <a:p>
            <a:pPr indent="0" marL="0">
              <a:buNone/>
            </a:pPr>
            <a:r>
              <a:rPr sz="950">
                <a:solidFill>
                  <a:srgbClr val="FFFFFF"/>
                </a:solidFill>
              </a:rPr>
              <a:t>·  Co-equal founder. Two decades of institutional financial technology architecture — cloud-native core banking infrastructure deployed by major financial institutions and end-to-end architecture of digital challenger bank launches.</a:t>
            </a:r>
            <a:endParaRPr lang="en-US" sz="950" dirty="0"/>
          </a:p>
          <a:p/>
          <a:p>
            <a:r>
              <a:t/>
            </a:r>
          </a:p>
          <a:p>
            <a:r>
              <a:rPr sz="950">
                <a:solidFill>
                  <a:srgbClr val="FFFFFF"/>
                </a:solidFill>
              </a:rPr>
              <a:t>·  Architect of the Vektor platform. The platform was built to institutional compliance standards from first principles — data residency, audit trail, API integration security — not retrofitted to meet them.</a:t>
            </a:r>
          </a:p>
          <a:p/>
          <a:p>
            <a:r>
              <a:t/>
            </a:r>
          </a:p>
          <a:p>
            <a:r>
              <a:rPr sz="950">
                <a:solidFill>
                  <a:srgbClr val="FFFFFF"/>
                </a:solidFill>
              </a:rPr>
              <a:t>·  The platform was built to operate within custodian-connected financial infrastructure, not alongside it.</a:t>
            </a:r>
          </a:p>
          <a:p/>
          <a:p>
            <a:r>
              <a:t/>
            </a:r>
          </a:p>
          <a:p>
            <a:r>
              <a:rPr sz="950">
                <a:solidFill>
                  <a:srgbClr val="FFFFFF"/>
                </a:solidFill>
              </a:rPr>
              <a:t>·  “I could not have done it without him. He could not have done it without me.” — CEO</a:t>
            </a:r>
          </a:p>
        </p:txBody>
      </p:sp>
      <p:sp>
        <p:nvSpPr>
          <p:cNvPr id="23" name="Text 21"/>
          <p:cNvSpPr/>
          <p:nvPr/>
        </p:nvSpPr>
        <p:spPr>
          <a:xfrm>
            <a:off x="5806440" y="7315200"/>
            <a:ext cx="4754880" cy="347472"/>
          </a:xfrm>
          <a:prstGeom prst="rect">
            <a:avLst/>
          </a:prstGeom>
          <a:noFill/>
          <a:ln/>
        </p:spPr>
        <p:txBody>
          <a:bodyPr wrap="square" rtlCol="0" anchor="ctr"/>
          <a:lstStyle/>
          <a:p>
            <a:pPr indent="0" marL="0">
              <a:buNone/>
            </a:pPr>
            <a:r>
              <a:rPr lang="en-US" sz="950" dirty="0">
                <a:solidFill>
                  <a:srgbClr val="CCCCCC"/>
                </a:solidFill>
                <a:latin typeface="Arial" pitchFamily="34" charset="0"/>
                <a:ea typeface="Arial" pitchFamily="34" charset="-122"/>
                <a:cs typeface="Arial" pitchFamily="34" charset="-120"/>
              </a:rPr>
              <a:t/>
            </a:r>
            <a:endParaRPr lang="en-US" sz="950" dirty="0"/>
          </a:p>
        </p:txBody>
      </p:sp>
      <p:sp>
        <p:nvSpPr>
          <p:cNvPr id="24" name="Text 22"/>
          <p:cNvSpPr/>
          <p:nvPr/>
        </p:nvSpPr>
        <p:spPr>
          <a:xfrm>
            <a:off x="5806440" y="7315200"/>
            <a:ext cx="4754880" cy="347472"/>
          </a:xfrm>
          <a:prstGeom prst="rect">
            <a:avLst/>
          </a:prstGeom>
          <a:noFill/>
          <a:ln/>
        </p:spPr>
        <p:txBody>
          <a:bodyPr wrap="square" rtlCol="0" anchor="ctr"/>
          <a:lstStyle/>
          <a:p>
            <a:pPr indent="0" marL="0">
              <a:buNone/>
            </a:pPr>
            <a:r>
              <a:rPr lang="en-US" sz="950" dirty="0">
                <a:solidFill>
                  <a:srgbClr val="CCCCCC"/>
                </a:solidFill>
                <a:latin typeface="Arial" pitchFamily="34" charset="0"/>
                <a:ea typeface="Arial" pitchFamily="34" charset="-122"/>
                <a:cs typeface="Arial" pitchFamily="34" charset="-120"/>
              </a:rPr>
              <a:t/>
            </a:r>
            <a:endParaRPr lang="en-US" sz="950" dirty="0"/>
          </a:p>
        </p:txBody>
      </p:sp>
      <p:sp>
        <p:nvSpPr>
          <p:cNvPr id="25" name="Text 23"/>
          <p:cNvSpPr/>
          <p:nvPr/>
        </p:nvSpPr>
        <p:spPr>
          <a:xfrm>
            <a:off x="5806440" y="7315200"/>
            <a:ext cx="4754880" cy="347472"/>
          </a:xfrm>
          <a:prstGeom prst="rect">
            <a:avLst/>
          </a:prstGeom>
          <a:noFill/>
          <a:ln/>
        </p:spPr>
        <p:txBody>
          <a:bodyPr wrap="square" rtlCol="0" anchor="ctr"/>
          <a:lstStyle/>
          <a:p>
            <a:pPr indent="0" marL="0">
              <a:buNone/>
            </a:pPr>
            <a:r>
              <a:rPr lang="en-US" sz="950" dirty="0">
                <a:solidFill>
                  <a:srgbClr val="CCCCCC"/>
                </a:solidFill>
                <a:latin typeface="Arial" pitchFamily="34" charset="0"/>
                <a:ea typeface="Arial" pitchFamily="34" charset="-122"/>
                <a:cs typeface="Arial" pitchFamily="34" charset="-120"/>
              </a:rPr>
              <a:t/>
            </a:r>
            <a:endParaRPr lang="en-US" sz="950" dirty="0"/>
          </a:p>
        </p:txBody>
      </p:sp>
      <p:sp>
        <p:nvSpPr>
          <p:cNvPr id="26" name="Shape 24"/>
          <p:cNvSpPr/>
          <p:nvPr/>
        </p:nvSpPr>
        <p:spPr>
          <a:xfrm>
            <a:off x="457200" y="5138928"/>
            <a:ext cx="11274552" cy="1005840"/>
          </a:xfrm>
          <a:prstGeom prst="rect">
            <a:avLst/>
          </a:prstGeom>
          <a:solidFill>
            <a:srgbClr val="F4F4F4"/>
          </a:solidFill>
          <a:ln/>
        </p:spPr>
        <p:txBody>
          <a:bodyPr/>
          <a:p/>
        </p:txBody>
      </p:sp>
      <p:sp>
        <p:nvSpPr>
          <p:cNvPr id="27" name="Text 25"/>
          <p:cNvSpPr/>
          <p:nvPr/>
        </p:nvSpPr>
        <p:spPr>
          <a:xfrm>
            <a:off x="594360" y="5230368"/>
            <a:ext cx="5486400" cy="256032"/>
          </a:xfrm>
          <a:prstGeom prst="rect">
            <a:avLst/>
          </a:prstGeom>
          <a:noFill/>
          <a:ln/>
        </p:spPr>
        <p:txBody>
          <a:bodyPr wrap="square" rtlCol="0" anchor="ctr"/>
          <a:lstStyle/>
          <a:p>
            <a:pPr indent="0" marL="0">
              <a:buNone/>
            </a:pPr>
            <a:r>
              <a:rPr lang="en-US" sz="1000" b="1" dirty="0">
                <a:solidFill>
                  <a:srgbClr val="0A0A0A"/>
                </a:solidFill>
                <a:latin typeface="Arial" pitchFamily="34" charset="0"/>
                <a:ea typeface="Arial" pitchFamily="34" charset="-122"/>
                <a:cs typeface="Arial" pitchFamily="34" charset="-120"/>
              </a:rPr>
              <a:t>Pre-launch team — three collaborators</a:t>
            </a:r>
            <a:endParaRPr lang="en-US" sz="1000" dirty="0"/>
          </a:p>
        </p:txBody>
      </p:sp>
      <p:sp>
        <p:nvSpPr>
          <p:cNvPr id="28" name="Text 26"/>
          <p:cNvSpPr/>
          <p:nvPr/>
        </p:nvSpPr>
        <p:spPr>
          <a:xfrm>
            <a:off x="594360" y="5486400"/>
            <a:ext cx="11000232" cy="54864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Three senior professionals with decades of shared institutional experience in wealth management, technology implementation, and compliance. All bound by NDA and the same founding conviction: "there has to be a better way." Full team biographies in the NDA version.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548640"/>
          </a:xfrm>
          <a:prstGeom prst="rect">
            <a:avLst/>
          </a:prstGeom>
          <a:solidFill>
            <a:srgbClr val="0A0A0A"/>
          </a:solidFill>
          <a:ln/>
        </p:spPr>
        <p:txBody>
          <a:bodyPr/>
          <a:p/>
        </p:txBody>
      </p:sp>
      <p:sp>
        <p:nvSpPr>
          <p:cNvPr id="3" name="Text 1"/>
          <p:cNvSpPr/>
          <p:nvPr/>
        </p:nvSpPr>
        <p:spPr>
          <a:xfrm>
            <a:off x="457200" y="45720"/>
            <a:ext cx="182880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Invest</a:t>
            </a:r>
            <a:pPr indent="0" marL="0">
              <a:buNone/>
            </a:pPr>
            <a:r>
              <a:rPr lang="en-US" sz="1400" b="1" dirty="0">
                <a:solidFill>
                  <a:srgbClr val="85D155"/>
                </a:solidFill>
                <a:latin typeface="Arial" pitchFamily="34" charset="0"/>
                <a:ea typeface="Arial" pitchFamily="34" charset="-122"/>
                <a:cs typeface="Arial" pitchFamily="34" charset="-120"/>
              </a:rPr>
              <a:t>Puppy</a:t>
            </a:r>
            <a:endParaRPr lang="en-US" sz="1400" dirty="0"/>
          </a:p>
        </p:txBody>
      </p:sp>
      <p:sp>
        <p:nvSpPr>
          <p:cNvPr id="4" name="Text 2"/>
          <p:cNvSpPr/>
          <p:nvPr/>
        </p:nvSpPr>
        <p:spPr>
          <a:xfrm>
            <a:off x="8531352" y="45720"/>
            <a:ext cx="3200400" cy="274320"/>
          </a:xfrm>
          <a:prstGeom prst="rect">
            <a:avLst/>
          </a:prstGeom>
          <a:noFill/>
          <a:ln/>
        </p:spPr>
        <p:txBody>
          <a:bodyPr wrap="square" rtlCol="0" anchor="ctr"/>
          <a:lstStyle/>
          <a:p>
            <a:pPr algn="r" indent="0" marL="0">
              <a:buNone/>
            </a:pPr>
            <a:r>
              <a:rPr lang="en-US" sz="900" dirty="0">
                <a:solidFill>
                  <a:srgbClr val="FFFFFF"/>
                </a:solidFill>
                <a:latin typeface="Arial" pitchFamily="34" charset="0"/>
                <a:ea typeface="Arial" pitchFamily="34" charset="-122"/>
                <a:cs typeface="Arial" pitchFamily="34" charset="-120"/>
              </a:rPr>
              <a:t>Three Delivery Models</a:t>
            </a:r>
            <a:endParaRPr lang="en-US" sz="900" dirty="0"/>
          </a:p>
        </p:txBody>
      </p:sp>
      <p:sp>
        <p:nvSpPr>
          <p:cNvPr id="5" name="Text 3"/>
          <p:cNvSpPr/>
          <p:nvPr/>
        </p:nvSpPr>
        <p:spPr>
          <a:xfrm>
            <a:off x="8531352" y="301752"/>
            <a:ext cx="3200400" cy="201168"/>
          </a:xfrm>
          <a:prstGeom prst="rect">
            <a:avLst/>
          </a:prstGeom>
          <a:noFill/>
          <a:ln/>
        </p:spPr>
        <p:txBody>
          <a:bodyPr wrap="square" rtlCol="0" anchor="ctr"/>
          <a:lstStyle/>
          <a:p>
            <a:pPr algn="r" indent="0" marL="0">
              <a:buNone/>
            </a:pPr>
            <a:r>
              <a:rPr lang="en-US" sz="800" dirty="0">
                <a:solidFill>
                  <a:srgbClr val="888888"/>
                </a:solidFill>
                <a:latin typeface="Arial" pitchFamily="34" charset="0"/>
                <a:ea typeface="Arial" pitchFamily="34" charset="-122"/>
                <a:cs typeface="Arial" pitchFamily="34" charset="-120"/>
              </a:rPr>
              <a:t>Confidential · May 2026</a:t>
            </a:r>
            <a:endParaRPr lang="en-US" sz="800" dirty="0"/>
          </a:p>
        </p:txBody>
      </p:sp>
      <p:sp>
        <p:nvSpPr>
          <p:cNvPr id="6" name="Shape 4"/>
          <p:cNvSpPr/>
          <p:nvPr/>
        </p:nvSpPr>
        <p:spPr>
          <a:xfrm>
            <a:off x="0" y="548640"/>
            <a:ext cx="12188952" cy="0"/>
          </a:xfrm>
          <a:prstGeom prst="line">
            <a:avLst/>
          </a:prstGeom>
          <a:noFill/>
          <a:ln w="25400">
            <a:solidFill>
              <a:srgbClr val="85D155"/>
            </a:solidFill>
            <a:prstDash val="solid"/>
          </a:ln>
        </p:spPr>
        <p:txBody>
          <a:bodyPr/>
          <a:p/>
        </p:txBody>
      </p:sp>
      <p:sp>
        <p:nvSpPr>
          <p:cNvPr id="7" name="Shape 5"/>
          <p:cNvSpPr/>
          <p:nvPr/>
        </p:nvSpPr>
        <p:spPr>
          <a:xfrm>
            <a:off x="457200" y="6510528"/>
            <a:ext cx="11274552" cy="0"/>
          </a:xfrm>
          <a:prstGeom prst="line">
            <a:avLst/>
          </a:prstGeom>
          <a:noFill/>
          <a:ln w="6350">
            <a:solidFill>
              <a:srgbClr val="D0D0D0"/>
            </a:solidFill>
            <a:prstDash val="solid"/>
          </a:ln>
        </p:spPr>
        <p:txBody>
          <a:bodyPr/>
          <a:p/>
        </p:txBody>
      </p:sp>
      <p:sp>
        <p:nvSpPr>
          <p:cNvPr id="8" name="Text 6"/>
          <p:cNvSpPr/>
          <p:nvPr/>
        </p:nvSpPr>
        <p:spPr>
          <a:xfrm>
            <a:off x="457200" y="6547104"/>
            <a:ext cx="10360152" cy="219456"/>
          </a:xfrm>
          <a:prstGeom prst="rect">
            <a:avLst/>
          </a:prstGeom>
          <a:noFill/>
          <a:ln/>
        </p:spPr>
        <p:txBody>
          <a:bodyPr wrap="square" rtlCol="0" anchor="ctr"/>
          <a:lstStyle/>
          <a:p>
            <a:pPr indent="0" marL="0">
              <a:buNone/>
            </a:pPr>
            <a:r>
              <a:rPr lang="en-US" sz="750" dirty="0">
                <a:solidFill>
                  <a:srgbClr val="888888"/>
                </a:solidFill>
                <a:latin typeface="Arial" pitchFamily="34" charset="0"/>
                <a:ea typeface="Arial" pitchFamily="34" charset="-122"/>
                <a:cs typeface="Arial" pitchFamily="34" charset="-120"/>
              </a:rPr>
              <a:t>InvestPuppy Pte Ltd · investpuppy.com · Confidential</a:t>
            </a:r>
            <a:endParaRPr lang="en-US" sz="750" dirty="0"/>
          </a:p>
        </p:txBody>
      </p:sp>
      <p:sp>
        <p:nvSpPr>
          <p:cNvPr id="9" name="Text 7"/>
          <p:cNvSpPr/>
          <p:nvPr/>
        </p:nvSpPr>
        <p:spPr>
          <a:xfrm>
            <a:off x="11457432" y="6547104"/>
            <a:ext cx="502920" cy="219456"/>
          </a:xfrm>
          <a:prstGeom prst="rect">
            <a:avLst/>
          </a:prstGeom>
          <a:noFill/>
          <a:ln/>
        </p:spPr>
        <p:txBody>
          <a:bodyPr wrap="square" rtlCol="0" anchor="ctr"/>
          <a:lstStyle/>
          <a:p>
            <a:pPr algn="r" indent="0" marL="0">
              <a:buNone/>
            </a:pPr>
            <a:r>
              <a:rPr lang="en-US" sz="750" dirty="0">
                <a:solidFill>
                  <a:srgbClr val="888888"/>
                </a:solidFill>
                <a:latin typeface="Arial" pitchFamily="34" charset="0"/>
                <a:ea typeface="Arial" pitchFamily="34" charset="-122"/>
                <a:cs typeface="Arial" pitchFamily="34" charset="-120"/>
              </a:rPr>
              <a:t>5</a:t>
            </a:r>
            <a:endParaRPr lang="en-US" sz="750" dirty="0"/>
          </a:p>
        </p:txBody>
      </p:sp>
      <p:sp>
        <p:nvSpPr>
          <p:cNvPr id="10" name="Text 8"/>
          <p:cNvSpPr/>
          <p:nvPr/>
        </p:nvSpPr>
        <p:spPr>
          <a:xfrm>
            <a:off x="457200" y="685800"/>
            <a:ext cx="11274552" cy="320040"/>
          </a:xfrm>
          <a:prstGeom prst="rect">
            <a:avLst/>
          </a:prstGeom>
          <a:noFill/>
          <a:ln/>
        </p:spPr>
        <p:txBody>
          <a:bodyPr wrap="square" rtlCol="0" anchor="ctr"/>
          <a:lstStyle/>
          <a:p>
            <a:pPr indent="0" marL="0">
              <a:buNone/>
            </a:pPr>
            <a:r>
              <a:rPr lang="en-US" sz="1100" dirty="0">
                <a:solidFill>
                  <a:srgbClr val="0A0A0A"/>
                </a:solidFill>
                <a:latin typeface="Arial" pitchFamily="34" charset="0"/>
                <a:ea typeface="Arial" pitchFamily="34" charset="-122"/>
                <a:cs typeface="Arial" pitchFamily="34" charset="-120"/>
              </a:rPr>
              <a:t>One product. Three ways to reach the client. Methodology, signal generation, and audit trail identical in every deployment.</a:t>
            </a:r>
            <a:endParaRPr lang="en-US" sz="1100" dirty="0"/>
          </a:p>
        </p:txBody>
      </p:sp>
      <p:sp>
        <p:nvSpPr>
          <p:cNvPr id="11" name="Shape 9"/>
          <p:cNvSpPr/>
          <p:nvPr/>
        </p:nvSpPr>
        <p:spPr>
          <a:xfrm>
            <a:off x="457200" y="1143000"/>
            <a:ext cx="3727704" cy="5212080"/>
          </a:xfrm>
          <a:prstGeom prst="rect">
            <a:avLst/>
          </a:prstGeom>
          <a:solidFill>
            <a:srgbClr val="0A0A0A"/>
          </a:solidFill>
          <a:ln/>
        </p:spPr>
        <p:txBody>
          <a:bodyPr/>
          <a:p/>
        </p:txBody>
      </p:sp>
      <p:sp>
        <p:nvSpPr>
          <p:cNvPr id="12" name="Text 10"/>
          <p:cNvSpPr/>
          <p:nvPr/>
        </p:nvSpPr>
        <p:spPr>
          <a:xfrm>
            <a:off x="594360" y="1234440"/>
            <a:ext cx="3453384" cy="320040"/>
          </a:xfrm>
          <a:prstGeom prst="rect">
            <a:avLst/>
          </a:prstGeom>
          <a:noFill/>
          <a:ln/>
        </p:spPr>
        <p:txBody>
          <a:bodyPr wrap="square" rtlCol="0" anchor="ctr"/>
          <a:lstStyle/>
          <a:p>
            <a:pPr indent="0" marL="0">
              <a:buNone/>
            </a:pPr>
            <a:r>
              <a:rPr lang="en-US" sz="1200" b="1" dirty="0">
                <a:solidFill>
                  <a:srgbClr val="85D155"/>
                </a:solidFill>
                <a:latin typeface="Arial" pitchFamily="34" charset="0"/>
                <a:ea typeface="Arial" pitchFamily="34" charset="-122"/>
                <a:cs typeface="Arial" pitchFamily="34" charset="-120"/>
              </a:rPr>
              <a:t>Vektor : Boutique</a:t>
            </a:r>
            <a:endParaRPr lang="en-US" sz="1200" dirty="0"/>
          </a:p>
        </p:txBody>
      </p:sp>
      <p:sp>
        <p:nvSpPr>
          <p:cNvPr id="13" name="Text 11"/>
          <p:cNvSpPr/>
          <p:nvPr/>
        </p:nvSpPr>
        <p:spPr>
          <a:xfrm>
            <a:off x="594360" y="1554480"/>
            <a:ext cx="3453384" cy="201168"/>
          </a:xfrm>
          <a:prstGeom prst="rect">
            <a:avLst/>
          </a:prstGeom>
          <a:noFill/>
          <a:ln/>
        </p:spPr>
        <p:txBody>
          <a:bodyPr wrap="square" rtlCol="0" anchor="ctr"/>
          <a:lstStyle/>
          <a:p>
            <a:pPr indent="0" marL="0">
              <a:buNone/>
            </a:pPr>
            <a:r>
              <a:rPr lang="en-US" sz="850" i="1" dirty="0">
                <a:solidFill>
                  <a:srgbClr val="AAAAAA"/>
                </a:solidFill>
                <a:latin typeface="Arial" pitchFamily="34" charset="0"/>
                <a:ea typeface="Arial" pitchFamily="34" charset="-122"/>
                <a:cs typeface="Arial" pitchFamily="34" charset="-120"/>
              </a:rPr>
              <a:t>Direct · boutique scale</a:t>
            </a:r>
            <a:endParaRPr lang="en-US" sz="850" dirty="0"/>
          </a:p>
        </p:txBody>
      </p:sp>
      <p:sp>
        <p:nvSpPr>
          <p:cNvPr id="14" name="Shape 12"/>
          <p:cNvSpPr/>
          <p:nvPr/>
        </p:nvSpPr>
        <p:spPr>
          <a:xfrm>
            <a:off x="594360" y="1783080"/>
            <a:ext cx="3453384" cy="0"/>
          </a:xfrm>
          <a:prstGeom prst="line">
            <a:avLst/>
          </a:prstGeom>
          <a:noFill/>
          <a:ln w="6350">
            <a:solidFill>
              <a:srgbClr val="333333"/>
            </a:solidFill>
            <a:prstDash val="solid"/>
          </a:ln>
        </p:spPr>
        <p:txBody>
          <a:bodyPr/>
          <a:p/>
        </p:txBody>
      </p:sp>
      <p:sp>
        <p:nvSpPr>
          <p:cNvPr id="15" name="Text 13"/>
          <p:cNvSpPr/>
          <p:nvPr/>
        </p:nvSpPr>
        <p:spPr>
          <a:xfrm>
            <a:off x="594360" y="1874520"/>
            <a:ext cx="3453384" cy="822960"/>
          </a:xfrm>
          <a:prstGeom prst="rect">
            <a:avLst/>
          </a:prstGeom>
          <a:noFill/>
          <a:ln/>
        </p:spPr>
        <p:txBody>
          <a:bodyPr wrap="square" rtlCol="0" anchor="ctr"/>
          <a:lstStyle/>
          <a:p>
            <a:pPr indent="0" marL="0">
              <a:buNone/>
            </a:pPr>
            <a:r>
              <a:rPr lang="en-US" sz="900" dirty="0">
                <a:solidFill>
                  <a:srgbClr val="CCCCCC"/>
                </a:solidFill>
                <a:latin typeface="Arial" pitchFamily="34" charset="0"/>
                <a:ea typeface="Arial" pitchFamily="34" charset="-122"/>
                <a:cs typeface="Arial" pitchFamily="34" charset="-120"/>
              </a:rPr>
              <a:t>Direct AUM-tiered subscription for boutique DPMs, independent RIAs, and family offices. InvestPuppy manages the infrastructure. DPA with every client.</a:t>
            </a:r>
            <a:endParaRPr lang="en-US" sz="900" dirty="0"/>
          </a:p>
        </p:txBody>
      </p:sp>
      <p:sp>
        <p:nvSpPr>
          <p:cNvPr id="16" name="Text 14"/>
          <p:cNvSpPr/>
          <p:nvPr/>
        </p:nvSpPr>
        <p:spPr>
          <a:xfrm>
            <a:off x="594360" y="2788920"/>
            <a:ext cx="3453384" cy="182880"/>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WHO</a:t>
            </a:r>
            <a:endParaRPr lang="en-US" sz="750" dirty="0"/>
          </a:p>
        </p:txBody>
      </p:sp>
      <p:sp>
        <p:nvSpPr>
          <p:cNvPr id="17" name="Text 15"/>
          <p:cNvSpPr/>
          <p:nvPr/>
        </p:nvSpPr>
        <p:spPr>
          <a:xfrm>
            <a:off x="594360" y="2971800"/>
            <a:ext cx="3453384" cy="502920"/>
          </a:xfrm>
          <a:prstGeom prst="rect">
            <a:avLst/>
          </a:prstGeom>
          <a:noFill/>
          <a:ln/>
        </p:spPr>
        <p:txBody>
          <a:bodyPr wrap="square" rtlCol="0" anchor="ctr"/>
          <a:lstStyle/>
          <a:p>
            <a:pPr indent="0" marL="0">
              <a:buNone/>
            </a:pPr>
            <a:r>
              <a:rPr lang="en-US" sz="900" dirty="0">
                <a:solidFill>
                  <a:srgbClr val="CCCCCC"/>
                </a:solidFill>
                <a:latin typeface="Arial" pitchFamily="34" charset="0"/>
                <a:ea typeface="Arial" pitchFamily="34" charset="-122"/>
                <a:cs typeface="Arial" pitchFamily="34" charset="-120"/>
              </a:rPr>
              <a:t>Boutique DPMs · Independent RIAs · Family offices · EAMs (direct)</a:t>
            </a:r>
            <a:endParaRPr lang="en-US" sz="900" dirty="0"/>
          </a:p>
        </p:txBody>
      </p:sp>
      <p:sp>
        <p:nvSpPr>
          <p:cNvPr id="18" name="Text 16"/>
          <p:cNvSpPr/>
          <p:nvPr/>
        </p:nvSpPr>
        <p:spPr>
          <a:xfrm>
            <a:off x="594360" y="3383280"/>
            <a:ext cx="3453384" cy="182880"/>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PRICE</a:t>
            </a:r>
            <a:endParaRPr lang="en-US" sz="750" dirty="0"/>
          </a:p>
        </p:txBody>
      </p:sp>
      <p:sp>
        <p:nvSpPr>
          <p:cNvPr id="19" name="Text 17"/>
          <p:cNvSpPr/>
          <p:nvPr/>
        </p:nvSpPr>
        <p:spPr>
          <a:xfrm>
            <a:off x="594360" y="3566160"/>
            <a:ext cx="3453384" cy="502920"/>
          </a:xfrm>
          <a:prstGeom prst="rect">
            <a:avLst/>
          </a:prstGeom>
          <a:noFill/>
          <a:ln/>
        </p:spPr>
        <p:txBody>
          <a:bodyPr wrap="square" rtlCol="0" anchor="ctr"/>
          <a:lstStyle/>
          <a:p>
            <a:pPr indent="0" marL="0">
              <a:buNone/>
            </a:pPr>
            <a:r>
              <a:rPr lang="en-US" sz="900" dirty="0">
                <a:solidFill>
                  <a:srgbClr val="CCCCCC"/>
                </a:solidFill>
                <a:latin typeface="Arial" pitchFamily="34" charset="0"/>
                <a:ea typeface="Arial" pitchFamily="34" charset="-122"/>
                <a:cs typeface="Arial" pitchFamily="34" charset="-120"/>
              </a:rPr>
              <a:t>From US$13,500/yr (Proof Partners)</a:t>
            </a:r>
            <a:endParaRPr lang="en-US" sz="900" dirty="0"/>
          </a:p>
          <a:p>
            <a:pPr indent="0" marL="0">
              <a:buNone/>
            </a:pPr>
            <a:r>
              <a:rPr lang="en-US" sz="900" dirty="0">
                <a:solidFill>
                  <a:srgbClr val="CCCCCC"/>
                </a:solidFill>
                <a:latin typeface="Arial" pitchFamily="34" charset="0"/>
                <a:ea typeface="Arial" pitchFamily="34" charset="-122"/>
                <a:cs typeface="Arial" pitchFamily="34" charset="-120"/>
              </a:rPr>
              <a:t>US$18,000/yr Entry · US$36,000/yr Growth</a:t>
            </a:r>
            <a:endParaRPr lang="en-US" sz="900" dirty="0"/>
          </a:p>
        </p:txBody>
      </p:sp>
      <p:sp>
        <p:nvSpPr>
          <p:cNvPr id="20" name="Text 18"/>
          <p:cNvSpPr/>
          <p:nvPr/>
        </p:nvSpPr>
        <p:spPr>
          <a:xfrm>
            <a:off x="594360" y="4160520"/>
            <a:ext cx="3453384" cy="182880"/>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STATUS</a:t>
            </a:r>
            <a:endParaRPr lang="en-US" sz="750" dirty="0"/>
          </a:p>
        </p:txBody>
      </p:sp>
      <p:sp>
        <p:nvSpPr>
          <p:cNvPr id="21" name="Text 19"/>
          <p:cNvSpPr/>
          <p:nvPr/>
        </p:nvSpPr>
        <p:spPr>
          <a:xfrm>
            <a:off x="594360" y="4343400"/>
            <a:ext cx="3453384" cy="502920"/>
          </a:xfrm>
          <a:prstGeom prst="rect">
            <a:avLst/>
          </a:prstGeom>
          <a:noFill/>
          <a:ln/>
        </p:spPr>
        <p:txBody>
          <a:bodyPr wrap="square" rtlCol="0" anchor="ctr"/>
          <a:lstStyle/>
          <a:p>
            <a:pPr indent="0" marL="0">
              <a:buNone/>
            </a:pPr>
            <a:r>
              <a:rPr lang="en-US" sz="900" dirty="0">
                <a:solidFill>
                  <a:srgbClr val="CCCCCC"/>
                </a:solidFill>
                <a:latin typeface="Arial" pitchFamily="34" charset="0"/>
                <a:ea typeface="Arial" pitchFamily="34" charset="-122"/>
                <a:cs typeface="Arial" pitchFamily="34" charset="-120"/>
              </a:rPr>
              <a:t>Open now — Proof Partners programme active</a:t>
            </a:r>
            <a:endParaRPr lang="en-US" sz="900" dirty="0"/>
          </a:p>
        </p:txBody>
      </p:sp>
      <p:sp>
        <p:nvSpPr>
          <p:cNvPr id="22" name="Shape 20"/>
          <p:cNvSpPr/>
          <p:nvPr/>
        </p:nvSpPr>
        <p:spPr>
          <a:xfrm>
            <a:off x="4230624" y="1143000"/>
            <a:ext cx="3727704" cy="5212080"/>
          </a:xfrm>
          <a:prstGeom prst="rect">
            <a:avLst/>
          </a:prstGeom>
          <a:solidFill>
            <a:srgbClr val="111111"/>
          </a:solidFill>
          <a:ln/>
        </p:spPr>
        <p:txBody>
          <a:bodyPr/>
          <a:p/>
        </p:txBody>
      </p:sp>
      <p:sp>
        <p:nvSpPr>
          <p:cNvPr id="23" name="Text 21"/>
          <p:cNvSpPr/>
          <p:nvPr/>
        </p:nvSpPr>
        <p:spPr>
          <a:xfrm>
            <a:off x="4367784" y="1234440"/>
            <a:ext cx="3453384" cy="320040"/>
          </a:xfrm>
          <a:prstGeom prst="rect">
            <a:avLst/>
          </a:prstGeom>
          <a:noFill/>
          <a:ln/>
        </p:spPr>
        <p:txBody>
          <a:bodyPr wrap="square" rtlCol="0" anchor="ctr"/>
          <a:lstStyle/>
          <a:p>
            <a:pPr indent="0" marL="0">
              <a:buNone/>
            </a:pPr>
            <a:r>
              <a:rPr lang="en-US" sz="1200" b="1" dirty="0">
                <a:solidFill>
                  <a:srgbClr val="85D155"/>
                </a:solidFill>
                <a:latin typeface="Arial" pitchFamily="34" charset="0"/>
                <a:ea typeface="Arial" pitchFamily="34" charset="-122"/>
                <a:cs typeface="Arial" pitchFamily="34" charset="-120"/>
              </a:rPr>
              <a:t>Vektor : House</a:t>
            </a:r>
            <a:endParaRPr lang="en-US" sz="1200" dirty="0"/>
          </a:p>
        </p:txBody>
      </p:sp>
      <p:sp>
        <p:nvSpPr>
          <p:cNvPr id="24" name="Text 22"/>
          <p:cNvSpPr/>
          <p:nvPr/>
        </p:nvSpPr>
        <p:spPr>
          <a:xfrm>
            <a:off x="4367784" y="1554480"/>
            <a:ext cx="3453384" cy="201168"/>
          </a:xfrm>
          <a:prstGeom prst="rect">
            <a:avLst/>
          </a:prstGeom>
          <a:noFill/>
          <a:ln/>
        </p:spPr>
        <p:txBody>
          <a:bodyPr wrap="square" rtlCol="0" anchor="ctr"/>
          <a:lstStyle/>
          <a:p>
            <a:pPr indent="0" marL="0">
              <a:buNone/>
            </a:pPr>
            <a:r>
              <a:rPr lang="en-US" sz="850" i="1" dirty="0">
                <a:solidFill>
                  <a:srgbClr val="AAAAAA"/>
                </a:solidFill>
                <a:latin typeface="Arial" pitchFamily="34" charset="0"/>
                <a:ea typeface="Arial" pitchFamily="34" charset="-122"/>
                <a:cs typeface="Arial" pitchFamily="34" charset="-120"/>
              </a:rPr>
              <a:t>Direct · institutional scale</a:t>
            </a:r>
            <a:endParaRPr lang="en-US" sz="850" dirty="0"/>
          </a:p>
        </p:txBody>
      </p:sp>
      <p:sp>
        <p:nvSpPr>
          <p:cNvPr id="25" name="Shape 23"/>
          <p:cNvSpPr/>
          <p:nvPr/>
        </p:nvSpPr>
        <p:spPr>
          <a:xfrm>
            <a:off x="4367784" y="1783080"/>
            <a:ext cx="3453384" cy="0"/>
          </a:xfrm>
          <a:prstGeom prst="line">
            <a:avLst/>
          </a:prstGeom>
          <a:noFill/>
          <a:ln w="6350">
            <a:solidFill>
              <a:srgbClr val="333333"/>
            </a:solidFill>
            <a:prstDash val="solid"/>
          </a:ln>
        </p:spPr>
        <p:txBody>
          <a:bodyPr/>
          <a:p/>
        </p:txBody>
      </p:sp>
      <p:sp>
        <p:nvSpPr>
          <p:cNvPr id="26" name="Text 24"/>
          <p:cNvSpPr/>
          <p:nvPr/>
        </p:nvSpPr>
        <p:spPr>
          <a:xfrm>
            <a:off x="4367784" y="1874520"/>
            <a:ext cx="3453384" cy="822960"/>
          </a:xfrm>
          <a:prstGeom prst="rect">
            <a:avLst/>
          </a:prstGeom>
          <a:noFill/>
          <a:ln/>
        </p:spPr>
        <p:txBody>
          <a:bodyPr wrap="square" rtlCol="0" anchor="ctr"/>
          <a:lstStyle/>
          <a:p>
            <a:pPr indent="0" marL="0">
              <a:buNone/>
            </a:pPr>
            <a:r>
              <a:rPr lang="en-US" sz="900" dirty="0">
                <a:solidFill>
                  <a:srgbClr val="CCCCCC"/>
                </a:solidFill>
                <a:latin typeface="Arial" pitchFamily="34" charset="0"/>
                <a:ea typeface="Arial" pitchFamily="34" charset="-122"/>
                <a:cs typeface="Arial" pitchFamily="34" charset="-120"/>
              </a:rPr>
              <a:t>Institutional subscription via the Alloy Partners programme. Staged and gated. InvestPuppy screens and selects partners. Standard cloud or hybrid deployment.</a:t>
            </a:r>
            <a:endParaRPr lang="en-US" sz="900" dirty="0"/>
          </a:p>
        </p:txBody>
      </p:sp>
      <p:sp>
        <p:nvSpPr>
          <p:cNvPr id="27" name="Text 25"/>
          <p:cNvSpPr/>
          <p:nvPr/>
        </p:nvSpPr>
        <p:spPr>
          <a:xfrm>
            <a:off x="4367784" y="2788920"/>
            <a:ext cx="3453384" cy="182880"/>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WHO</a:t>
            </a:r>
            <a:endParaRPr lang="en-US" sz="750" dirty="0"/>
          </a:p>
        </p:txBody>
      </p:sp>
      <p:sp>
        <p:nvSpPr>
          <p:cNvPr id="28" name="Text 26"/>
          <p:cNvSpPr/>
          <p:nvPr/>
        </p:nvSpPr>
        <p:spPr>
          <a:xfrm>
            <a:off x="4367784" y="2971800"/>
            <a:ext cx="3453384" cy="502920"/>
          </a:xfrm>
          <a:prstGeom prst="rect">
            <a:avLst/>
          </a:prstGeom>
          <a:noFill/>
          <a:ln/>
        </p:spPr>
        <p:txBody>
          <a:bodyPr wrap="square" rtlCol="0" anchor="ctr"/>
          <a:lstStyle/>
          <a:p>
            <a:pPr indent="0" marL="0">
              <a:buNone/>
            </a:pPr>
            <a:r>
              <a:rPr lang="en-US" sz="900" dirty="0">
                <a:solidFill>
                  <a:srgbClr val="CCCCCC"/>
                </a:solidFill>
                <a:latin typeface="Arial" pitchFamily="34" charset="0"/>
                <a:ea typeface="Arial" pitchFamily="34" charset="-122"/>
                <a:cs typeface="Arial" pitchFamily="34" charset="-120"/>
              </a:rPr>
              <a:t>Regional bank DPM desks · MFOs · Large independent managers</a:t>
            </a:r>
            <a:endParaRPr lang="en-US" sz="900" dirty="0"/>
          </a:p>
        </p:txBody>
      </p:sp>
      <p:sp>
        <p:nvSpPr>
          <p:cNvPr id="29" name="Text 27"/>
          <p:cNvSpPr/>
          <p:nvPr/>
        </p:nvSpPr>
        <p:spPr>
          <a:xfrm>
            <a:off x="4367784" y="3383280"/>
            <a:ext cx="3453384" cy="182880"/>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PRICE</a:t>
            </a:r>
            <a:endParaRPr lang="en-US" sz="750" dirty="0"/>
          </a:p>
        </p:txBody>
      </p:sp>
      <p:sp>
        <p:nvSpPr>
          <p:cNvPr id="30" name="Text 28"/>
          <p:cNvSpPr/>
          <p:nvPr/>
        </p:nvSpPr>
        <p:spPr>
          <a:xfrm>
            <a:off x="4367784" y="3566160"/>
            <a:ext cx="3453384" cy="502920"/>
          </a:xfrm>
          <a:prstGeom prst="rect">
            <a:avLst/>
          </a:prstGeom>
          <a:noFill/>
          <a:ln/>
        </p:spPr>
        <p:txBody>
          <a:bodyPr wrap="square" rtlCol="0" anchor="ctr"/>
          <a:lstStyle/>
          <a:p>
            <a:pPr indent="0" marL="0">
              <a:buNone/>
            </a:pPr>
            <a:r>
              <a:rPr lang="en-US" sz="900" dirty="0">
                <a:solidFill>
                  <a:srgbClr val="CCCCCC"/>
                </a:solidFill>
                <a:latin typeface="Arial" pitchFamily="34" charset="0"/>
                <a:ea typeface="Arial" pitchFamily="34" charset="-122"/>
                <a:cs typeface="Arial" pitchFamily="34" charset="-120"/>
              </a:rPr>
              <a:t>Annual contract value — determined at Stage 3</a:t>
            </a:r>
            <a:endParaRPr lang="en-US" sz="900" dirty="0"/>
          </a:p>
          <a:p>
            <a:pPr indent="0" marL="0">
              <a:buNone/>
            </a:pPr>
            <a:r>
              <a:rPr lang="en-US" sz="900" dirty="0">
                <a:solidFill>
                  <a:srgbClr val="CCCCCC"/>
                </a:solidFill>
                <a:latin typeface="Arial" pitchFamily="34" charset="0"/>
                <a:ea typeface="Arial" pitchFamily="34" charset="-122"/>
                <a:cs typeface="Arial" pitchFamily="34" charset="-120"/>
              </a:rPr>
              <a:t>Indicative: US$200K–US$300K/yr</a:t>
            </a:r>
            <a:endParaRPr lang="en-US" sz="900" dirty="0"/>
          </a:p>
        </p:txBody>
      </p:sp>
      <p:sp>
        <p:nvSpPr>
          <p:cNvPr id="31" name="Text 29"/>
          <p:cNvSpPr/>
          <p:nvPr/>
        </p:nvSpPr>
        <p:spPr>
          <a:xfrm>
            <a:off x="4367784" y="4160520"/>
            <a:ext cx="3453384" cy="182880"/>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STATUS</a:t>
            </a:r>
            <a:endParaRPr lang="en-US" sz="750" dirty="0"/>
          </a:p>
        </p:txBody>
      </p:sp>
      <p:sp>
        <p:nvSpPr>
          <p:cNvPr id="32" name="Text 30"/>
          <p:cNvSpPr/>
          <p:nvPr/>
        </p:nvSpPr>
        <p:spPr>
          <a:xfrm>
            <a:off x="4367784" y="4343400"/>
            <a:ext cx="3453384" cy="502920"/>
          </a:xfrm>
          <a:prstGeom prst="rect">
            <a:avLst/>
          </a:prstGeom>
          <a:noFill/>
          <a:ln/>
        </p:spPr>
        <p:txBody>
          <a:bodyPr wrap="square" rtlCol="0" anchor="ctr"/>
          <a:lstStyle/>
          <a:p>
            <a:pPr indent="0" marL="0">
              <a:buNone/>
            </a:pPr>
            <a:r>
              <a:rPr lang="en-US" sz="900" dirty="0">
                <a:solidFill>
                  <a:srgbClr val="CCCCCC"/>
                </a:solidFill>
                <a:latin typeface="Arial" pitchFamily="34" charset="0"/>
                <a:ea typeface="Arial" pitchFamily="34" charset="-122"/>
                <a:cs typeface="Arial" pitchFamily="34" charset="-120"/>
              </a:rPr>
              <a:t>Stage 1 (NDA + conversation) open now</a:t>
            </a:r>
            <a:endParaRPr lang="en-US" sz="900" dirty="0"/>
          </a:p>
        </p:txBody>
      </p:sp>
      <p:sp>
        <p:nvSpPr>
          <p:cNvPr id="33" name="Shape 31"/>
          <p:cNvSpPr/>
          <p:nvPr/>
        </p:nvSpPr>
        <p:spPr>
          <a:xfrm>
            <a:off x="8004048" y="1143000"/>
            <a:ext cx="3727704" cy="5212080"/>
          </a:xfrm>
          <a:prstGeom prst="rect">
            <a:avLst/>
          </a:prstGeom>
          <a:solidFill>
            <a:srgbClr val="0A0A0A"/>
          </a:solidFill>
          <a:ln/>
        </p:spPr>
        <p:txBody>
          <a:bodyPr/>
          <a:p/>
        </p:txBody>
      </p:sp>
      <p:sp>
        <p:nvSpPr>
          <p:cNvPr id="34" name="Text 32"/>
          <p:cNvSpPr/>
          <p:nvPr/>
        </p:nvSpPr>
        <p:spPr>
          <a:xfrm>
            <a:off x="8141208" y="1234440"/>
            <a:ext cx="3453384" cy="320040"/>
          </a:xfrm>
          <a:prstGeom prst="rect">
            <a:avLst/>
          </a:prstGeom>
          <a:noFill/>
          <a:ln/>
        </p:spPr>
        <p:txBody>
          <a:bodyPr wrap="square" rtlCol="0" anchor="ctr"/>
          <a:lstStyle/>
          <a:p>
            <a:pPr indent="0" marL="0">
              <a:buNone/>
            </a:pPr>
            <a:r>
              <a:rPr lang="en-US" sz="1200" b="1" dirty="0">
                <a:solidFill>
                  <a:srgbClr val="85D155"/>
                </a:solidFill>
                <a:latin typeface="Arial" pitchFamily="34" charset="0"/>
                <a:ea typeface="Arial" pitchFamily="34" charset="-122"/>
                <a:cs typeface="Arial" pitchFamily="34" charset="-120"/>
              </a:rPr>
              <a:t>Vektor : Wrapped</a:t>
            </a:r>
            <a:endParaRPr lang="en-US" sz="1200" dirty="0"/>
          </a:p>
        </p:txBody>
      </p:sp>
      <p:sp>
        <p:nvSpPr>
          <p:cNvPr id="35" name="Text 33"/>
          <p:cNvSpPr/>
          <p:nvPr/>
        </p:nvSpPr>
        <p:spPr>
          <a:xfrm>
            <a:off x="8141208" y="1554480"/>
            <a:ext cx="3453384" cy="201168"/>
          </a:xfrm>
          <a:prstGeom prst="rect">
            <a:avLst/>
          </a:prstGeom>
          <a:noFill/>
          <a:ln/>
        </p:spPr>
        <p:txBody>
          <a:bodyPr wrap="square" rtlCol="0" anchor="ctr"/>
          <a:lstStyle/>
          <a:p>
            <a:pPr indent="0" marL="0">
              <a:buNone/>
            </a:pPr>
            <a:r>
              <a:rPr lang="en-US" sz="850" i="1" dirty="0">
                <a:solidFill>
                  <a:srgbClr val="AAAAAA"/>
                </a:solidFill>
                <a:latin typeface="Arial" pitchFamily="34" charset="0"/>
                <a:ea typeface="Arial" pitchFamily="34" charset="-122"/>
                <a:cs typeface="Arial" pitchFamily="34" charset="-120"/>
              </a:rPr>
              <a:t>Intermediated · custodian banks</a:t>
            </a:r>
            <a:endParaRPr lang="en-US" sz="850" dirty="0"/>
          </a:p>
        </p:txBody>
      </p:sp>
      <p:sp>
        <p:nvSpPr>
          <p:cNvPr id="36" name="Shape 34"/>
          <p:cNvSpPr/>
          <p:nvPr/>
        </p:nvSpPr>
        <p:spPr>
          <a:xfrm>
            <a:off x="8141208" y="1783080"/>
            <a:ext cx="3453384" cy="0"/>
          </a:xfrm>
          <a:prstGeom prst="line">
            <a:avLst/>
          </a:prstGeom>
          <a:noFill/>
          <a:ln w="6350">
            <a:solidFill>
              <a:srgbClr val="333333"/>
            </a:solidFill>
            <a:prstDash val="solid"/>
          </a:ln>
        </p:spPr>
        <p:txBody>
          <a:bodyPr/>
          <a:p/>
        </p:txBody>
      </p:sp>
      <p:sp>
        <p:nvSpPr>
          <p:cNvPr id="37" name="Text 35"/>
          <p:cNvSpPr/>
          <p:nvPr/>
        </p:nvSpPr>
        <p:spPr>
          <a:xfrm>
            <a:off x="8141208" y="1874520"/>
            <a:ext cx="3453384" cy="822960"/>
          </a:xfrm>
          <a:prstGeom prst="rect">
            <a:avLst/>
          </a:prstGeom>
          <a:noFill/>
          <a:ln/>
        </p:spPr>
        <p:txBody>
          <a:bodyPr wrap="square" rtlCol="0" anchor="ctr"/>
          <a:lstStyle/>
          <a:p>
            <a:pPr indent="0" marL="0">
              <a:buNone/>
            </a:pPr>
            <a:r>
              <a:rPr lang="en-US" sz="900" dirty="0">
                <a:solidFill>
                  <a:srgbClr val="CCCCCC"/>
                </a:solidFill>
                <a:latin typeface="Arial" pitchFamily="34" charset="0"/>
                <a:ea typeface="Arial" pitchFamily="34" charset="-122"/>
                <a:cs typeface="Arial" pitchFamily="34" charset="-120"/>
              </a:rPr>
              <a:t>Vektor licensed to custodian banks for their EAM client base. InvestPuppy holds no EAM client PII — structural separation by design. Powered by Vektor attribution.</a:t>
            </a:r>
            <a:endParaRPr lang="en-US" sz="900" dirty="0"/>
          </a:p>
        </p:txBody>
      </p:sp>
      <p:sp>
        <p:nvSpPr>
          <p:cNvPr id="38" name="Text 36"/>
          <p:cNvSpPr/>
          <p:nvPr/>
        </p:nvSpPr>
        <p:spPr>
          <a:xfrm>
            <a:off x="8141208" y="2788920"/>
            <a:ext cx="3453384" cy="182880"/>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WHO</a:t>
            </a:r>
            <a:endParaRPr lang="en-US" sz="750" dirty="0"/>
          </a:p>
        </p:txBody>
      </p:sp>
      <p:sp>
        <p:nvSpPr>
          <p:cNvPr id="39" name="Text 37"/>
          <p:cNvSpPr/>
          <p:nvPr/>
        </p:nvSpPr>
        <p:spPr>
          <a:xfrm>
            <a:off x="8141208" y="2971800"/>
            <a:ext cx="3453384" cy="502920"/>
          </a:xfrm>
          <a:prstGeom prst="rect">
            <a:avLst/>
          </a:prstGeom>
          <a:noFill/>
          <a:ln/>
        </p:spPr>
        <p:txBody>
          <a:bodyPr wrap="square" rtlCol="0" anchor="ctr"/>
          <a:lstStyle/>
          <a:p>
            <a:pPr indent="0" marL="0">
              <a:buNone/>
            </a:pPr>
            <a:r>
              <a:rPr lang="en-US" sz="900" dirty="0">
                <a:solidFill>
                  <a:srgbClr val="CCCCCC"/>
                </a:solidFill>
                <a:latin typeface="Arial" pitchFamily="34" charset="0"/>
                <a:ea typeface="Arial" pitchFamily="34" charset="-122"/>
                <a:cs typeface="Arial" pitchFamily="34" charset="-120"/>
              </a:rPr>
              <a:t>Custodian banks · Wealth platforms · Their EAM clients (end users)</a:t>
            </a:r>
            <a:endParaRPr lang="en-US" sz="900" dirty="0"/>
          </a:p>
        </p:txBody>
      </p:sp>
      <p:sp>
        <p:nvSpPr>
          <p:cNvPr id="40" name="Text 38"/>
          <p:cNvSpPr/>
          <p:nvPr/>
        </p:nvSpPr>
        <p:spPr>
          <a:xfrm>
            <a:off x="8141208" y="3383280"/>
            <a:ext cx="3453384" cy="182880"/>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PRICE</a:t>
            </a:r>
            <a:endParaRPr lang="en-US" sz="750" dirty="0"/>
          </a:p>
        </p:txBody>
      </p:sp>
      <p:sp>
        <p:nvSpPr>
          <p:cNvPr id="41" name="Text 39"/>
          <p:cNvSpPr/>
          <p:nvPr/>
        </p:nvSpPr>
        <p:spPr>
          <a:xfrm>
            <a:off x="8141208" y="3566160"/>
            <a:ext cx="3453384" cy="502920"/>
          </a:xfrm>
          <a:prstGeom prst="rect">
            <a:avLst/>
          </a:prstGeom>
          <a:noFill/>
          <a:ln/>
        </p:spPr>
        <p:txBody>
          <a:bodyPr wrap="square" rtlCol="0" anchor="ctr"/>
          <a:lstStyle/>
          <a:p>
            <a:pPr indent="0" marL="0">
              <a:buNone/>
            </a:pPr>
            <a:r>
              <a:rPr lang="en-US" sz="900" dirty="0">
                <a:solidFill>
                  <a:srgbClr val="CCCCCC"/>
                </a:solidFill>
                <a:latin typeface="Arial" pitchFamily="34" charset="0"/>
                <a:ea typeface="Arial" pitchFamily="34" charset="-122"/>
                <a:cs typeface="Arial" pitchFamily="34" charset="-120"/>
              </a:rPr>
              <a:t>Platform licence fee + per-mandate fee</a:t>
            </a:r>
            <a:endParaRPr lang="en-US" sz="900" dirty="0"/>
          </a:p>
          <a:p>
            <a:pPr indent="0" marL="0">
              <a:buNone/>
            </a:pPr>
            <a:r>
              <a:rPr lang="en-US" sz="900" dirty="0">
                <a:solidFill>
                  <a:srgbClr val="CCCCCC"/>
                </a:solidFill>
                <a:latin typeface="Arial" pitchFamily="34" charset="0"/>
                <a:ea typeface="Arial" pitchFamily="34" charset="-122"/>
                <a:cs typeface="Arial" pitchFamily="34" charset="-120"/>
              </a:rPr>
              <a:t>Indicative: US$150K/yr + US$2K/mandate</a:t>
            </a:r>
            <a:endParaRPr lang="en-US" sz="900" dirty="0"/>
          </a:p>
        </p:txBody>
      </p:sp>
      <p:sp>
        <p:nvSpPr>
          <p:cNvPr id="42" name="Text 40"/>
          <p:cNvSpPr/>
          <p:nvPr/>
        </p:nvSpPr>
        <p:spPr>
          <a:xfrm>
            <a:off x="8141208" y="4160520"/>
            <a:ext cx="3453384" cy="182880"/>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STATUS</a:t>
            </a:r>
            <a:endParaRPr lang="en-US" sz="750" dirty="0"/>
          </a:p>
        </p:txBody>
      </p:sp>
      <p:sp>
        <p:nvSpPr>
          <p:cNvPr id="43" name="Text 41"/>
          <p:cNvSpPr/>
          <p:nvPr/>
        </p:nvSpPr>
        <p:spPr>
          <a:xfrm>
            <a:off x="8141208" y="4343400"/>
            <a:ext cx="3453384" cy="502920"/>
          </a:xfrm>
          <a:prstGeom prst="rect">
            <a:avLst/>
          </a:prstGeom>
          <a:noFill/>
          <a:ln/>
        </p:spPr>
        <p:txBody>
          <a:bodyPr wrap="square" rtlCol="0" anchor="ctr"/>
          <a:lstStyle/>
          <a:p>
            <a:pPr indent="0" marL="0">
              <a:buNone/>
            </a:pPr>
            <a:r>
              <a:rPr lang="en-US" sz="900" dirty="0">
                <a:solidFill>
                  <a:srgbClr val="CCCCCC"/>
                </a:solidFill>
                <a:latin typeface="Arial" pitchFamily="34" charset="0"/>
                <a:ea typeface="Arial" pitchFamily="34" charset="-122"/>
                <a:cs typeface="Arial" pitchFamily="34" charset="-120"/>
              </a:rPr>
              <a:t>Pipeline building — CEO credential established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548640"/>
          </a:xfrm>
          <a:prstGeom prst="rect">
            <a:avLst/>
          </a:prstGeom>
          <a:solidFill>
            <a:srgbClr val="0A0A0A"/>
          </a:solidFill>
          <a:ln/>
        </p:spPr>
        <p:txBody>
          <a:bodyPr/>
          <a:p/>
        </p:txBody>
      </p:sp>
      <p:sp>
        <p:nvSpPr>
          <p:cNvPr id="3" name="Text 1"/>
          <p:cNvSpPr/>
          <p:nvPr/>
        </p:nvSpPr>
        <p:spPr>
          <a:xfrm>
            <a:off x="457200" y="45720"/>
            <a:ext cx="182880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Invest</a:t>
            </a:r>
            <a:pPr indent="0" marL="0">
              <a:buNone/>
            </a:pPr>
            <a:r>
              <a:rPr lang="en-US" sz="1400" b="1" dirty="0">
                <a:solidFill>
                  <a:srgbClr val="85D155"/>
                </a:solidFill>
                <a:latin typeface="Arial" pitchFamily="34" charset="0"/>
                <a:ea typeface="Arial" pitchFamily="34" charset="-122"/>
                <a:cs typeface="Arial" pitchFamily="34" charset="-120"/>
              </a:rPr>
              <a:t>Puppy</a:t>
            </a:r>
            <a:endParaRPr lang="en-US" sz="1400" dirty="0"/>
          </a:p>
        </p:txBody>
      </p:sp>
      <p:sp>
        <p:nvSpPr>
          <p:cNvPr id="4" name="Text 2"/>
          <p:cNvSpPr/>
          <p:nvPr/>
        </p:nvSpPr>
        <p:spPr>
          <a:xfrm>
            <a:off x="8531352" y="45720"/>
            <a:ext cx="3200400" cy="274320"/>
          </a:xfrm>
          <a:prstGeom prst="rect">
            <a:avLst/>
          </a:prstGeom>
          <a:noFill/>
          <a:ln/>
        </p:spPr>
        <p:txBody>
          <a:bodyPr wrap="square" rtlCol="0" anchor="ctr"/>
          <a:lstStyle/>
          <a:p>
            <a:pPr algn="r" indent="0" marL="0">
              <a:buNone/>
            </a:pPr>
            <a:r>
              <a:rPr lang="en-US" sz="900" dirty="0">
                <a:solidFill>
                  <a:srgbClr val="FFFFFF"/>
                </a:solidFill>
                <a:latin typeface="Arial" pitchFamily="34" charset="0"/>
                <a:ea typeface="Arial" pitchFamily="34" charset="-122"/>
                <a:cs typeface="Arial" pitchFamily="34" charset="-120"/>
              </a:rPr>
              <a:t>Revenue Model</a:t>
            </a:r>
            <a:endParaRPr lang="en-US" sz="900" dirty="0"/>
          </a:p>
        </p:txBody>
      </p:sp>
      <p:sp>
        <p:nvSpPr>
          <p:cNvPr id="5" name="Text 3"/>
          <p:cNvSpPr/>
          <p:nvPr/>
        </p:nvSpPr>
        <p:spPr>
          <a:xfrm>
            <a:off x="8531352" y="301752"/>
            <a:ext cx="3200400" cy="201168"/>
          </a:xfrm>
          <a:prstGeom prst="rect">
            <a:avLst/>
          </a:prstGeom>
          <a:noFill/>
          <a:ln/>
        </p:spPr>
        <p:txBody>
          <a:bodyPr wrap="square" rtlCol="0" anchor="ctr"/>
          <a:lstStyle/>
          <a:p>
            <a:pPr algn="r" indent="0" marL="0">
              <a:buNone/>
            </a:pPr>
            <a:r>
              <a:rPr lang="en-US" sz="800" dirty="0">
                <a:solidFill>
                  <a:srgbClr val="888888"/>
                </a:solidFill>
                <a:latin typeface="Arial" pitchFamily="34" charset="0"/>
                <a:ea typeface="Arial" pitchFamily="34" charset="-122"/>
                <a:cs typeface="Arial" pitchFamily="34" charset="-120"/>
              </a:rPr>
              <a:t>Confidential · May 2026</a:t>
            </a:r>
            <a:endParaRPr lang="en-US" sz="800" dirty="0"/>
          </a:p>
        </p:txBody>
      </p:sp>
      <p:sp>
        <p:nvSpPr>
          <p:cNvPr id="6" name="Shape 4"/>
          <p:cNvSpPr/>
          <p:nvPr/>
        </p:nvSpPr>
        <p:spPr>
          <a:xfrm>
            <a:off x="0" y="548640"/>
            <a:ext cx="12188952" cy="0"/>
          </a:xfrm>
          <a:prstGeom prst="line">
            <a:avLst/>
          </a:prstGeom>
          <a:noFill/>
          <a:ln w="25400">
            <a:solidFill>
              <a:srgbClr val="85D155"/>
            </a:solidFill>
            <a:prstDash val="solid"/>
          </a:ln>
        </p:spPr>
        <p:txBody>
          <a:bodyPr/>
          <a:p/>
        </p:txBody>
      </p:sp>
      <p:sp>
        <p:nvSpPr>
          <p:cNvPr id="7" name="Shape 5"/>
          <p:cNvSpPr/>
          <p:nvPr/>
        </p:nvSpPr>
        <p:spPr>
          <a:xfrm>
            <a:off x="457200" y="6510528"/>
            <a:ext cx="11274552" cy="0"/>
          </a:xfrm>
          <a:prstGeom prst="line">
            <a:avLst/>
          </a:prstGeom>
          <a:noFill/>
          <a:ln w="6350">
            <a:solidFill>
              <a:srgbClr val="D0D0D0"/>
            </a:solidFill>
            <a:prstDash val="solid"/>
          </a:ln>
        </p:spPr>
        <p:txBody>
          <a:bodyPr/>
          <a:p/>
        </p:txBody>
      </p:sp>
      <p:sp>
        <p:nvSpPr>
          <p:cNvPr id="8" name="Text 6"/>
          <p:cNvSpPr/>
          <p:nvPr/>
        </p:nvSpPr>
        <p:spPr>
          <a:xfrm>
            <a:off x="457200" y="6547104"/>
            <a:ext cx="10360152" cy="219456"/>
          </a:xfrm>
          <a:prstGeom prst="rect">
            <a:avLst/>
          </a:prstGeom>
          <a:noFill/>
          <a:ln/>
        </p:spPr>
        <p:txBody>
          <a:bodyPr wrap="square" rtlCol="0" anchor="ctr"/>
          <a:lstStyle/>
          <a:p>
            <a:pPr indent="0" marL="0">
              <a:buNone/>
            </a:pPr>
            <a:r>
              <a:rPr lang="en-US" sz="750" dirty="0">
                <a:solidFill>
                  <a:srgbClr val="888888"/>
                </a:solidFill>
                <a:latin typeface="Arial" pitchFamily="34" charset="0"/>
                <a:ea typeface="Arial" pitchFamily="34" charset="-122"/>
                <a:cs typeface="Arial" pitchFamily="34" charset="-120"/>
              </a:rPr>
              <a:t>InvestPuppy Pte Ltd · investpuppy.com · Confidential</a:t>
            </a:r>
            <a:endParaRPr lang="en-US" sz="750" dirty="0"/>
          </a:p>
        </p:txBody>
      </p:sp>
      <p:sp>
        <p:nvSpPr>
          <p:cNvPr id="9" name="Text 7"/>
          <p:cNvSpPr/>
          <p:nvPr/>
        </p:nvSpPr>
        <p:spPr>
          <a:xfrm>
            <a:off x="11457432" y="6547104"/>
            <a:ext cx="502920" cy="219456"/>
          </a:xfrm>
          <a:prstGeom prst="rect">
            <a:avLst/>
          </a:prstGeom>
          <a:noFill/>
          <a:ln/>
        </p:spPr>
        <p:txBody>
          <a:bodyPr wrap="square" rtlCol="0" anchor="ctr"/>
          <a:lstStyle/>
          <a:p>
            <a:pPr algn="r" indent="0" marL="0">
              <a:buNone/>
            </a:pPr>
            <a:r>
              <a:rPr lang="en-US" sz="750" dirty="0">
                <a:solidFill>
                  <a:srgbClr val="888888"/>
                </a:solidFill>
                <a:latin typeface="Arial" pitchFamily="34" charset="0"/>
                <a:ea typeface="Arial" pitchFamily="34" charset="-122"/>
                <a:cs typeface="Arial" pitchFamily="34" charset="-120"/>
              </a:rPr>
              <a:t>6</a:t>
            </a:r>
            <a:endParaRPr lang="en-US" sz="750" dirty="0"/>
          </a:p>
        </p:txBody>
      </p:sp>
      <p:sp>
        <p:nvSpPr>
          <p:cNvPr id="10" name="Text 8"/>
          <p:cNvSpPr/>
          <p:nvPr/>
        </p:nvSpPr>
        <p:spPr>
          <a:xfrm>
            <a:off x="457200" y="685800"/>
            <a:ext cx="5943600" cy="201168"/>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VEKTOR : BOUTIQUE — PUBLISHED PRICING (USD)</a:t>
            </a:r>
            <a:endParaRPr lang="en-US" sz="750" dirty="0"/>
          </a:p>
        </p:txBody>
      </p:sp>
      <p:sp>
        <p:nvSpPr>
          <p:cNvPr id="11" name="Shape 9"/>
          <p:cNvSpPr/>
          <p:nvPr/>
        </p:nvSpPr>
        <p:spPr>
          <a:xfrm>
            <a:off x="457200" y="886968"/>
            <a:ext cx="5943600" cy="0"/>
          </a:xfrm>
          <a:prstGeom prst="line">
            <a:avLst/>
          </a:prstGeom>
          <a:noFill/>
          <a:ln w="9525">
            <a:solidFill>
              <a:srgbClr val="85D155"/>
            </a:solidFill>
            <a:prstDash val="solid"/>
          </a:ln>
        </p:spPr>
        <p:txBody>
          <a:bodyP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11247120" cy="914400"/>
        </p:xfrm>
        <a:graphic>
          <a:graphicData uri="http://schemas.openxmlformats.org/drawingml/2006/table">
            <a:tbl>
              <a:tblPr/>
              <a:tblGrid>
                <a:gridCol w="2811780"/>
                <a:gridCol w="2811780"/>
                <a:gridCol w="2811780"/>
                <a:gridCol w="2811780"/>
              </a:tblGrid>
              <a:tr h="32918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Tier</a:t>
                      </a:r>
                      <a:endParaRPr lang="en-US" sz="8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A0A0A"/>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AUM</a:t>
                      </a:r>
                      <a:endParaRPr lang="en-US" sz="8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A0A0A"/>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USD/year</a:t>
                      </a:r>
                      <a:endParaRPr lang="en-US" sz="8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A0A0A"/>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Note</a:t>
                      </a:r>
                      <a:endParaRPr lang="en-US" sz="8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A0A0A"/>
                    </a:solidFill>
                  </a:tcPr>
                </a:tc>
              </a:tr>
              <a:tr h="329184">
                <a:tc>
                  <a:txBody>
                    <a:bodyPr/>
                    <a:lstStyle/>
                    <a:p>
                      <a:pPr algn="l" indent="0" marL="0">
                        <a:buNone/>
                      </a:pPr>
                      <a:r>
                        <a:rPr lang="en-US" sz="950" dirty="0">
                          <a:solidFill>
                            <a:srgbClr val="85D155"/>
                          </a:solidFill>
                          <a:latin typeface="Arial" pitchFamily="34" charset="0"/>
                          <a:ea typeface="Arial" pitchFamily="34" charset="-122"/>
                          <a:cs typeface="Arial" pitchFamily="34" charset="-120"/>
                        </a:rPr>
                        <a:t>Proof Partners</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950" dirty="0">
                          <a:solidFill>
                            <a:srgbClr val="85D155"/>
                          </a:solidFill>
                          <a:latin typeface="Arial" pitchFamily="34" charset="0"/>
                          <a:ea typeface="Arial" pitchFamily="34" charset="-122"/>
                          <a:cs typeface="Arial" pitchFamily="34" charset="-120"/>
                        </a:rPr>
                        <a:t>Any</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85D155"/>
                          </a:solidFill>
                          <a:latin typeface="Arial" pitchFamily="34" charset="0"/>
                          <a:ea typeface="Arial" pitchFamily="34" charset="-122"/>
                          <a:cs typeface="Arial" pitchFamily="34" charset="-120"/>
                        </a:rPr>
                        <a:t>US$13,500</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85D155"/>
                          </a:solidFill>
                          <a:latin typeface="Arial" pitchFamily="34" charset="0"/>
                          <a:ea typeface="Arial" pitchFamily="34" charset="-122"/>
                          <a:cs typeface="Arial" pitchFamily="34" charset="-120"/>
                        </a:rPr>
                        <a:t>Year 1 rate · preferential terms locked for the duration</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0A0A0A"/>
                          </a:solidFill>
                          <a:latin typeface="Arial" pitchFamily="34" charset="0"/>
                          <a:ea typeface="Arial" pitchFamily="34" charset="-122"/>
                          <a:cs typeface="Arial" pitchFamily="34" charset="-120"/>
                        </a:rPr>
                        <a:t>Entry</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l" indent="0" marL="0">
                        <a:buNone/>
                      </a:pPr>
                      <a:r>
                        <a:rPr lang="en-US" sz="950" dirty="0">
                          <a:solidFill>
                            <a:srgbClr val="0A0A0A"/>
                          </a:solidFill>
                          <a:latin typeface="Arial" pitchFamily="34" charset="0"/>
                          <a:ea typeface="Arial" pitchFamily="34" charset="-122"/>
                          <a:cs typeface="Arial" pitchFamily="34" charset="-120"/>
                        </a:rPr>
                        <a:t>≤US$55M</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950" dirty="0">
                          <a:solidFill>
                            <a:srgbClr val="0A0A0A"/>
                          </a:solidFill>
                          <a:latin typeface="Arial" pitchFamily="34" charset="0"/>
                          <a:ea typeface="Arial" pitchFamily="34" charset="-122"/>
                          <a:cs typeface="Arial" pitchFamily="34" charset="-120"/>
                        </a:rPr>
                        <a:t>US$18,000</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r>
              <a:tr h="329184">
                <a:tc>
                  <a:txBody>
                    <a:bodyPr/>
                    <a:lstStyle/>
                    <a:p>
                      <a:pPr algn="l" indent="0" marL="0">
                        <a:buNone/>
                      </a:pPr>
                      <a:r>
                        <a:rPr lang="en-US" sz="950" dirty="0">
                          <a:solidFill>
                            <a:srgbClr val="0A0A0A"/>
                          </a:solidFill>
                          <a:latin typeface="Arial" pitchFamily="34" charset="0"/>
                          <a:ea typeface="Arial" pitchFamily="34" charset="-122"/>
                          <a:cs typeface="Arial" pitchFamily="34" charset="-120"/>
                        </a:rPr>
                        <a:t>Growth</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950" dirty="0">
                          <a:solidFill>
                            <a:srgbClr val="0A0A0A"/>
                          </a:solidFill>
                          <a:latin typeface="Arial" pitchFamily="34" charset="0"/>
                          <a:ea typeface="Arial" pitchFamily="34" charset="-122"/>
                          <a:cs typeface="Arial" pitchFamily="34" charset="-120"/>
                        </a:rPr>
                        <a:t>≤US$185M</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A0A0A"/>
                          </a:solidFill>
                          <a:latin typeface="Arial" pitchFamily="34" charset="0"/>
                          <a:ea typeface="Arial" pitchFamily="34" charset="-122"/>
                          <a:cs typeface="Arial" pitchFamily="34" charset="-120"/>
                        </a:rPr>
                        <a:t>US$36,000</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0A0A0A"/>
                          </a:solidFill>
                          <a:latin typeface="Arial" pitchFamily="34" charset="0"/>
                          <a:ea typeface="Arial" pitchFamily="34" charset="-122"/>
                          <a:cs typeface="Arial" pitchFamily="34" charset="-120"/>
                        </a:rPr>
                        <a:t>Institutional</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l" indent="0" marL="0">
                        <a:buNone/>
                      </a:pPr>
                      <a:r>
                        <a:rPr lang="en-US" sz="950" dirty="0">
                          <a:solidFill>
                            <a:srgbClr val="0A0A0A"/>
                          </a:solidFill>
                          <a:latin typeface="Arial" pitchFamily="34" charset="0"/>
                          <a:ea typeface="Arial" pitchFamily="34" charset="-122"/>
                          <a:cs typeface="Arial" pitchFamily="34" charset="-120"/>
                        </a:rPr>
                        <a:t>≤US$550M</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950" dirty="0">
                          <a:solidFill>
                            <a:srgbClr val="0A0A0A"/>
                          </a:solidFill>
                          <a:latin typeface="Arial" pitchFamily="34" charset="0"/>
                          <a:ea typeface="Arial" pitchFamily="34" charset="-122"/>
                          <a:cs typeface="Arial" pitchFamily="34" charset="-120"/>
                        </a:rPr>
                        <a:t>US$105,000</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r>
              <a:tr h="329184">
                <a:tc>
                  <a:txBody>
                    <a:bodyPr/>
                    <a:lstStyle/>
                    <a:p>
                      <a:pPr algn="l" indent="0" marL="0">
                        <a:buNone/>
                      </a:pPr>
                      <a:r>
                        <a:rPr lang="en-US" sz="950" dirty="0">
                          <a:solidFill>
                            <a:srgbClr val="0A0A0A"/>
                          </a:solidFill>
                          <a:latin typeface="Arial" pitchFamily="34" charset="0"/>
                          <a:ea typeface="Arial" pitchFamily="34" charset="-122"/>
                          <a:cs typeface="Arial" pitchFamily="34" charset="-120"/>
                        </a:rPr>
                        <a:t>Enterprise</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950" dirty="0">
                          <a:solidFill>
                            <a:srgbClr val="0A0A0A"/>
                          </a:solidFill>
                          <a:latin typeface="Arial" pitchFamily="34" charset="0"/>
                          <a:ea typeface="Arial" pitchFamily="34" charset="-122"/>
                          <a:cs typeface="Arial" pitchFamily="34" charset="-120"/>
                        </a:rPr>
                        <a:t>US$550M+</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A0A0A"/>
                          </a:solidFill>
                          <a:latin typeface="Arial" pitchFamily="34" charset="0"/>
                          <a:ea typeface="Arial" pitchFamily="34" charset="-122"/>
                          <a:cs typeface="Arial" pitchFamily="34" charset="-120"/>
                        </a:rPr>
                        <a:t>US$175,000+</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A0A0A"/>
                          </a:solidFill>
                          <a:latin typeface="Arial" pitchFamily="34" charset="0"/>
                          <a:ea typeface="Arial" pitchFamily="34" charset="-122"/>
                          <a:cs typeface="Arial" pitchFamily="34" charset="-120"/>
                        </a:rPr>
                        <a:t>On request</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888888"/>
                          </a:solidFill>
                          <a:latin typeface="Arial" pitchFamily="34" charset="0"/>
                          <a:ea typeface="Arial" pitchFamily="34" charset="-122"/>
                          <a:cs typeface="Arial" pitchFamily="34" charset="-120"/>
                        </a:rPr>
                        <a:t>Bloomberg seat ✕</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l" indent="0" marL="0">
                        <a:buNone/>
                      </a:pPr>
                      <a:r>
                        <a:rPr lang="en-US" sz="950" dirty="0">
                          <a:solidFill>
                            <a:srgbClr val="888888"/>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950" dirty="0">
                          <a:solidFill>
                            <a:srgbClr val="888888"/>
                          </a:solidFill>
                          <a:latin typeface="Arial" pitchFamily="34" charset="0"/>
                          <a:ea typeface="Arial" pitchFamily="34" charset="-122"/>
                          <a:cs typeface="Arial" pitchFamily="34" charset="-120"/>
                        </a:rPr>
                        <a:t>~US$32,000</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950" dirty="0">
                          <a:solidFill>
                            <a:srgbClr val="888888"/>
                          </a:solidFill>
                          <a:latin typeface="Arial" pitchFamily="34" charset="0"/>
                          <a:ea typeface="Arial" pitchFamily="34" charset="-122"/>
                          <a:cs typeface="Arial" pitchFamily="34" charset="-120"/>
                        </a:rPr>
                        <a:t>Reference — market data only</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r>
            </a:tbl>
          </a:graphicData>
        </a:graphic>
      </p:graphicFrame>
      <p:sp>
        <p:nvSpPr>
          <p:cNvPr id="13" name="Text 10"/>
          <p:cNvSpPr/>
          <p:nvPr/>
        </p:nvSpPr>
        <p:spPr>
          <a:xfrm>
            <a:off x="457200" y="3749040"/>
            <a:ext cx="4572000" cy="201168"/>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VEKTOR : HOUSE + WRAPPED — INDICATIVE</a:t>
            </a:r>
            <a:endParaRPr lang="en-US" sz="750" dirty="0"/>
          </a:p>
        </p:txBody>
      </p:sp>
      <p:sp>
        <p:nvSpPr>
          <p:cNvPr id="14" name="Shape 11"/>
          <p:cNvSpPr/>
          <p:nvPr/>
        </p:nvSpPr>
        <p:spPr>
          <a:xfrm>
            <a:off x="457200" y="3950208"/>
            <a:ext cx="4572000" cy="0"/>
          </a:xfrm>
          <a:prstGeom prst="line">
            <a:avLst/>
          </a:prstGeom>
          <a:noFill/>
          <a:ln w="9525">
            <a:solidFill>
              <a:srgbClr val="85D155"/>
            </a:solidFill>
            <a:prstDash val="solid"/>
          </a:ln>
        </p:spPr>
        <p:txBody>
          <a:bodyPr/>
          <a:p/>
        </p:txBody>
      </p:sp>
      <p:sp>
        <p:nvSpPr>
          <p:cNvPr id="15" name="Text 12"/>
          <p:cNvSpPr/>
          <p:nvPr/>
        </p:nvSpPr>
        <p:spPr>
          <a:xfrm>
            <a:off x="457200" y="4069080"/>
            <a:ext cx="11247120" cy="274320"/>
          </a:xfrm>
          <a:prstGeom prst="rect">
            <a:avLst/>
          </a:prstGeom>
          <a:noFill/>
          <a:ln/>
        </p:spPr>
        <p:txBody>
          <a:bodyPr wrap="square" rtlCol="0" anchor="ctr"/>
          <a:lstStyle/>
          <a:p>
            <a:pPr indent="0" marL="0">
              <a:buNone/>
            </a:pPr>
            <a:r>
              <a:rPr lang="en-US" sz="1000" dirty="0">
                <a:solidFill>
                  <a:srgbClr val="1A1A1A"/>
                </a:solidFill>
                <a:latin typeface="Arial" pitchFamily="34" charset="0"/>
                <a:ea typeface="Arial" pitchFamily="34" charset="-122"/>
                <a:cs typeface="Arial" pitchFamily="34" charset="-120"/>
              </a:rPr>
              <a:t>·  House: Annual contract value determined at Stage 3. Indicative: US$200K–US$300K/yr.</a:t>
            </a:r>
            <a:endParaRPr lang="en-US" sz="1000" dirty="0"/>
          </a:p>
        </p:txBody>
      </p:sp>
      <p:sp>
        <p:nvSpPr>
          <p:cNvPr id="16" name="Text 13"/>
          <p:cNvSpPr/>
          <p:nvPr/>
        </p:nvSpPr>
        <p:spPr>
          <a:xfrm>
            <a:off x="457200" y="4361688"/>
            <a:ext cx="11247120" cy="274320"/>
          </a:xfrm>
          <a:prstGeom prst="rect">
            <a:avLst/>
          </a:prstGeom>
          <a:noFill/>
          <a:ln/>
        </p:spPr>
        <p:txBody>
          <a:bodyPr wrap="square" rtlCol="0" anchor="ctr"/>
          <a:lstStyle/>
          <a:p>
            <a:pPr indent="0" marL="0">
              <a:buNone/>
            </a:pPr>
            <a:r>
              <a:rPr lang="en-US" sz="1000" dirty="0">
                <a:solidFill>
                  <a:srgbClr val="1A1A1A"/>
                </a:solidFill>
                <a:latin typeface="Arial" pitchFamily="34" charset="0"/>
                <a:ea typeface="Arial" pitchFamily="34" charset="-122"/>
                <a:cs typeface="Arial" pitchFamily="34" charset="-120"/>
              </a:rPr>
              <a:t>·  Wrapped: Platform licence fee (indicative US$150K/yr) + per-mandate fee (US$2K/mandate/yr × ~40 mandates/partner).</a:t>
            </a:r>
            <a:endParaRPr lang="en-US" sz="1000" dirty="0"/>
          </a:p>
        </p:txBody>
      </p:sp>
      <p:sp>
        <p:nvSpPr>
          <p:cNvPr id="17" name="Shape 14"/>
          <p:cNvSpPr/>
          <p:nvPr/>
        </p:nvSpPr>
        <p:spPr>
          <a:xfrm>
            <a:off x="457200" y="4846320"/>
            <a:ext cx="11274552" cy="640080"/>
          </a:xfrm>
          <a:prstGeom prst="rect">
            <a:avLst/>
          </a:prstGeom>
          <a:solidFill>
            <a:srgbClr val="F0F7EA"/>
          </a:solidFill>
          <a:ln/>
        </p:spPr>
        <p:txBody>
          <a:bodyPr/>
          <a:p/>
        </p:txBody>
      </p:sp>
      <p:sp>
        <p:nvSpPr>
          <p:cNvPr id="18" name="Text 15"/>
          <p:cNvSpPr/>
          <p:nvPr/>
        </p:nvSpPr>
        <p:spPr>
          <a:xfrm>
            <a:off x="594360" y="4919472"/>
            <a:ext cx="11000232" cy="493776"/>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Pricing philosophy: Vektor pricing is published openly and held consistently. It is not inflated to create negotiating room. The published rate applies to all clients consistently. This is what honest by design means in practice.</a:t>
            </a:r>
            <a:endParaRPr lang="en-US" sz="95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8" name="Text 15"/>
          <p:cNvSpPr/>
          <p:nvPr/>
        </p:nvSpPr>
        <p:spPr>
          <a:xfrm>
            <a:off x="457200" y="6236208"/>
            <a:ext cx="11274552" cy="219456"/>
          </a:xfrm>
          <a:prstGeom prst="rect">
            <a:avLst/>
          </a:prstGeom>
          <a:noFill/>
          <a:ln/>
        </p:spPr>
        <p:txBody>
          <a:bodyPr wrap="square" rtlCol="0" anchor="ctr"/>
          <a:lstStyle/>
          <a:p>
            <a:pPr indent="0" marL="0">
              <a:buNone/>
            </a:pPr>
            <a:r>
              <a:rPr b="0" sz="800">
                <a:solidFill>
                  <a:srgbClr val="C8A96E"/>
                </a:solidFill>
              </a:rPr>
              <a:t>Do not share this slide outside the NDA relationship. Tenzor is not publicly disclosed.</a:t>
            </a:r>
            <a:endParaRPr lang="en-US" sz="950" dirty="0"/>
          </a:p>
        </p:txBody>
      </p:sp>
      <p:sp>
        <p:nvSpPr>
          <p:cNvPr id="13" name="Text 10"/>
          <p:cNvSpPr/>
          <p:nvPr/>
        </p:nvSpPr>
        <p:spPr>
          <a:xfrm>
            <a:off x="6309360" y="731520"/>
            <a:ext cx="5394960" cy="5303520"/>
          </a:xfrm>
          <a:prstGeom prst="rect">
            <a:avLst/>
          </a:prstGeom>
          <a:noFill/>
          <a:ln/>
        </p:spPr>
        <p:txBody>
          <a:bodyPr wrap="square" rtlCol="0" anchor="ctr"/>
          <a:lstStyle/>
          <a:p>
            <a:pPr indent="0" marL="0">
              <a:buNone/>
            </a:pPr>
            <a:r>
              <a:rPr b="1" sz="850">
                <a:solidFill>
                  <a:srgbClr val="85D155"/>
                </a:solidFill>
              </a:rPr>
              <a:t>ADDRESSABLE MARKET</a:t>
            </a:r>
            <a:endParaRPr lang="en-US" sz="750" dirty="0"/>
          </a:p>
          <a:p>
            <a:r>
              <a:rPr b="0" sz="400"/>
              <a:t> </a:t>
            </a:r>
          </a:p>
          <a:p>
            <a:r>
              <a:rPr b="1" sz="950">
                <a:solidFill>
                  <a:srgbClr val="1A1A1A"/>
                </a:solidFill>
              </a:rPr>
              <a:t>Vektor · three markets · 10% penetration</a:t>
            </a:r>
          </a:p>
          <a:p>
            <a:r>
              <a:rPr b="0" sz="950">
                <a:solidFill>
                  <a:srgbClr val="1A1A1A"/>
                </a:solidFill>
              </a:rPr>
              <a:t>~US$15M ARR</a:t>
            </a:r>
          </a:p>
          <a:p>
            <a:r>
              <a:rPr b="0" sz="400"/>
              <a:t> </a:t>
            </a:r>
          </a:p>
          <a:p>
            <a:r>
              <a:rPr b="1" sz="950">
                <a:solidFill>
                  <a:srgbClr val="1A1A1A"/>
                </a:solidFill>
              </a:rPr>
              <a:t>Tenzor — direct subscription</a:t>
            </a:r>
          </a:p>
          <a:p>
            <a:r>
              <a:rPr b="0" sz="950">
                <a:solidFill>
                  <a:srgbClr val="1A1A1A"/>
                </a:solidFill>
              </a:rPr>
              <a:t>~US$10M–US$13M ARR · three markets · 10% penetration</a:t>
            </a:r>
          </a:p>
          <a:p>
            <a:r>
              <a:rPr b="0" sz="400"/>
              <a:t> </a:t>
            </a:r>
          </a:p>
          <a:p>
            <a:r>
              <a:rPr b="1" sz="950">
                <a:solidFill>
                  <a:srgbClr val="1A1A1A"/>
                </a:solidFill>
              </a:rPr>
              <a:t>Tenzor — including Wrapped channel</a:t>
            </a:r>
          </a:p>
          <a:p>
            <a:r>
              <a:rPr b="0" sz="950">
                <a:solidFill>
                  <a:srgbClr val="1A1A1A"/>
                </a:solidFill>
              </a:rPr>
              <a:t>~US$22M–US$26M ARR at conservative assumptions</a:t>
            </a:r>
          </a:p>
          <a:p>
            <a:r>
              <a:rPr b="0" sz="600"/>
              <a:t> </a:t>
            </a:r>
          </a:p>
          <a:p>
            <a:r>
              <a:rPr b="1" sz="950">
                <a:solidFill>
                  <a:srgbClr val="C8A96E"/>
                </a:solidFill>
              </a:rPr>
              <a:t>Combined — largely non-overlapping markets</a:t>
            </a:r>
          </a:p>
          <a:p>
            <a:r>
              <a:rPr b="1" sz="1500">
                <a:solidFill>
                  <a:srgbClr val="C8A96E"/>
                </a:solidFill>
              </a:rPr>
              <a:t>~US$25M–US$28M ARR</a:t>
            </a:r>
          </a:p>
          <a:p>
            <a:r>
              <a:rPr b="0" sz="950">
                <a:solidFill>
                  <a:srgbClr val="C8A96E"/>
                </a:solidFill>
              </a:rPr>
              <a:t>three markets · 10% penetration</a:t>
            </a:r>
          </a:p>
          <a:p>
            <a:r>
              <a:rPr b="0" sz="800"/>
              <a:t> </a:t>
            </a:r>
          </a:p>
          <a:p>
            <a:r>
              <a:rPr b="1" sz="850">
                <a:solidFill>
                  <a:srgbClr val="85D155"/>
                </a:solidFill>
              </a:rPr>
              <a:t>TENZOR STATUS</a:t>
            </a:r>
          </a:p>
          <a:p>
            <a:r>
              <a:rPr b="1" sz="950">
                <a:solidFill>
                  <a:srgbClr val="1A1A1A"/>
                </a:solidFill>
              </a:rPr>
              <a:t>Architecture defined. Development milestone-gated to Vektor Proof Partners go-live. Series A funded.</a:t>
            </a:r>
          </a:p>
          <a:p>
            <a:r>
              <a:rPr b="0" sz="400"/>
              <a:t> </a:t>
            </a:r>
          </a:p>
          <a:p>
            <a:r>
              <a:rPr b="0" sz="850">
                <a:solidFill>
                  <a:srgbClr val="888888"/>
                </a:solidFill>
              </a:rPr>
              <a:t>Not yet publicly disclosed outside this NDA relationship.</a:t>
            </a:r>
          </a:p>
          <a:p>
            <a:r>
              <a:rPr b="0" sz="400"/>
              <a:t> </a:t>
            </a:r>
          </a:p>
          <a:p>
            <a:r>
              <a:rPr b="0" sz="850">
                <a:solidFill>
                  <a:srgbClr val="888888"/>
                </a:solidFill>
              </a:rPr>
              <a:t>The naming logic: a tensor generalises a vector across multiple simultaneous dimensions. Vektor → Tenzor is the same product philosophy at institutional scale.</a:t>
            </a:r>
          </a:p>
        </p:txBody>
      </p:sp>
      <p:sp>
        <p:nvSpPr>
          <p:cNvPr id="10" name="Text 8"/>
          <p:cNvSpPr/>
          <p:nvPr/>
        </p:nvSpPr>
        <p:spPr>
          <a:xfrm>
            <a:off x="457200" y="731520"/>
            <a:ext cx="5669280" cy="5303520"/>
          </a:xfrm>
          <a:prstGeom prst="rect">
            <a:avLst/>
          </a:prstGeom>
          <a:noFill/>
          <a:ln/>
        </p:spPr>
        <p:txBody>
          <a:bodyPr wrap="square" rtlCol="0" anchor="ctr"/>
          <a:lstStyle/>
          <a:p>
            <a:pPr indent="0" marL="0">
              <a:buNone/>
            </a:pPr>
            <a:r>
              <a:rPr b="1" sz="800">
                <a:solidFill>
                  <a:srgbClr val="C8A96E"/>
                </a:solidFill>
              </a:rPr>
              <a:t>NDA STAGE ONLY — NOT IN PUBLIC DECK</a:t>
            </a:r>
            <a:endParaRPr lang="en-US" sz="750" dirty="0"/>
          </a:p>
          <a:p>
            <a:r>
              <a:rPr b="0" sz="850">
                <a:solidFill>
                  <a:srgbClr val="888888"/>
                </a:solidFill>
              </a:rPr>
              <a:t>This slide is disclosed at NDA stage only. What follows describes a product in development that is not yet publicly disclosed and that materially extends InvestPuppy’s addressable market beyond Vektor.</a:t>
            </a:r>
          </a:p>
          <a:p>
            <a:r>
              <a:rPr b="0" sz="400"/>
              <a:t> </a:t>
            </a:r>
          </a:p>
          <a:p>
            <a:r>
              <a:rPr b="1" sz="850">
                <a:solidFill>
                  <a:srgbClr val="85D155"/>
                </a:solidFill>
              </a:rPr>
              <a:t>THE NATURAL PROGRESSION</a:t>
            </a:r>
          </a:p>
          <a:p>
            <a:r>
              <a:rPr b="1" sz="950">
                <a:solidFill>
                  <a:srgbClr val="1A1A1A"/>
                </a:solidFill>
              </a:rPr>
              <a:t>Vektor proves the methodology at boutique scale. Tenzor deploys it at institutional scale. The platform architecture was designed from the outset to reach both.</a:t>
            </a:r>
          </a:p>
          <a:p>
            <a:r>
              <a:rPr b="0" sz="400"/>
              <a:t> </a:t>
            </a:r>
          </a:p>
          <a:p>
            <a:r>
              <a:rPr b="0" sz="950">
                <a:solidFill>
                  <a:srgbClr val="1A1A1A"/>
                </a:solidFill>
              </a:rPr>
              <a:t>Tenzor is the full institutional portfolio management platform — the same systematic methodology as Vektor, extended to serve DPM desks at regional banks, large MFOs, and institutional asset managers who require order workflow, performance attribution, core corporate actions, and multi-asset capability.</a:t>
            </a:r>
          </a:p>
          <a:p>
            <a:r>
              <a:rPr b="0" sz="400"/>
              <a:t> </a:t>
            </a:r>
          </a:p>
          <a:p>
            <a:r>
              <a:rPr b="1" sz="850">
                <a:solidFill>
                  <a:srgbClr val="85D155"/>
                </a:solidFill>
              </a:rPr>
              <a:t>THE SEQUENCING</a:t>
            </a:r>
          </a:p>
          <a:p>
            <a:r>
              <a:rPr b="0" sz="950">
                <a:solidFill>
                  <a:srgbClr val="1A1A1A"/>
                </a:solidFill>
              </a:rPr>
              <a:t>Tenzor development begins post first Vektor Proof Partners go-live, funded at Series A. The founding team is focused on Vektor’s commercial launch. This is not two products in parallel — it is one company building in the right order.</a:t>
            </a:r>
          </a:p>
          <a:p>
            <a:r>
              <a:rPr b="0" sz="400"/>
              <a:t> </a:t>
            </a:r>
          </a:p>
          <a:p>
            <a:r>
              <a:rPr b="0" sz="950">
                <a:solidFill>
                  <a:srgbClr val="1A1A1A"/>
                </a:solidFill>
              </a:rPr>
              <a:t>Boutique practitioners need simplicity and access. Institutional operators need full-stack capability and compliance depth. Different buyers, different commercial structures, different products — built on the same codebase by a team that has operated both sides of this market for decades.</a:t>
            </a:r>
          </a:p>
          <a:p>
            <a:r>
              <a:rPr b="0" sz="400"/>
              <a:t> </a:t>
            </a:r>
          </a:p>
          <a:p>
            <a:r>
              <a:rPr b="1" sz="850">
                <a:solidFill>
                  <a:srgbClr val="85D155"/>
                </a:solidFill>
              </a:rPr>
              <a:t>THE CONVERSION PATHWAY</a:t>
            </a:r>
          </a:p>
          <a:p>
            <a:r>
              <a:rPr b="0" sz="950">
                <a:solidFill>
                  <a:srgbClr val="1A1A1A"/>
                </a:solidFill>
              </a:rPr>
              <a:t>Vektor : House clients who grow their AUM or add asset classes are Tenzor’s first clients. A conversion from a proven relationship — not a cold sale.</a:t>
            </a:r>
          </a:p>
        </p:txBody>
      </p:sp>
      <p:sp>
        <p:nvSpPr>
          <p:cNvPr id="9" name="Text 7"/>
          <p:cNvSpPr/>
          <p:nvPr/>
        </p:nvSpPr>
        <p:spPr>
          <a:xfrm>
            <a:off x="11457432" y="6547104"/>
            <a:ext cx="502920" cy="219456"/>
          </a:xfrm>
          <a:prstGeom prst="rect">
            <a:avLst/>
          </a:prstGeom>
          <a:noFill/>
          <a:ln/>
        </p:spPr>
        <p:txBody>
          <a:bodyPr wrap="square" rtlCol="0" anchor="ctr"/>
          <a:lstStyle/>
          <a:p>
            <a:pPr algn="r" indent="0" marL="0">
              <a:buNone/>
            </a:pPr>
            <a:r>
              <a:rPr lang="en-US" sz="750" dirty="0">
                <a:solidFill>
                  <a:srgbClr val="888888"/>
                </a:solidFill>
                <a:latin typeface="Arial" pitchFamily="34" charset="0"/>
                <a:ea typeface="Arial" pitchFamily="34" charset="-122"/>
                <a:cs typeface="Arial" pitchFamily="34" charset="-120"/>
              </a:rPr>
              <a:t>7</a:t>
            </a:r>
            <a:endParaRPr lang="en-US" sz="750" dirty="0"/>
          </a:p>
        </p:txBody>
      </p:sp>
      <p:sp>
        <p:nvSpPr>
          <p:cNvPr id="8" name="Text 6"/>
          <p:cNvSpPr/>
          <p:nvPr/>
        </p:nvSpPr>
        <p:spPr>
          <a:xfrm>
            <a:off x="457200" y="6547104"/>
            <a:ext cx="10360152" cy="219456"/>
          </a:xfrm>
          <a:prstGeom prst="rect">
            <a:avLst/>
          </a:prstGeom>
          <a:noFill/>
          <a:ln/>
        </p:spPr>
        <p:txBody>
          <a:bodyPr wrap="square" rtlCol="0" anchor="ctr"/>
          <a:lstStyle/>
          <a:p>
            <a:pPr indent="0" marL="0">
              <a:buNone/>
            </a:pPr>
            <a:r>
              <a:rPr lang="en-US" sz="750" dirty="0">
                <a:solidFill>
                  <a:srgbClr val="888888"/>
                </a:solidFill>
                <a:latin typeface="Arial" pitchFamily="34" charset="0"/>
                <a:ea typeface="Arial" pitchFamily="34" charset="-122"/>
                <a:cs typeface="Arial" pitchFamily="34" charset="-120"/>
              </a:rPr>
              <a:t>InvestPuppy Pte Ltd · investpuppy.com · Confidential</a:t>
            </a:r>
            <a:endParaRPr lang="en-US" sz="750" dirty="0"/>
          </a:p>
        </p:txBody>
      </p:sp>
      <p:sp>
        <p:nvSpPr>
          <p:cNvPr id="7" name="Shape 5"/>
          <p:cNvSpPr/>
          <p:nvPr/>
        </p:nvSpPr>
        <p:spPr>
          <a:xfrm>
            <a:off x="457200" y="6510528"/>
            <a:ext cx="11274552" cy="0"/>
          </a:xfrm>
          <a:prstGeom prst="line">
            <a:avLst/>
          </a:prstGeom>
          <a:noFill/>
          <a:ln w="6350">
            <a:solidFill>
              <a:srgbClr val="D0D0D0"/>
            </a:solidFill>
            <a:prstDash val="solid"/>
          </a:ln>
        </p:spPr>
        <p:txBody>
          <a:bodyPr/>
          <a:p/>
        </p:txBody>
      </p:sp>
      <p:sp>
        <p:nvSpPr>
          <p:cNvPr id="6" name="Shape 4"/>
          <p:cNvSpPr/>
          <p:nvPr/>
        </p:nvSpPr>
        <p:spPr>
          <a:xfrm>
            <a:off x="0" y="548640"/>
            <a:ext cx="12188952" cy="0"/>
          </a:xfrm>
          <a:prstGeom prst="line">
            <a:avLst/>
          </a:prstGeom>
          <a:noFill/>
          <a:ln w="25400">
            <a:solidFill>
              <a:srgbClr val="85D155"/>
            </a:solidFill>
            <a:prstDash val="solid"/>
          </a:ln>
        </p:spPr>
        <p:txBody>
          <a:bodyPr/>
          <a:p/>
        </p:txBody>
      </p:sp>
      <p:sp>
        <p:nvSpPr>
          <p:cNvPr id="5" name="Text 3"/>
          <p:cNvSpPr/>
          <p:nvPr/>
        </p:nvSpPr>
        <p:spPr>
          <a:xfrm>
            <a:off x="8531352" y="301752"/>
            <a:ext cx="3200400" cy="201168"/>
          </a:xfrm>
          <a:prstGeom prst="rect">
            <a:avLst/>
          </a:prstGeom>
          <a:noFill/>
          <a:ln/>
        </p:spPr>
        <p:txBody>
          <a:bodyPr wrap="square" rtlCol="0" anchor="ctr"/>
          <a:lstStyle/>
          <a:p>
            <a:pPr algn="r" indent="0" marL="0">
              <a:buNone/>
            </a:pPr>
            <a:r>
              <a:rPr lang="en-US" sz="800" dirty="0">
                <a:solidFill>
                  <a:srgbClr val="888888"/>
                </a:solidFill>
                <a:latin typeface="Arial" pitchFamily="34" charset="0"/>
                <a:ea typeface="Arial" pitchFamily="34" charset="-122"/>
                <a:cs typeface="Arial" pitchFamily="34" charset="-120"/>
              </a:rPr>
              <a:t>Confidential · May 2026</a:t>
            </a:r>
            <a:endParaRPr lang="en-US" sz="800" dirty="0"/>
          </a:p>
        </p:txBody>
      </p:sp>
      <p:sp>
        <p:nvSpPr>
          <p:cNvPr id="4" name="Text 2"/>
          <p:cNvSpPr/>
          <p:nvPr/>
        </p:nvSpPr>
        <p:spPr>
          <a:xfrm>
            <a:off x="8531352" y="45720"/>
            <a:ext cx="3200400" cy="274320"/>
          </a:xfrm>
          <a:prstGeom prst="rect">
            <a:avLst/>
          </a:prstGeom>
          <a:noFill/>
          <a:ln/>
        </p:spPr>
        <p:txBody>
          <a:bodyPr wrap="square" rtlCol="0" anchor="ctr"/>
          <a:lstStyle/>
          <a:p>
            <a:pPr algn="r" indent="0" marL="0">
              <a:buNone/>
            </a:pPr>
            <a:r>
              <a:rPr lang="en-US" sz="900" dirty="0">
                <a:solidFill>
                  <a:srgbClr val="FFFFFF"/>
                </a:solidFill>
                <a:latin typeface="Arial" pitchFamily="34" charset="0"/>
                <a:ea typeface="Arial" pitchFamily="34" charset="-122"/>
                <a:cs typeface="Arial" pitchFamily="34" charset="-120"/>
              </a:rPr>
              <a:t>Beyond Vektor — Institutional Product Roadmap</a:t>
            </a:r>
            <a:endParaRPr lang="en-US" sz="900" dirty="0"/>
          </a:p>
        </p:txBody>
      </p:sp>
      <p:sp>
        <p:nvSpPr>
          <p:cNvPr id="3" name="Text 1"/>
          <p:cNvSpPr/>
          <p:nvPr/>
        </p:nvSpPr>
        <p:spPr>
          <a:xfrm>
            <a:off x="457200" y="45720"/>
            <a:ext cx="182880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Invest</a:t>
            </a:r>
            <a:pPr indent="0" marL="0">
              <a:buNone/>
            </a:pPr>
            <a:r>
              <a:rPr lang="en-US" sz="1400" b="1" dirty="0">
                <a:solidFill>
                  <a:srgbClr val="85D155"/>
                </a:solidFill>
                <a:latin typeface="Arial" pitchFamily="34" charset="0"/>
                <a:ea typeface="Arial" pitchFamily="34" charset="-122"/>
                <a:cs typeface="Arial" pitchFamily="34" charset="-120"/>
              </a:rPr>
              <a:t>Puppy</a:t>
            </a:r>
            <a:endParaRPr lang="en-US" sz="1400" dirty="0"/>
          </a:p>
        </p:txBody>
      </p:sp>
      <p:sp>
        <p:nvSpPr>
          <p:cNvPr id="2" name="Shape 0"/>
          <p:cNvSpPr/>
          <p:nvPr/>
        </p:nvSpPr>
        <p:spPr>
          <a:xfrm>
            <a:off x="0" y="0"/>
            <a:ext cx="12188952" cy="548640"/>
          </a:xfrm>
          <a:prstGeom prst="rect">
            <a:avLst/>
          </a:prstGeom>
          <a:solidFill>
            <a:srgbClr val="0A0A0A"/>
          </a:solidFill>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548640"/>
          </a:xfrm>
          <a:prstGeom prst="rect">
            <a:avLst/>
          </a:prstGeom>
          <a:solidFill>
            <a:srgbClr val="0A0A0A"/>
          </a:solidFill>
          <a:ln/>
        </p:spPr>
        <p:txBody>
          <a:bodyPr/>
          <a:p/>
        </p:txBody>
      </p:sp>
      <p:sp>
        <p:nvSpPr>
          <p:cNvPr id="3" name="Text 1"/>
          <p:cNvSpPr/>
          <p:nvPr/>
        </p:nvSpPr>
        <p:spPr>
          <a:xfrm>
            <a:off x="457200" y="45720"/>
            <a:ext cx="182880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Invest</a:t>
            </a:r>
            <a:pPr indent="0" marL="0">
              <a:buNone/>
            </a:pPr>
            <a:r>
              <a:rPr lang="en-US" sz="1400" b="1" dirty="0">
                <a:solidFill>
                  <a:srgbClr val="85D155"/>
                </a:solidFill>
                <a:latin typeface="Arial" pitchFamily="34" charset="0"/>
                <a:ea typeface="Arial" pitchFamily="34" charset="-122"/>
                <a:cs typeface="Arial" pitchFamily="34" charset="-120"/>
              </a:rPr>
              <a:t>Puppy</a:t>
            </a:r>
            <a:endParaRPr lang="en-US" sz="1400" dirty="0"/>
          </a:p>
        </p:txBody>
      </p:sp>
      <p:sp>
        <p:nvSpPr>
          <p:cNvPr id="4" name="Text 2"/>
          <p:cNvSpPr/>
          <p:nvPr/>
        </p:nvSpPr>
        <p:spPr>
          <a:xfrm>
            <a:off x="8531352" y="45720"/>
            <a:ext cx="3200400" cy="274320"/>
          </a:xfrm>
          <a:prstGeom prst="rect">
            <a:avLst/>
          </a:prstGeom>
          <a:noFill/>
          <a:ln/>
        </p:spPr>
        <p:txBody>
          <a:bodyPr wrap="square" rtlCol="0" anchor="ctr"/>
          <a:lstStyle/>
          <a:p>
            <a:pPr algn="r" indent="0" marL="0">
              <a:buNone/>
            </a:pPr>
            <a:r>
              <a:rPr lang="en-US" sz="900" dirty="0">
                <a:solidFill>
                  <a:srgbClr val="FFFFFF"/>
                </a:solidFill>
                <a:latin typeface="Arial" pitchFamily="34" charset="0"/>
                <a:ea typeface="Arial" pitchFamily="34" charset="-122"/>
                <a:cs typeface="Arial" pitchFamily="34" charset="-120"/>
              </a:rPr>
              <a:t>Market</a:t>
            </a:r>
            <a:endParaRPr lang="en-US" sz="900" dirty="0"/>
          </a:p>
        </p:txBody>
      </p:sp>
      <p:sp>
        <p:nvSpPr>
          <p:cNvPr id="5" name="Text 3"/>
          <p:cNvSpPr/>
          <p:nvPr/>
        </p:nvSpPr>
        <p:spPr>
          <a:xfrm>
            <a:off x="8531352" y="301752"/>
            <a:ext cx="3200400" cy="201168"/>
          </a:xfrm>
          <a:prstGeom prst="rect">
            <a:avLst/>
          </a:prstGeom>
          <a:noFill/>
          <a:ln/>
        </p:spPr>
        <p:txBody>
          <a:bodyPr wrap="square" rtlCol="0" anchor="ctr"/>
          <a:lstStyle/>
          <a:p>
            <a:pPr algn="r" indent="0" marL="0">
              <a:buNone/>
            </a:pPr>
            <a:r>
              <a:rPr lang="en-US" sz="800" dirty="0">
                <a:solidFill>
                  <a:srgbClr val="888888"/>
                </a:solidFill>
                <a:latin typeface="Arial" pitchFamily="34" charset="0"/>
                <a:ea typeface="Arial" pitchFamily="34" charset="-122"/>
                <a:cs typeface="Arial" pitchFamily="34" charset="-120"/>
              </a:rPr>
              <a:t>Confidential · May 2026</a:t>
            </a:r>
            <a:endParaRPr lang="en-US" sz="800" dirty="0"/>
          </a:p>
        </p:txBody>
      </p:sp>
      <p:sp>
        <p:nvSpPr>
          <p:cNvPr id="6" name="Shape 4"/>
          <p:cNvSpPr/>
          <p:nvPr/>
        </p:nvSpPr>
        <p:spPr>
          <a:xfrm>
            <a:off x="0" y="548640"/>
            <a:ext cx="12188952" cy="0"/>
          </a:xfrm>
          <a:prstGeom prst="line">
            <a:avLst/>
          </a:prstGeom>
          <a:noFill/>
          <a:ln w="25400">
            <a:solidFill>
              <a:srgbClr val="85D155"/>
            </a:solidFill>
            <a:prstDash val="solid"/>
          </a:ln>
        </p:spPr>
        <p:txBody>
          <a:bodyPr/>
          <a:p/>
        </p:txBody>
      </p:sp>
      <p:sp>
        <p:nvSpPr>
          <p:cNvPr id="7" name="Shape 5"/>
          <p:cNvSpPr/>
          <p:nvPr/>
        </p:nvSpPr>
        <p:spPr>
          <a:xfrm>
            <a:off x="457200" y="6510528"/>
            <a:ext cx="11274552" cy="0"/>
          </a:xfrm>
          <a:prstGeom prst="line">
            <a:avLst/>
          </a:prstGeom>
          <a:noFill/>
          <a:ln w="6350">
            <a:solidFill>
              <a:srgbClr val="D0D0D0"/>
            </a:solidFill>
            <a:prstDash val="solid"/>
          </a:ln>
        </p:spPr>
        <p:txBody>
          <a:bodyPr/>
          <a:p/>
        </p:txBody>
      </p:sp>
      <p:sp>
        <p:nvSpPr>
          <p:cNvPr id="8" name="Text 6"/>
          <p:cNvSpPr/>
          <p:nvPr/>
        </p:nvSpPr>
        <p:spPr>
          <a:xfrm>
            <a:off x="457200" y="6547104"/>
            <a:ext cx="10360152" cy="219456"/>
          </a:xfrm>
          <a:prstGeom prst="rect">
            <a:avLst/>
          </a:prstGeom>
          <a:noFill/>
          <a:ln/>
        </p:spPr>
        <p:txBody>
          <a:bodyPr wrap="square" rtlCol="0" anchor="ctr"/>
          <a:lstStyle/>
          <a:p>
            <a:pPr indent="0" marL="0">
              <a:buNone/>
            </a:pPr>
            <a:r>
              <a:rPr lang="en-US" sz="750" dirty="0">
                <a:solidFill>
                  <a:srgbClr val="888888"/>
                </a:solidFill>
                <a:latin typeface="Arial" pitchFamily="34" charset="0"/>
                <a:ea typeface="Arial" pitchFamily="34" charset="-122"/>
                <a:cs typeface="Arial" pitchFamily="34" charset="-120"/>
              </a:rPr>
              <a:t>InvestPuppy Pte Ltd · investpuppy.com · Confidential</a:t>
            </a:r>
            <a:endParaRPr lang="en-US" sz="750" dirty="0"/>
          </a:p>
        </p:txBody>
      </p:sp>
      <p:sp>
        <p:nvSpPr>
          <p:cNvPr id="9" name="Text 7"/>
          <p:cNvSpPr/>
          <p:nvPr/>
        </p:nvSpPr>
        <p:spPr>
          <a:xfrm>
            <a:off x="11457432" y="6547104"/>
            <a:ext cx="502920" cy="219456"/>
          </a:xfrm>
          <a:prstGeom prst="rect">
            <a:avLst/>
          </a:prstGeom>
          <a:noFill/>
          <a:ln/>
        </p:spPr>
        <p:txBody>
          <a:bodyPr wrap="square" rtlCol="0" anchor="ctr"/>
          <a:lstStyle/>
          <a:p>
            <a:pPr algn="r" indent="0" marL="0">
              <a:buNone/>
            </a:pPr>
            <a:r>
              <a:rPr lang="en-US" sz="750" dirty="0">
                <a:solidFill>
                  <a:srgbClr val="888888"/>
                </a:solidFill>
                <a:latin typeface="Arial" pitchFamily="34" charset="0"/>
                <a:ea typeface="Arial" pitchFamily="34" charset="-122"/>
                <a:cs typeface="Arial" pitchFamily="34" charset="-120"/>
              </a:rPr>
              <a:t>8</a:t>
            </a:r>
            <a:endParaRPr lang="en-US" sz="750" dirty="0"/>
          </a:p>
        </p:txBody>
      </p:sp>
      <p:sp>
        <p:nvSpPr>
          <p:cNvPr id="10" name="Text 8"/>
          <p:cNvSpPr/>
          <p:nvPr/>
        </p:nvSpPr>
        <p:spPr>
          <a:xfrm>
            <a:off x="457200" y="685800"/>
            <a:ext cx="11274552" cy="320040"/>
          </a:xfrm>
          <a:prstGeom prst="rect">
            <a:avLst/>
          </a:prstGeom>
          <a:noFill/>
          <a:ln/>
        </p:spPr>
        <p:txBody>
          <a:bodyPr wrap="square" rtlCol="0" anchor="ctr"/>
          <a:lstStyle/>
          <a:p>
            <a:pPr indent="0" marL="0">
              <a:buNone/>
            </a:pPr>
            <a:r>
              <a:rPr lang="en-US" sz="1200" dirty="0">
                <a:solidFill>
                  <a:srgbClr val="0A0A0A"/>
                </a:solidFill>
                <a:latin typeface="Arial" pitchFamily="34" charset="0"/>
                <a:ea typeface="Arial" pitchFamily="34" charset="-122"/>
                <a:cs typeface="Arial" pitchFamily="34" charset="-120"/>
              </a:rPr>
              <a:t>Boutique practitioners are systematically underserved. Institutional processes. Consumer tooling.</a:t>
            </a:r>
            <a:endParaRPr lang="en-US" sz="1200" dirty="0"/>
          </a:p>
        </p:txBody>
      </p:sp>
      <p:sp>
        <p:nvSpPr>
          <p:cNvPr id="11" name="Shape 9"/>
          <p:cNvSpPr/>
          <p:nvPr/>
        </p:nvSpPr>
        <p:spPr>
          <a:xfrm>
            <a:off x="457200" y="1143000"/>
            <a:ext cx="2795778" cy="5074920"/>
          </a:xfrm>
          <a:prstGeom prst="rect">
            <a:avLst/>
          </a:prstGeom>
          <a:solidFill>
            <a:srgbClr val="F4F4F4"/>
          </a:solidFill>
          <a:ln/>
        </p:spPr>
        <p:txBody>
          <a:bodyPr/>
          <a:p/>
        </p:txBody>
      </p:sp>
      <p:sp>
        <p:nvSpPr>
          <p:cNvPr id="12" name="Shape 10"/>
          <p:cNvSpPr/>
          <p:nvPr/>
        </p:nvSpPr>
        <p:spPr>
          <a:xfrm>
            <a:off x="457200" y="1143000"/>
            <a:ext cx="2795778" cy="54864"/>
          </a:xfrm>
          <a:prstGeom prst="rect">
            <a:avLst/>
          </a:prstGeom>
          <a:solidFill>
            <a:srgbClr val="85D155"/>
          </a:solidFill>
          <a:ln/>
        </p:spPr>
        <p:txBody>
          <a:bodyPr/>
          <a:p/>
        </p:txBody>
      </p:sp>
      <p:sp>
        <p:nvSpPr>
          <p:cNvPr id="13" name="Text 11"/>
          <p:cNvSpPr/>
          <p:nvPr/>
        </p:nvSpPr>
        <p:spPr>
          <a:xfrm>
            <a:off x="566928" y="1234440"/>
            <a:ext cx="2576322" cy="274320"/>
          </a:xfrm>
          <a:prstGeom prst="rect">
            <a:avLst/>
          </a:prstGeom>
          <a:noFill/>
          <a:ln/>
        </p:spPr>
        <p:txBody>
          <a:bodyPr wrap="square" rtlCol="0" anchor="ctr"/>
          <a:lstStyle/>
          <a:p>
            <a:pPr indent="0" marL="0">
              <a:buNone/>
            </a:pPr>
            <a:r>
              <a:rPr lang="en-US" sz="1200" b="1" dirty="0">
                <a:solidFill>
                  <a:srgbClr val="0A0A0A"/>
                </a:solidFill>
                <a:latin typeface="Arial" pitchFamily="34" charset="0"/>
                <a:ea typeface="Arial" pitchFamily="34" charset="-122"/>
                <a:cs typeface="Arial" pitchFamily="34" charset="-120"/>
              </a:rPr>
              <a:t>Singapore</a:t>
            </a:r>
            <a:endParaRPr lang="en-US" sz="1200" dirty="0"/>
          </a:p>
        </p:txBody>
      </p:sp>
      <p:sp>
        <p:nvSpPr>
          <p:cNvPr id="14" name="Text 12"/>
          <p:cNvSpPr/>
          <p:nvPr/>
        </p:nvSpPr>
        <p:spPr>
          <a:xfrm>
            <a:off x="566928" y="1508760"/>
            <a:ext cx="2576322" cy="201168"/>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DISTRIBUTION-READY NOW</a:t>
            </a:r>
            <a:endParaRPr lang="en-US" sz="750" dirty="0"/>
          </a:p>
        </p:txBody>
      </p:sp>
      <p:sp>
        <p:nvSpPr>
          <p:cNvPr id="15" name="Text 13"/>
          <p:cNvSpPr/>
          <p:nvPr/>
        </p:nvSpPr>
        <p:spPr>
          <a:xfrm>
            <a:off x="566928" y="1874520"/>
            <a:ext cx="2576322" cy="502920"/>
          </a:xfrm>
          <a:prstGeom prst="rect">
            <a:avLst/>
          </a:prstGeom>
          <a:noFill/>
          <a:ln/>
        </p:spPr>
        <p:txBody>
          <a:bodyPr wrap="square" rtlCol="0" anchor="ctr"/>
          <a:lstStyle/>
          <a:p>
            <a:pPr indent="0" marL="0">
              <a:buNone/>
            </a:pPr>
            <a:r>
              <a:rPr lang="en-US" sz="2200" b="1" dirty="0">
                <a:solidFill>
                  <a:srgbClr val="0A0A0A"/>
                </a:solidFill>
                <a:latin typeface="Arial" pitchFamily="34" charset="0"/>
                <a:ea typeface="Arial" pitchFamily="34" charset="-122"/>
                <a:cs typeface="Arial" pitchFamily="34" charset="-120"/>
              </a:rPr>
              <a:t>2,000+</a:t>
            </a:r>
            <a:endParaRPr lang="en-US" sz="2200" dirty="0"/>
          </a:p>
        </p:txBody>
      </p:sp>
      <p:sp>
        <p:nvSpPr>
          <p:cNvPr id="16" name="Text 14"/>
          <p:cNvSpPr/>
          <p:nvPr/>
        </p:nvSpPr>
        <p:spPr>
          <a:xfrm>
            <a:off x="566928" y="2359152"/>
            <a:ext cx="2576322" cy="411480"/>
          </a:xfrm>
          <a:prstGeom prst="rect">
            <a:avLst/>
          </a:prstGeom>
          <a:noFill/>
          <a:ln/>
        </p:spPr>
        <p:txBody>
          <a:bodyPr wrap="square" rtlCol="0" anchor="ctr"/>
          <a:lstStyle/>
          <a:p>
            <a:pPr indent="0" marL="0">
              <a:buNone/>
            </a:pPr>
            <a:r>
              <a:rPr lang="en-US" sz="850" dirty="0">
                <a:solidFill>
                  <a:srgbClr val="888888"/>
                </a:solidFill>
                <a:latin typeface="Arial" pitchFamily="34" charset="0"/>
                <a:ea typeface="Arial" pitchFamily="34" charset="-122"/>
                <a:cs typeface="Arial" pitchFamily="34" charset="-120"/>
              </a:rPr>
              <a:t>single family offices</a:t>
            </a:r>
            <a:endParaRPr lang="en-US" sz="850" dirty="0"/>
          </a:p>
          <a:p>
            <a:pPr indent="0" marL="0">
              <a:buNone/>
            </a:pPr>
            <a:r>
              <a:rPr lang="en-US" sz="850" dirty="0">
                <a:solidFill>
                  <a:srgbClr val="888888"/>
                </a:solidFill>
                <a:latin typeface="Arial" pitchFamily="34" charset="0"/>
                <a:ea typeface="Arial" pitchFamily="34" charset="-122"/>
                <a:cs typeface="Arial" pitchFamily="34" charset="-120"/>
              </a:rPr>
              <a:t>(MAS, 2024)</a:t>
            </a:r>
            <a:endParaRPr lang="en-US" sz="850" dirty="0"/>
          </a:p>
        </p:txBody>
      </p:sp>
      <p:sp>
        <p:nvSpPr>
          <p:cNvPr id="17" name="Shape 15"/>
          <p:cNvSpPr/>
          <p:nvPr/>
        </p:nvSpPr>
        <p:spPr>
          <a:xfrm>
            <a:off x="566928" y="2834640"/>
            <a:ext cx="2576322" cy="0"/>
          </a:xfrm>
          <a:prstGeom prst="line">
            <a:avLst/>
          </a:prstGeom>
          <a:noFill/>
          <a:ln w="6350">
            <a:solidFill>
              <a:srgbClr val="D0D0D0"/>
            </a:solidFill>
            <a:prstDash val="solid"/>
          </a:ln>
        </p:spPr>
        <p:txBody>
          <a:bodyPr/>
          <a:p/>
        </p:txBody>
      </p:sp>
      <p:sp>
        <p:nvSpPr>
          <p:cNvPr id="18" name="Text 16"/>
          <p:cNvSpPr/>
          <p:nvPr/>
        </p:nvSpPr>
        <p:spPr>
          <a:xfrm>
            <a:off x="566928" y="2926080"/>
            <a:ext cx="2576322" cy="109728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Primary market. Boutique DPM and family office ecosystem. MAS TRM framework. SGX-listed equities.</a:t>
            </a:r>
            <a:endParaRPr lang="en-US" sz="950" dirty="0"/>
          </a:p>
        </p:txBody>
      </p:sp>
      <p:sp>
        <p:nvSpPr>
          <p:cNvPr id="19" name="Shape 17"/>
          <p:cNvSpPr/>
          <p:nvPr/>
        </p:nvSpPr>
        <p:spPr>
          <a:xfrm>
            <a:off x="3289554" y="1143000"/>
            <a:ext cx="2795778" cy="5074920"/>
          </a:xfrm>
          <a:prstGeom prst="rect">
            <a:avLst/>
          </a:prstGeom>
          <a:solidFill>
            <a:srgbClr val="F4F4F4"/>
          </a:solidFill>
          <a:ln/>
        </p:spPr>
        <p:txBody>
          <a:bodyPr/>
          <a:p/>
        </p:txBody>
      </p:sp>
      <p:sp>
        <p:nvSpPr>
          <p:cNvPr id="20" name="Shape 18"/>
          <p:cNvSpPr/>
          <p:nvPr/>
        </p:nvSpPr>
        <p:spPr>
          <a:xfrm>
            <a:off x="3289554" y="1143000"/>
            <a:ext cx="2795778" cy="54864"/>
          </a:xfrm>
          <a:prstGeom prst="rect">
            <a:avLst/>
          </a:prstGeom>
          <a:solidFill>
            <a:srgbClr val="55AADD"/>
          </a:solidFill>
          <a:ln/>
        </p:spPr>
        <p:txBody>
          <a:bodyPr/>
          <a:p/>
        </p:txBody>
      </p:sp>
      <p:sp>
        <p:nvSpPr>
          <p:cNvPr id="21" name="Text 19"/>
          <p:cNvSpPr/>
          <p:nvPr/>
        </p:nvSpPr>
        <p:spPr>
          <a:xfrm>
            <a:off x="3399282" y="1234440"/>
            <a:ext cx="2576322" cy="274320"/>
          </a:xfrm>
          <a:prstGeom prst="rect">
            <a:avLst/>
          </a:prstGeom>
          <a:noFill/>
          <a:ln/>
        </p:spPr>
        <p:txBody>
          <a:bodyPr wrap="square" rtlCol="0" anchor="ctr"/>
          <a:lstStyle/>
          <a:p>
            <a:pPr indent="0" marL="0">
              <a:buNone/>
            </a:pPr>
            <a:r>
              <a:rPr lang="en-US" sz="1200" b="1" dirty="0">
                <a:solidFill>
                  <a:srgbClr val="0A0A0A"/>
                </a:solidFill>
                <a:latin typeface="Arial" pitchFamily="34" charset="0"/>
                <a:ea typeface="Arial" pitchFamily="34" charset="-122"/>
                <a:cs typeface="Arial" pitchFamily="34" charset="-120"/>
              </a:rPr>
              <a:t>Switzerland</a:t>
            </a:r>
            <a:endParaRPr lang="en-US" sz="1200" dirty="0"/>
          </a:p>
        </p:txBody>
      </p:sp>
      <p:sp>
        <p:nvSpPr>
          <p:cNvPr id="22" name="Text 20"/>
          <p:cNvSpPr/>
          <p:nvPr/>
        </p:nvSpPr>
        <p:spPr>
          <a:xfrm>
            <a:off x="3399282" y="1508760"/>
            <a:ext cx="2576322" cy="201168"/>
          </a:xfrm>
          <a:prstGeom prst="rect">
            <a:avLst/>
          </a:prstGeom>
          <a:noFill/>
          <a:ln/>
        </p:spPr>
        <p:txBody>
          <a:bodyPr wrap="square" rtlCol="0" anchor="ctr"/>
          <a:lstStyle/>
          <a:p>
            <a:pPr indent="0" marL="0">
              <a:buNone/>
            </a:pPr>
            <a:r>
              <a:rPr lang="en-US" sz="750" b="1" dirty="0">
                <a:solidFill>
                  <a:srgbClr val="55AADD"/>
                </a:solidFill>
                <a:latin typeface="Arial" pitchFamily="34" charset="0"/>
                <a:ea typeface="Arial" pitchFamily="34" charset="-122"/>
                <a:cs typeface="Arial" pitchFamily="34" charset="-120"/>
              </a:rPr>
              <a:t>NEAR-TERM EXPANSION</a:t>
            </a:r>
            <a:endParaRPr lang="en-US" sz="750" dirty="0"/>
          </a:p>
        </p:txBody>
      </p:sp>
      <p:sp>
        <p:nvSpPr>
          <p:cNvPr id="23" name="Text 21"/>
          <p:cNvSpPr/>
          <p:nvPr/>
        </p:nvSpPr>
        <p:spPr>
          <a:xfrm>
            <a:off x="3399282" y="1874520"/>
            <a:ext cx="2576322" cy="502920"/>
          </a:xfrm>
          <a:prstGeom prst="rect">
            <a:avLst/>
          </a:prstGeom>
          <a:noFill/>
          <a:ln/>
        </p:spPr>
        <p:txBody>
          <a:bodyPr wrap="square" rtlCol="0" anchor="ctr"/>
          <a:lstStyle/>
          <a:p>
            <a:pPr indent="0" marL="0">
              <a:buNone/>
            </a:pPr>
            <a:r>
              <a:rPr lang="en-US" sz="2200" b="1" dirty="0">
                <a:solidFill>
                  <a:srgbClr val="0A0A0A"/>
                </a:solidFill>
                <a:latin typeface="Arial" pitchFamily="34" charset="0"/>
                <a:ea typeface="Arial" pitchFamily="34" charset="-122"/>
                <a:cs typeface="Arial" pitchFamily="34" charset="-120"/>
              </a:rPr>
              <a:t>IAM / EAM</a:t>
            </a:r>
            <a:endParaRPr lang="en-US" sz="2200" dirty="0"/>
          </a:p>
        </p:txBody>
      </p:sp>
      <p:sp>
        <p:nvSpPr>
          <p:cNvPr id="24" name="Text 22"/>
          <p:cNvSpPr/>
          <p:nvPr/>
        </p:nvSpPr>
        <p:spPr>
          <a:xfrm>
            <a:off x="3399282" y="2359152"/>
            <a:ext cx="2576322" cy="411480"/>
          </a:xfrm>
          <a:prstGeom prst="rect">
            <a:avLst/>
          </a:prstGeom>
          <a:noFill/>
          <a:ln/>
        </p:spPr>
        <p:txBody>
          <a:bodyPr wrap="square" rtlCol="0" anchor="ctr"/>
          <a:lstStyle/>
          <a:p>
            <a:pPr indent="0" marL="0">
              <a:buNone/>
            </a:pPr>
            <a:r>
              <a:rPr lang="en-US" sz="850" dirty="0">
                <a:solidFill>
                  <a:srgbClr val="888888"/>
                </a:solidFill>
                <a:latin typeface="Arial" pitchFamily="34" charset="0"/>
                <a:ea typeface="Arial" pitchFamily="34" charset="-122"/>
                <a:cs typeface="Arial" pitchFamily="34" charset="-120"/>
              </a:rPr>
              <a:t>established market</a:t>
            </a:r>
            <a:endParaRPr lang="en-US" sz="850" dirty="0"/>
          </a:p>
          <a:p>
            <a:pPr indent="0" marL="0">
              <a:buNone/>
            </a:pPr>
            <a:r>
              <a:rPr lang="en-US" sz="850" dirty="0">
                <a:solidFill>
                  <a:srgbClr val="888888"/>
                </a:solidFill>
                <a:latin typeface="Arial" pitchFamily="34" charset="0"/>
                <a:ea typeface="Arial" pitchFamily="34" charset="-122"/>
                <a:cs typeface="Arial" pitchFamily="34" charset="-120"/>
              </a:rPr>
              <a:t>OpenWealth infrastructure</a:t>
            </a:r>
            <a:endParaRPr lang="en-US" sz="850" dirty="0"/>
          </a:p>
        </p:txBody>
      </p:sp>
      <p:sp>
        <p:nvSpPr>
          <p:cNvPr id="25" name="Shape 23"/>
          <p:cNvSpPr/>
          <p:nvPr/>
        </p:nvSpPr>
        <p:spPr>
          <a:xfrm>
            <a:off x="3399282" y="2834640"/>
            <a:ext cx="2576322" cy="0"/>
          </a:xfrm>
          <a:prstGeom prst="line">
            <a:avLst/>
          </a:prstGeom>
          <a:noFill/>
          <a:ln w="6350">
            <a:solidFill>
              <a:srgbClr val="D0D0D0"/>
            </a:solidFill>
            <a:prstDash val="solid"/>
          </a:ln>
        </p:spPr>
        <p:txBody>
          <a:bodyPr/>
          <a:p/>
        </p:txBody>
      </p:sp>
      <p:sp>
        <p:nvSpPr>
          <p:cNvPr id="26" name="Text 24"/>
          <p:cNvSpPr/>
          <p:nvPr/>
        </p:nvSpPr>
        <p:spPr>
          <a:xfrm>
            <a:off x="3399282" y="2926080"/>
            <a:ext cx="2576322" cy="109728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FinIA compliance requirement. OpenWealth custodian adoption established. CEO credential operational.</a:t>
            </a:r>
            <a:endParaRPr lang="en-US" sz="950" dirty="0"/>
          </a:p>
        </p:txBody>
      </p:sp>
      <p:sp>
        <p:nvSpPr>
          <p:cNvPr id="27" name="Shape 25"/>
          <p:cNvSpPr/>
          <p:nvPr/>
        </p:nvSpPr>
        <p:spPr>
          <a:xfrm>
            <a:off x="6121908" y="1143000"/>
            <a:ext cx="2795778" cy="5074920"/>
          </a:xfrm>
          <a:prstGeom prst="rect">
            <a:avLst/>
          </a:prstGeom>
          <a:solidFill>
            <a:srgbClr val="F4F4F4"/>
          </a:solidFill>
          <a:ln/>
        </p:spPr>
        <p:txBody>
          <a:bodyPr/>
          <a:p/>
        </p:txBody>
      </p:sp>
      <p:sp>
        <p:nvSpPr>
          <p:cNvPr id="28" name="Shape 26"/>
          <p:cNvSpPr/>
          <p:nvPr/>
        </p:nvSpPr>
        <p:spPr>
          <a:xfrm>
            <a:off x="6121908" y="1143000"/>
            <a:ext cx="2795778" cy="54864"/>
          </a:xfrm>
          <a:prstGeom prst="rect">
            <a:avLst/>
          </a:prstGeom>
          <a:solidFill>
            <a:srgbClr val="DDAA55"/>
          </a:solidFill>
          <a:ln/>
        </p:spPr>
        <p:txBody>
          <a:bodyPr/>
          <a:p/>
        </p:txBody>
      </p:sp>
      <p:sp>
        <p:nvSpPr>
          <p:cNvPr id="29" name="Text 27"/>
          <p:cNvSpPr/>
          <p:nvPr/>
        </p:nvSpPr>
        <p:spPr>
          <a:xfrm>
            <a:off x="6231636" y="1234440"/>
            <a:ext cx="2576322" cy="274320"/>
          </a:xfrm>
          <a:prstGeom prst="rect">
            <a:avLst/>
          </a:prstGeom>
          <a:noFill/>
          <a:ln/>
        </p:spPr>
        <p:txBody>
          <a:bodyPr wrap="square" rtlCol="0" anchor="ctr"/>
          <a:lstStyle/>
          <a:p>
            <a:pPr indent="0" marL="0">
              <a:buNone/>
            </a:pPr>
            <a:r>
              <a:rPr lang="en-US" sz="1200" b="1" dirty="0">
                <a:solidFill>
                  <a:srgbClr val="0A0A0A"/>
                </a:solidFill>
                <a:latin typeface="Arial" pitchFamily="34" charset="0"/>
                <a:ea typeface="Arial" pitchFamily="34" charset="-122"/>
                <a:cs typeface="Arial" pitchFamily="34" charset="-120"/>
              </a:rPr>
              <a:t>UK</a:t>
            </a:r>
            <a:endParaRPr lang="en-US" sz="1200" dirty="0"/>
          </a:p>
        </p:txBody>
      </p:sp>
      <p:sp>
        <p:nvSpPr>
          <p:cNvPr id="30" name="Text 28"/>
          <p:cNvSpPr/>
          <p:nvPr/>
        </p:nvSpPr>
        <p:spPr>
          <a:xfrm>
            <a:off x="6231636" y="1508760"/>
            <a:ext cx="2576322" cy="201168"/>
          </a:xfrm>
          <a:prstGeom prst="rect">
            <a:avLst/>
          </a:prstGeom>
          <a:noFill/>
          <a:ln/>
        </p:spPr>
        <p:txBody>
          <a:bodyPr wrap="square" rtlCol="0" anchor="ctr"/>
          <a:lstStyle/>
          <a:p>
            <a:pPr indent="0" marL="0">
              <a:buNone/>
            </a:pPr>
            <a:r>
              <a:rPr lang="en-US" sz="750" b="1" dirty="0">
                <a:solidFill>
                  <a:srgbClr val="DDAA55"/>
                </a:solidFill>
                <a:latin typeface="Arial" pitchFamily="34" charset="0"/>
                <a:ea typeface="Arial" pitchFamily="34" charset="-122"/>
                <a:cs typeface="Arial" pitchFamily="34" charset="-120"/>
              </a:rPr>
              <a:t>FCA OPINION IN PROGRESS</a:t>
            </a:r>
            <a:endParaRPr lang="en-US" sz="750" dirty="0"/>
          </a:p>
        </p:txBody>
      </p:sp>
      <p:sp>
        <p:nvSpPr>
          <p:cNvPr id="31" name="Text 29"/>
          <p:cNvSpPr/>
          <p:nvPr/>
        </p:nvSpPr>
        <p:spPr>
          <a:xfrm>
            <a:off x="6231636" y="1874520"/>
            <a:ext cx="2576322" cy="502920"/>
          </a:xfrm>
          <a:prstGeom prst="rect">
            <a:avLst/>
          </a:prstGeom>
          <a:noFill/>
          <a:ln/>
        </p:spPr>
        <p:txBody>
          <a:bodyPr wrap="square" rtlCol="0" anchor="ctr"/>
          <a:lstStyle/>
          <a:p>
            <a:pPr indent="0" marL="0">
              <a:buNone/>
            </a:pPr>
            <a:r>
              <a:rPr lang="en-US" sz="2200" b="1" dirty="0">
                <a:solidFill>
                  <a:srgbClr val="0A0A0A"/>
                </a:solidFill>
                <a:latin typeface="Arial" pitchFamily="34" charset="0"/>
                <a:ea typeface="Arial" pitchFamily="34" charset="-122"/>
                <a:cs typeface="Arial" pitchFamily="34" charset="-120"/>
              </a:rPr>
              <a:t>Post-MiFID II</a:t>
            </a:r>
            <a:endParaRPr lang="en-US" sz="2200" dirty="0"/>
          </a:p>
        </p:txBody>
      </p:sp>
      <p:sp>
        <p:nvSpPr>
          <p:cNvPr id="32" name="Text 30"/>
          <p:cNvSpPr/>
          <p:nvPr/>
        </p:nvSpPr>
        <p:spPr>
          <a:xfrm>
            <a:off x="6231636" y="2359152"/>
            <a:ext cx="2576322" cy="411480"/>
          </a:xfrm>
          <a:prstGeom prst="rect">
            <a:avLst/>
          </a:prstGeom>
          <a:noFill/>
          <a:ln/>
        </p:spPr>
        <p:txBody>
          <a:bodyPr wrap="square" rtlCol="0" anchor="ctr"/>
          <a:lstStyle/>
          <a:p>
            <a:pPr indent="0" marL="0">
              <a:buNone/>
            </a:pPr>
            <a:r>
              <a:rPr lang="en-US" sz="850" dirty="0">
                <a:solidFill>
                  <a:srgbClr val="888888"/>
                </a:solidFill>
                <a:latin typeface="Arial" pitchFamily="34" charset="0"/>
                <a:ea typeface="Arial" pitchFamily="34" charset="-122"/>
                <a:cs typeface="Arial" pitchFamily="34" charset="-120"/>
              </a:rPr>
              <a:t>boutique DPM</a:t>
            </a:r>
            <a:endParaRPr lang="en-US" sz="850" dirty="0"/>
          </a:p>
          <a:p>
            <a:pPr indent="0" marL="0">
              <a:buNone/>
            </a:pPr>
            <a:r>
              <a:rPr lang="en-US" sz="850" dirty="0">
                <a:solidFill>
                  <a:srgbClr val="888888"/>
                </a:solidFill>
                <a:latin typeface="Arial" pitchFamily="34" charset="0"/>
                <a:ea typeface="Arial" pitchFamily="34" charset="-122"/>
                <a:cs typeface="Arial" pitchFamily="34" charset="-120"/>
              </a:rPr>
              <a:t>market growth</a:t>
            </a:r>
            <a:endParaRPr lang="en-US" sz="850" dirty="0"/>
          </a:p>
        </p:txBody>
      </p:sp>
      <p:sp>
        <p:nvSpPr>
          <p:cNvPr id="33" name="Shape 31"/>
          <p:cNvSpPr/>
          <p:nvPr/>
        </p:nvSpPr>
        <p:spPr>
          <a:xfrm>
            <a:off x="6231636" y="2834640"/>
            <a:ext cx="2576322" cy="0"/>
          </a:xfrm>
          <a:prstGeom prst="line">
            <a:avLst/>
          </a:prstGeom>
          <a:noFill/>
          <a:ln w="6350">
            <a:solidFill>
              <a:srgbClr val="D0D0D0"/>
            </a:solidFill>
            <a:prstDash val="solid"/>
          </a:ln>
        </p:spPr>
        <p:txBody>
          <a:bodyPr/>
          <a:p/>
        </p:txBody>
      </p:sp>
      <p:sp>
        <p:nvSpPr>
          <p:cNvPr id="34" name="Text 32"/>
          <p:cNvSpPr/>
          <p:nvPr/>
        </p:nvSpPr>
        <p:spPr>
          <a:xfrm>
            <a:off x="6231636" y="2926080"/>
            <a:ext cx="2576322" cy="109728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Growing post-MiFID II unbundling. FCA regulatory opinion planned within 12 months. Will be escalated if required for a UK-based Proof Partner. Pre-distribution conversations open now.</a:t>
            </a:r>
            <a:endParaRPr lang="en-US" sz="950" dirty="0"/>
          </a:p>
        </p:txBody>
      </p:sp>
      <p:sp>
        <p:nvSpPr>
          <p:cNvPr id="35" name="Shape 33"/>
          <p:cNvSpPr/>
          <p:nvPr/>
        </p:nvSpPr>
        <p:spPr>
          <a:xfrm>
            <a:off x="8954262" y="1143000"/>
            <a:ext cx="2795778" cy="5074920"/>
          </a:xfrm>
          <a:prstGeom prst="rect">
            <a:avLst/>
          </a:prstGeom>
          <a:solidFill>
            <a:srgbClr val="F4F4F4"/>
          </a:solidFill>
          <a:ln/>
        </p:spPr>
        <p:txBody>
          <a:bodyPr/>
          <a:p/>
        </p:txBody>
      </p:sp>
      <p:sp>
        <p:nvSpPr>
          <p:cNvPr id="36" name="Shape 34"/>
          <p:cNvSpPr/>
          <p:nvPr/>
        </p:nvSpPr>
        <p:spPr>
          <a:xfrm>
            <a:off x="8954262" y="1143000"/>
            <a:ext cx="2795778" cy="54864"/>
          </a:xfrm>
          <a:prstGeom prst="rect">
            <a:avLst/>
          </a:prstGeom>
          <a:solidFill>
            <a:srgbClr val="888888"/>
          </a:solidFill>
          <a:ln/>
        </p:spPr>
        <p:txBody>
          <a:bodyPr/>
          <a:p/>
        </p:txBody>
      </p:sp>
      <p:sp>
        <p:nvSpPr>
          <p:cNvPr id="37" name="Text 35"/>
          <p:cNvSpPr/>
          <p:nvPr/>
        </p:nvSpPr>
        <p:spPr>
          <a:xfrm>
            <a:off x="9063990" y="1234440"/>
            <a:ext cx="2576322" cy="274320"/>
          </a:xfrm>
          <a:prstGeom prst="rect">
            <a:avLst/>
          </a:prstGeom>
          <a:noFill/>
          <a:ln/>
        </p:spPr>
        <p:txBody>
          <a:bodyPr wrap="square" rtlCol="0" anchor="ctr"/>
          <a:lstStyle/>
          <a:p>
            <a:pPr indent="0" marL="0">
              <a:buNone/>
            </a:pPr>
            <a:r>
              <a:rPr lang="en-US" sz="1200" b="1" dirty="0">
                <a:solidFill>
                  <a:srgbClr val="0A0A0A"/>
                </a:solidFill>
                <a:latin typeface="Arial" pitchFamily="34" charset="0"/>
                <a:ea typeface="Arial" pitchFamily="34" charset="-122"/>
                <a:cs typeface="Arial" pitchFamily="34" charset="-120"/>
              </a:rPr>
              <a:t>SE Asia broadly</a:t>
            </a:r>
            <a:endParaRPr lang="en-US" sz="1200" dirty="0"/>
          </a:p>
        </p:txBody>
      </p:sp>
      <p:sp>
        <p:nvSpPr>
          <p:cNvPr id="38" name="Text 36"/>
          <p:cNvSpPr/>
          <p:nvPr/>
        </p:nvSpPr>
        <p:spPr>
          <a:xfrm>
            <a:off x="9063990" y="1508760"/>
            <a:ext cx="2576322" cy="201168"/>
          </a:xfrm>
          <a:prstGeom prst="rect">
            <a:avLst/>
          </a:prstGeom>
          <a:noFill/>
          <a:ln/>
        </p:spPr>
        <p:txBody>
          <a:bodyPr wrap="square" rtlCol="0" anchor="ctr"/>
          <a:lstStyle/>
          <a:p>
            <a:pPr indent="0" marL="0">
              <a:buNone/>
            </a:pPr>
            <a:r>
              <a:rPr lang="en-US" sz="750" b="1" dirty="0">
                <a:solidFill>
                  <a:srgbClr val="888888"/>
                </a:solidFill>
                <a:latin typeface="Arial" pitchFamily="34" charset="0"/>
                <a:ea typeface="Arial" pitchFamily="34" charset="-122"/>
                <a:cs typeface="Arial" pitchFamily="34" charset="-120"/>
              </a:rPr>
              <a:t>PIPELINE</a:t>
            </a:r>
            <a:endParaRPr lang="en-US" sz="750" dirty="0"/>
          </a:p>
        </p:txBody>
      </p:sp>
      <p:sp>
        <p:nvSpPr>
          <p:cNvPr id="39" name="Text 37"/>
          <p:cNvSpPr/>
          <p:nvPr/>
        </p:nvSpPr>
        <p:spPr>
          <a:xfrm>
            <a:off x="9063990" y="1874520"/>
            <a:ext cx="2576322" cy="502920"/>
          </a:xfrm>
          <a:prstGeom prst="rect">
            <a:avLst/>
          </a:prstGeom>
          <a:noFill/>
          <a:ln/>
        </p:spPr>
        <p:txBody>
          <a:bodyPr wrap="square" rtlCol="0" anchor="ctr"/>
          <a:lstStyle/>
          <a:p>
            <a:pPr indent="0" marL="0">
              <a:buNone/>
            </a:pPr>
            <a:r>
              <a:rPr lang="en-US" sz="2200" b="1" dirty="0">
                <a:solidFill>
                  <a:srgbClr val="0A0A0A"/>
                </a:solidFill>
                <a:latin typeface="Arial" pitchFamily="34" charset="0"/>
                <a:ea typeface="Arial" pitchFamily="34" charset="-122"/>
                <a:cs typeface="Arial" pitchFamily="34" charset="-120"/>
              </a:rPr>
              <a:t>EAM / MFO</a:t>
            </a:r>
            <a:endParaRPr lang="en-US" sz="2200" dirty="0"/>
          </a:p>
        </p:txBody>
      </p:sp>
      <p:sp>
        <p:nvSpPr>
          <p:cNvPr id="40" name="Text 38"/>
          <p:cNvSpPr/>
          <p:nvPr/>
        </p:nvSpPr>
        <p:spPr>
          <a:xfrm>
            <a:off x="9063990" y="2359152"/>
            <a:ext cx="2576322" cy="411480"/>
          </a:xfrm>
          <a:prstGeom prst="rect">
            <a:avLst/>
          </a:prstGeom>
          <a:noFill/>
          <a:ln/>
        </p:spPr>
        <p:txBody>
          <a:bodyPr wrap="square" rtlCol="0" anchor="ctr"/>
          <a:lstStyle/>
          <a:p>
            <a:pPr indent="0" marL="0">
              <a:buNone/>
            </a:pPr>
            <a:r>
              <a:rPr lang="en-US" sz="850" dirty="0">
                <a:solidFill>
                  <a:srgbClr val="888888"/>
                </a:solidFill>
                <a:latin typeface="Arial" pitchFamily="34" charset="0"/>
                <a:ea typeface="Arial" pitchFamily="34" charset="-122"/>
                <a:cs typeface="Arial" pitchFamily="34" charset="-120"/>
              </a:rPr>
              <a:t>growth market</a:t>
            </a:r>
            <a:endParaRPr lang="en-US" sz="850" dirty="0"/>
          </a:p>
          <a:p>
            <a:pPr indent="0" marL="0">
              <a:buNone/>
            </a:pPr>
            <a:r>
              <a:rPr lang="en-US" sz="850" dirty="0">
                <a:solidFill>
                  <a:srgbClr val="888888"/>
                </a:solidFill>
                <a:latin typeface="Arial" pitchFamily="34" charset="0"/>
                <a:ea typeface="Arial" pitchFamily="34" charset="-122"/>
                <a:cs typeface="Arial" pitchFamily="34" charset="-120"/>
              </a:rPr>
              <a:t>Compliance increasing</a:t>
            </a:r>
            <a:endParaRPr lang="en-US" sz="850" dirty="0"/>
          </a:p>
        </p:txBody>
      </p:sp>
      <p:sp>
        <p:nvSpPr>
          <p:cNvPr id="41" name="Shape 39"/>
          <p:cNvSpPr/>
          <p:nvPr/>
        </p:nvSpPr>
        <p:spPr>
          <a:xfrm>
            <a:off x="9063990" y="2834640"/>
            <a:ext cx="2576322" cy="0"/>
          </a:xfrm>
          <a:prstGeom prst="line">
            <a:avLst/>
          </a:prstGeom>
          <a:noFill/>
          <a:ln w="6350">
            <a:solidFill>
              <a:srgbClr val="D0D0D0"/>
            </a:solidFill>
            <a:prstDash val="solid"/>
          </a:ln>
        </p:spPr>
        <p:txBody>
          <a:bodyPr/>
          <a:p/>
        </p:txBody>
      </p:sp>
      <p:sp>
        <p:nvSpPr>
          <p:cNvPr id="42" name="Text 40"/>
          <p:cNvSpPr/>
          <p:nvPr/>
        </p:nvSpPr>
        <p:spPr>
          <a:xfrm>
            <a:off x="9063990" y="2926080"/>
            <a:ext cx="2576322" cy="109728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Emerging market asset manager growth. Increasing compliance requirements. A Wrapped channel through major Asian custodians reaches dozens of EAMs in a single partnership.</a:t>
            </a:r>
            <a:endParaRPr lang="en-US" sz="950" dirty="0"/>
          </a:p>
        </p:txBody>
      </p:sp>
      <p:sp>
        <p:nvSpPr>
          <p:cNvPr id="43" name="Shape 41"/>
          <p:cNvSpPr/>
          <p:nvPr/>
        </p:nvSpPr>
        <p:spPr>
          <a:xfrm>
            <a:off x="457200" y="5440680"/>
            <a:ext cx="11274552" cy="685800"/>
          </a:xfrm>
          <a:prstGeom prst="rect">
            <a:avLst/>
          </a:prstGeom>
          <a:solidFill>
            <a:srgbClr val="F0F7EA"/>
          </a:solidFill>
          <a:ln/>
        </p:spPr>
        <p:txBody>
          <a:bodyPr/>
          <a:p/>
        </p:txBody>
      </p:sp>
      <p:sp>
        <p:nvSpPr>
          <p:cNvPr id="44" name="Text 42"/>
          <p:cNvSpPr/>
          <p:nvPr/>
        </p:nvSpPr>
        <p:spPr>
          <a:xfrm>
            <a:off x="594360" y="5513832"/>
            <a:ext cx="11000232" cy="539496"/>
          </a:xfrm>
          <a:prstGeom prst="rect">
            <a:avLst/>
          </a:prstGeom>
          <a:noFill/>
          <a:ln/>
        </p:spPr>
        <p:txBody>
          <a:bodyPr wrap="square" rtlCol="0" anchor="ctr"/>
          <a:lstStyle/>
          <a:p>
            <a:pPr indent="0" marL="0">
              <a:buNone/>
            </a:pPr>
            <a:r>
              <a:rPr lang="en-US" sz="850" dirty="0">
                <a:solidFill>
                  <a:srgbClr val="1A1A1A"/>
                </a:solidFill>
                <a:latin typeface="Arial" pitchFamily="34" charset="0"/>
                <a:ea typeface="Arial" pitchFamily="34" charset="-122"/>
                <a:cs typeface="Arial" pitchFamily="34" charset="-120"/>
              </a:rPr>
              <a:t>Addressable market: Singapore alone at 10% penetration across pricing tiers represents ~US$5M–US$8M ARR. Three-market primary addressable (Singapore, UK, Switzerland) at conservative penetration: ~US$15M ARR. Competitive set — Iress, Advent Geneva, Enfusion, Bloomberg PORT — prices above US$100,000/year for this segment. Vektor sits below the institutional floor and above the spreadsheet ceiling. Additional pipeline markets: Rest of Europe (Luxembourg, Germany, Liechtenstein, Channel Islands), SE Asia broadly, DIFC/UAE — see investor memo for full market analysis.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548640"/>
          </a:xfrm>
          <a:prstGeom prst="rect">
            <a:avLst/>
          </a:prstGeom>
          <a:solidFill>
            <a:srgbClr val="0A0A0A"/>
          </a:solidFill>
          <a:ln/>
        </p:spPr>
        <p:txBody>
          <a:bodyPr/>
          <a:p/>
        </p:txBody>
      </p:sp>
      <p:sp>
        <p:nvSpPr>
          <p:cNvPr id="3" name="Text 1"/>
          <p:cNvSpPr/>
          <p:nvPr/>
        </p:nvSpPr>
        <p:spPr>
          <a:xfrm>
            <a:off x="457200" y="45720"/>
            <a:ext cx="182880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Invest</a:t>
            </a:r>
            <a:pPr indent="0" marL="0">
              <a:buNone/>
            </a:pPr>
            <a:r>
              <a:rPr lang="en-US" sz="1400" b="1" dirty="0">
                <a:solidFill>
                  <a:srgbClr val="85D155"/>
                </a:solidFill>
                <a:latin typeface="Arial" pitchFamily="34" charset="0"/>
                <a:ea typeface="Arial" pitchFamily="34" charset="-122"/>
                <a:cs typeface="Arial" pitchFamily="34" charset="-120"/>
              </a:rPr>
              <a:t>Puppy</a:t>
            </a:r>
            <a:endParaRPr lang="en-US" sz="1400" dirty="0"/>
          </a:p>
        </p:txBody>
      </p:sp>
      <p:sp>
        <p:nvSpPr>
          <p:cNvPr id="4" name="Text 2"/>
          <p:cNvSpPr/>
          <p:nvPr/>
        </p:nvSpPr>
        <p:spPr>
          <a:xfrm>
            <a:off x="8531352" y="45720"/>
            <a:ext cx="3200400" cy="274320"/>
          </a:xfrm>
          <a:prstGeom prst="rect">
            <a:avLst/>
          </a:prstGeom>
          <a:noFill/>
          <a:ln/>
        </p:spPr>
        <p:txBody>
          <a:bodyPr wrap="square" rtlCol="0" anchor="ctr"/>
          <a:lstStyle/>
          <a:p>
            <a:pPr algn="r" indent="0" marL="0">
              <a:buNone/>
            </a:pPr>
            <a:r>
              <a:rPr lang="en-US" sz="900" dirty="0">
                <a:solidFill>
                  <a:srgbClr val="FFFFFF"/>
                </a:solidFill>
                <a:latin typeface="Arial" pitchFamily="34" charset="0"/>
                <a:ea typeface="Arial" pitchFamily="34" charset="-122"/>
                <a:cs typeface="Arial" pitchFamily="34" charset="-120"/>
              </a:rPr>
              <a:t>Financial Projections</a:t>
            </a:r>
            <a:endParaRPr lang="en-US" sz="900" dirty="0"/>
          </a:p>
        </p:txBody>
      </p:sp>
      <p:sp>
        <p:nvSpPr>
          <p:cNvPr id="5" name="Text 3"/>
          <p:cNvSpPr/>
          <p:nvPr/>
        </p:nvSpPr>
        <p:spPr>
          <a:xfrm>
            <a:off x="8531352" y="301752"/>
            <a:ext cx="3200400" cy="201168"/>
          </a:xfrm>
          <a:prstGeom prst="rect">
            <a:avLst/>
          </a:prstGeom>
          <a:noFill/>
          <a:ln/>
        </p:spPr>
        <p:txBody>
          <a:bodyPr wrap="square" rtlCol="0" anchor="ctr"/>
          <a:lstStyle/>
          <a:p>
            <a:pPr algn="r" indent="0" marL="0">
              <a:buNone/>
            </a:pPr>
            <a:r>
              <a:rPr lang="en-US" sz="800" dirty="0">
                <a:solidFill>
                  <a:srgbClr val="888888"/>
                </a:solidFill>
                <a:latin typeface="Arial" pitchFamily="34" charset="0"/>
                <a:ea typeface="Arial" pitchFamily="34" charset="-122"/>
                <a:cs typeface="Arial" pitchFamily="34" charset="-120"/>
              </a:rPr>
              <a:t>Confidential · May 2026</a:t>
            </a:r>
            <a:endParaRPr lang="en-US" sz="800" dirty="0"/>
          </a:p>
        </p:txBody>
      </p:sp>
      <p:sp>
        <p:nvSpPr>
          <p:cNvPr id="6" name="Shape 4"/>
          <p:cNvSpPr/>
          <p:nvPr/>
        </p:nvSpPr>
        <p:spPr>
          <a:xfrm>
            <a:off x="0" y="548640"/>
            <a:ext cx="12188952" cy="0"/>
          </a:xfrm>
          <a:prstGeom prst="line">
            <a:avLst/>
          </a:prstGeom>
          <a:noFill/>
          <a:ln w="25400">
            <a:solidFill>
              <a:srgbClr val="85D155"/>
            </a:solidFill>
            <a:prstDash val="solid"/>
          </a:ln>
        </p:spPr>
        <p:txBody>
          <a:bodyPr/>
          <a:p/>
        </p:txBody>
      </p:sp>
      <p:sp>
        <p:nvSpPr>
          <p:cNvPr id="7" name="Shape 5"/>
          <p:cNvSpPr/>
          <p:nvPr/>
        </p:nvSpPr>
        <p:spPr>
          <a:xfrm>
            <a:off x="457200" y="6510528"/>
            <a:ext cx="11274552" cy="0"/>
          </a:xfrm>
          <a:prstGeom prst="line">
            <a:avLst/>
          </a:prstGeom>
          <a:noFill/>
          <a:ln w="6350">
            <a:solidFill>
              <a:srgbClr val="D0D0D0"/>
            </a:solidFill>
            <a:prstDash val="solid"/>
          </a:ln>
        </p:spPr>
        <p:txBody>
          <a:bodyPr/>
          <a:p/>
        </p:txBody>
      </p:sp>
      <p:sp>
        <p:nvSpPr>
          <p:cNvPr id="8" name="Text 6"/>
          <p:cNvSpPr/>
          <p:nvPr/>
        </p:nvSpPr>
        <p:spPr>
          <a:xfrm>
            <a:off x="457200" y="6547104"/>
            <a:ext cx="10360152" cy="219456"/>
          </a:xfrm>
          <a:prstGeom prst="rect">
            <a:avLst/>
          </a:prstGeom>
          <a:noFill/>
          <a:ln/>
        </p:spPr>
        <p:txBody>
          <a:bodyPr wrap="square" rtlCol="0" anchor="ctr"/>
          <a:lstStyle/>
          <a:p>
            <a:pPr indent="0" marL="0">
              <a:buNone/>
            </a:pPr>
            <a:r>
              <a:rPr lang="en-US" sz="750" dirty="0">
                <a:solidFill>
                  <a:srgbClr val="888888"/>
                </a:solidFill>
                <a:latin typeface="Arial" pitchFamily="34" charset="0"/>
                <a:ea typeface="Arial" pitchFamily="34" charset="-122"/>
                <a:cs typeface="Arial" pitchFamily="34" charset="-120"/>
              </a:rPr>
              <a:t>InvestPuppy Pte Ltd · investpuppy.com · Confidential</a:t>
            </a:r>
            <a:endParaRPr lang="en-US" sz="750" dirty="0"/>
          </a:p>
        </p:txBody>
      </p:sp>
      <p:sp>
        <p:nvSpPr>
          <p:cNvPr id="9" name="Text 7"/>
          <p:cNvSpPr/>
          <p:nvPr/>
        </p:nvSpPr>
        <p:spPr>
          <a:xfrm>
            <a:off x="11457432" y="6547104"/>
            <a:ext cx="502920" cy="219456"/>
          </a:xfrm>
          <a:prstGeom prst="rect">
            <a:avLst/>
          </a:prstGeom>
          <a:noFill/>
          <a:ln/>
        </p:spPr>
        <p:txBody>
          <a:bodyPr wrap="square" rtlCol="0" anchor="ctr"/>
          <a:lstStyle/>
          <a:p>
            <a:pPr algn="r" indent="0" marL="0">
              <a:buNone/>
            </a:pPr>
            <a:r>
              <a:rPr lang="en-US" sz="750" dirty="0">
                <a:solidFill>
                  <a:srgbClr val="888888"/>
                </a:solidFill>
                <a:latin typeface="Arial" pitchFamily="34" charset="0"/>
                <a:ea typeface="Arial" pitchFamily="34" charset="-122"/>
                <a:cs typeface="Arial" pitchFamily="34" charset="-120"/>
              </a:rPr>
              <a:t>9</a:t>
            </a:r>
            <a:endParaRPr lang="en-US" sz="750" dirty="0"/>
          </a:p>
        </p:txBody>
      </p:sp>
      <p:sp>
        <p:nvSpPr>
          <p:cNvPr id="10" name="Text 8"/>
          <p:cNvSpPr/>
          <p:nvPr/>
        </p:nvSpPr>
        <p:spPr>
          <a:xfrm>
            <a:off x="457200" y="685800"/>
            <a:ext cx="11274552" cy="274320"/>
          </a:xfrm>
          <a:prstGeom prst="rect">
            <a:avLst/>
          </a:prstGeom>
          <a:noFill/>
          <a:ln/>
        </p:spPr>
        <p:txBody>
          <a:bodyPr wrap="square" rtlCol="0" anchor="ctr"/>
          <a:lstStyle/>
          <a:p>
            <a:pPr indent="0" marL="0">
              <a:buNone/>
            </a:pPr>
            <a:r>
              <a:rPr lang="en-US" sz="1200" b="1" dirty="0">
                <a:solidFill>
                  <a:srgbClr val="0A0A0A"/>
                </a:solidFill>
                <a:latin typeface="Arial" pitchFamily="34" charset="0"/>
                <a:ea typeface="Arial" pitchFamily="34" charset="-122"/>
                <a:cs typeface="Arial" pitchFamily="34" charset="-120"/>
              </a:rPr>
              <a:t>Base Case — Three revenue streams (USD)</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11247120" cy="914400"/>
        </p:xfrm>
        <a:graphic>
          <a:graphicData uri="http://schemas.openxmlformats.org/drawingml/2006/table">
            <a:tbl>
              <a:tblPr/>
              <a:tblGrid>
                <a:gridCol w="1874520"/>
                <a:gridCol w="1874520"/>
                <a:gridCol w="1874520"/>
                <a:gridCol w="1874520"/>
                <a:gridCol w="1874520"/>
                <a:gridCol w="1874520"/>
              </a:tblGrid>
              <a:tr h="365760">
                <a:tc>
                  <a:txBody>
                    <a:bodyPr/>
                    <a:lstStyle/>
                    <a:p>
                      <a:pPr algn="l" indent="0" marL="0">
                        <a:buNone/>
                      </a:pPr>
                      <a:endParaRPr lang="en-US" sz="8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A0A0A"/>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Year 1</a:t>
                      </a:r>
                      <a:endParaRPr lang="en-US" sz="8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A0A0A"/>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Year 2</a:t>
                      </a:r>
                      <a:endParaRPr lang="en-US" sz="8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A0A0A"/>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Year 3</a:t>
                      </a:r>
                      <a:endParaRPr lang="en-US" sz="8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A0A0A"/>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Year 4</a:t>
                      </a:r>
                      <a:endParaRPr lang="en-US" sz="8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A0A0A"/>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Year 5</a:t>
                      </a:r>
                      <a:endParaRPr lang="en-US" sz="8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A0A0A"/>
                    </a:solidFill>
                  </a:tcPr>
                </a:tc>
              </a:tr>
              <a:tr h="365760">
                <a:tc>
                  <a:txBody>
                    <a:bodyPr/>
                    <a:lstStyle/>
                    <a:p>
                      <a:pPr algn="l" indent="0" marL="0">
                        <a:buNone/>
                      </a:pPr>
                      <a:r>
                        <a:rPr lang="en-US" sz="1000" dirty="0">
                          <a:solidFill>
                            <a:srgbClr val="0A0A0A"/>
                          </a:solidFill>
                          <a:latin typeface="Arial" pitchFamily="34" charset="0"/>
                          <a:ea typeface="Arial" pitchFamily="34" charset="-122"/>
                          <a:cs typeface="Arial" pitchFamily="34" charset="-120"/>
                        </a:rPr>
                        <a:t>Boutique ARR</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$77K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$167K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$398K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$763K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$1,310K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0A0A0A"/>
                          </a:solidFill>
                          <a:latin typeface="Arial" pitchFamily="34" charset="0"/>
                          <a:ea typeface="Arial" pitchFamily="34" charset="-122"/>
                          <a:cs typeface="Arial" pitchFamily="34" charset="-120"/>
                        </a:rPr>
                        <a:t>House ARR</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$250K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$500K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$750K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r>
              <a:tr h="365760">
                <a:tc>
                  <a:txBody>
                    <a:bodyPr/>
                    <a:lstStyle/>
                    <a:p>
                      <a:pPr algn="l" indent="0" marL="0">
                        <a:buNone/>
                      </a:pPr>
                      <a:r>
                        <a:rPr lang="en-US" sz="1000" dirty="0">
                          <a:solidFill>
                            <a:srgbClr val="0A0A0A"/>
                          </a:solidFill>
                          <a:latin typeface="Arial" pitchFamily="34" charset="0"/>
                          <a:ea typeface="Arial" pitchFamily="34" charset="-122"/>
                          <a:cs typeface="Arial" pitchFamily="34" charset="-120"/>
                        </a:rPr>
                        <a:t>Wrapped revenue</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$230K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$230K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$460K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r>
              <a:tr h="365760">
                <a:tc>
                  <a:txBody>
                    <a:bodyPr/>
                    <a:lstStyle/>
                    <a:p>
                      <a:pPr algn="l" indent="0" marL="0">
                        <a:buNone/>
                      </a:pPr>
                      <a:r>
                        <a:rPr lang="en-US" sz="1000" b="1" dirty="0">
                          <a:solidFill>
                            <a:srgbClr val="85D155"/>
                          </a:solidFill>
                          <a:latin typeface="Arial" pitchFamily="34" charset="0"/>
                          <a:ea typeface="Arial" pitchFamily="34" charset="-122"/>
                          <a:cs typeface="Arial" pitchFamily="34" charset="-120"/>
                        </a:rPr>
                        <a:t>Total ARR</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F0F0F"/>
                    </a:solidFill>
                  </a:tcPr>
                </a:tc>
                <a:tc>
                  <a:txBody>
                    <a:bodyPr/>
                    <a:lstStyle/>
                    <a:p>
                      <a:pPr algn="ctr" indent="0" marL="0">
                        <a:buNone/>
                      </a:pPr>
                      <a:r>
                        <a:rPr lang="en-US" sz="1000" b="1" dirty="0">
                          <a:solidFill>
                            <a:srgbClr val="85D155"/>
                          </a:solidFill>
                          <a:latin typeface="Arial" pitchFamily="34" charset="0"/>
                          <a:ea typeface="Arial" pitchFamily="34" charset="-122"/>
                          <a:cs typeface="Arial" pitchFamily="34" charset="-120"/>
                        </a:rPr>
                        <a:t>$77K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F0F0F"/>
                    </a:solidFill>
                  </a:tcPr>
                </a:tc>
                <a:tc>
                  <a:txBody>
                    <a:bodyPr/>
                    <a:lstStyle/>
                    <a:p>
                      <a:pPr algn="ctr" indent="0" marL="0">
                        <a:buNone/>
                      </a:pPr>
                      <a:r>
                        <a:rPr lang="en-US" sz="1000" b="1" dirty="0">
                          <a:solidFill>
                            <a:srgbClr val="85D155"/>
                          </a:solidFill>
                          <a:latin typeface="Arial" pitchFamily="34" charset="0"/>
                          <a:ea typeface="Arial" pitchFamily="34" charset="-122"/>
                          <a:cs typeface="Arial" pitchFamily="34" charset="-120"/>
                        </a:rPr>
                        <a:t>$167K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F0F0F"/>
                    </a:solidFill>
                  </a:tcPr>
                </a:tc>
                <a:tc>
                  <a:txBody>
                    <a:bodyPr/>
                    <a:lstStyle/>
                    <a:p>
                      <a:pPr algn="ctr" indent="0" marL="0">
                        <a:buNone/>
                      </a:pPr>
                      <a:r>
                        <a:rPr lang="en-US" sz="1000" b="1" dirty="0">
                          <a:solidFill>
                            <a:srgbClr val="85D155"/>
                          </a:solidFill>
                          <a:latin typeface="Arial" pitchFamily="34" charset="0"/>
                          <a:ea typeface="Arial" pitchFamily="34" charset="-122"/>
                          <a:cs typeface="Arial" pitchFamily="34" charset="-120"/>
                        </a:rPr>
                        <a:t>$878K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F0F0F"/>
                    </a:solidFill>
                  </a:tcPr>
                </a:tc>
                <a:tc>
                  <a:txBody>
                    <a:bodyPr/>
                    <a:lstStyle/>
                    <a:p>
                      <a:pPr algn="ctr" indent="0" marL="0">
                        <a:buNone/>
                      </a:pPr>
                      <a:r>
                        <a:rPr lang="en-US" sz="1000" b="1" dirty="0">
                          <a:solidFill>
                            <a:srgbClr val="85D155"/>
                          </a:solidFill>
                          <a:latin typeface="Arial" pitchFamily="34" charset="0"/>
                          <a:ea typeface="Arial" pitchFamily="34" charset="-122"/>
                          <a:cs typeface="Arial" pitchFamily="34" charset="-120"/>
                        </a:rPr>
                        <a:t>$1,493K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F0F0F"/>
                    </a:solidFill>
                  </a:tcPr>
                </a:tc>
                <a:tc>
                  <a:txBody>
                    <a:bodyPr/>
                    <a:lstStyle/>
                    <a:p>
                      <a:pPr algn="ctr" indent="0" marL="0">
                        <a:buNone/>
                      </a:pPr>
                      <a:r>
                        <a:rPr lang="en-US" sz="1000" b="1" dirty="0">
                          <a:solidFill>
                            <a:srgbClr val="85D155"/>
                          </a:solidFill>
                          <a:latin typeface="Arial" pitchFamily="34" charset="0"/>
                          <a:ea typeface="Arial" pitchFamily="34" charset="-122"/>
                          <a:cs typeface="Arial" pitchFamily="34" charset="-120"/>
                        </a:rPr>
                        <a:t>$2,520K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F0F0F"/>
                    </a:solidFill>
                  </a:tcPr>
                </a:tc>
              </a:tr>
              <a:tr h="365760">
                <a:tc>
                  <a:txBody>
                    <a:bodyPr/>
                    <a:lstStyle/>
                    <a:p>
                      <a:pPr algn="l" indent="0" marL="0">
                        <a:buNone/>
                      </a:pPr>
                      <a:r>
                        <a:rPr lang="en-US" sz="1000" dirty="0">
                          <a:solidFill>
                            <a:srgbClr val="0A0A0A"/>
                          </a:solidFill>
                          <a:latin typeface="Arial" pitchFamily="34" charset="0"/>
                          <a:ea typeface="Arial" pitchFamily="34" charset="-122"/>
                          <a:cs typeface="Arial" pitchFamily="34" charset="-120"/>
                        </a:rPr>
                        <a:t>EBITDA</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C3333"/>
                          </a:solidFill>
                          <a:latin typeface="Arial" pitchFamily="34" charset="0"/>
                          <a:ea typeface="Arial" pitchFamily="34" charset="-122"/>
                          <a:cs typeface="Arial" pitchFamily="34" charset="-120"/>
                        </a:rPr>
                        <a:t>($1,104K)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C3333"/>
                          </a:solidFill>
                          <a:latin typeface="Arial" pitchFamily="34" charset="0"/>
                          <a:ea typeface="Arial" pitchFamily="34" charset="-122"/>
                          <a:cs typeface="Arial" pitchFamily="34" charset="-120"/>
                        </a:rPr>
                        <a:t>($1,132K)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AA33"/>
                          </a:solidFill>
                          <a:latin typeface="Arial" pitchFamily="34" charset="0"/>
                          <a:ea typeface="Arial" pitchFamily="34" charset="-122"/>
                          <a:cs typeface="Arial" pitchFamily="34" charset="-120"/>
                        </a:rPr>
                        <a:t>($618K)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AA33"/>
                          </a:solidFill>
                          <a:latin typeface="Arial" pitchFamily="34" charset="0"/>
                          <a:ea typeface="Arial" pitchFamily="34" charset="-122"/>
                          <a:cs typeface="Arial" pitchFamily="34" charset="-120"/>
                        </a:rPr>
                        <a:t>($299K)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AA33"/>
                          </a:solidFill>
                          <a:latin typeface="Arial" pitchFamily="34" charset="0"/>
                          <a:ea typeface="Arial" pitchFamily="34" charset="-122"/>
                          <a:cs typeface="Arial" pitchFamily="34" charset="-120"/>
                        </a:rPr>
                        <a:t>$366K</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0A0A0A"/>
                          </a:solidFill>
                          <a:latin typeface="Arial" pitchFamily="34" charset="0"/>
                          <a:ea typeface="Arial" pitchFamily="34" charset="-122"/>
                          <a:cs typeface="Arial" pitchFamily="34" charset="-120"/>
                        </a:rPr>
                        <a:t>EBITDA margin</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n/m</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n/m</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n/m</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n/m</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0A0A0A"/>
                          </a:solidFill>
                          <a:latin typeface="Arial" pitchFamily="34" charset="0"/>
                          <a:ea typeface="Arial" pitchFamily="34" charset="-122"/>
                          <a:cs typeface="Arial" pitchFamily="34" charset="-120"/>
                        </a:rPr>
                        <a:t>15%</a:t>
                      </a:r>
                      <a:endParaRPr lang="en-US" sz="10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r>
            </a:tbl>
          </a:graphicData>
        </a:graphic>
      </p:graphicFrame>
      <p:sp>
        <p:nvSpPr>
          <p:cNvPr id="12" name="Shape 9"/>
          <p:cNvSpPr/>
          <p:nvPr/>
        </p:nvSpPr>
        <p:spPr>
          <a:xfrm>
            <a:off x="457200" y="4251960"/>
            <a:ext cx="3727704" cy="822960"/>
          </a:xfrm>
          <a:prstGeom prst="rect">
            <a:avLst/>
          </a:prstGeom>
          <a:solidFill>
            <a:srgbClr val="F4F4F4"/>
          </a:solidFill>
          <a:ln/>
        </p:spPr>
        <p:txBody>
          <a:bodyPr/>
          <a:p/>
        </p:txBody>
      </p:sp>
      <p:sp>
        <p:nvSpPr>
          <p:cNvPr id="13" name="Text 10"/>
          <p:cNvSpPr/>
          <p:nvPr/>
        </p:nvSpPr>
        <p:spPr>
          <a:xfrm>
            <a:off x="548640" y="4315968"/>
            <a:ext cx="3544824" cy="201168"/>
          </a:xfrm>
          <a:prstGeom prst="rect">
            <a:avLst/>
          </a:prstGeom>
          <a:noFill/>
          <a:ln/>
        </p:spPr>
        <p:txBody>
          <a:bodyPr wrap="square" rtlCol="0" anchor="ctr"/>
          <a:lstStyle/>
          <a:p>
            <a:pPr indent="0" marL="0">
              <a:buNone/>
            </a:pPr>
            <a:r>
              <a:rPr lang="en-US" sz="750" b="1" dirty="0">
                <a:solidFill>
                  <a:srgbClr val="888888"/>
                </a:solidFill>
                <a:latin typeface="Arial" pitchFamily="34" charset="0"/>
                <a:ea typeface="Arial" pitchFamily="34" charset="-122"/>
                <a:cs typeface="Arial" pitchFamily="34" charset="-120"/>
              </a:rPr>
              <a:t>BEAR CASE</a:t>
            </a:r>
            <a:endParaRPr lang="en-US" sz="750" dirty="0"/>
          </a:p>
        </p:txBody>
      </p:sp>
      <p:sp>
        <p:nvSpPr>
          <p:cNvPr id="14" name="Text 11"/>
          <p:cNvSpPr/>
          <p:nvPr/>
        </p:nvSpPr>
        <p:spPr>
          <a:xfrm>
            <a:off x="548640" y="4498848"/>
            <a:ext cx="3544824" cy="237744"/>
          </a:xfrm>
          <a:prstGeom prst="rect">
            <a:avLst/>
          </a:prstGeom>
          <a:noFill/>
          <a:ln/>
        </p:spPr>
        <p:txBody>
          <a:bodyPr wrap="square" rtlCol="0" anchor="ctr"/>
          <a:lstStyle/>
          <a:p>
            <a:pPr indent="0" marL="0">
              <a:buNone/>
            </a:pPr>
            <a:r>
              <a:rPr lang="en-US" sz="1100" b="1" dirty="0">
                <a:solidFill>
                  <a:srgbClr val="0A0A0A"/>
                </a:solidFill>
                <a:latin typeface="Arial" pitchFamily="34" charset="0"/>
                <a:ea typeface="Arial" pitchFamily="34" charset="-122"/>
                <a:cs typeface="Arial" pitchFamily="34" charset="-120"/>
              </a:rPr>
              <a:t>US$1,249K ARR</a:t>
            </a:r>
            <a:endParaRPr lang="en-US" sz="1100" dirty="0"/>
          </a:p>
        </p:txBody>
      </p:sp>
      <p:sp>
        <p:nvSpPr>
          <p:cNvPr id="15" name="Text 12"/>
          <p:cNvSpPr/>
          <p:nvPr/>
        </p:nvSpPr>
        <p:spPr>
          <a:xfrm>
            <a:off x="548640" y="4736592"/>
            <a:ext cx="3544824" cy="256032"/>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Slower boutique ramp · first House Year 4</a:t>
            </a:r>
            <a:endParaRPr lang="en-US" sz="800" dirty="0"/>
          </a:p>
        </p:txBody>
      </p:sp>
      <p:sp>
        <p:nvSpPr>
          <p:cNvPr id="16" name="Shape 13"/>
          <p:cNvSpPr/>
          <p:nvPr/>
        </p:nvSpPr>
        <p:spPr>
          <a:xfrm>
            <a:off x="4230624" y="4251960"/>
            <a:ext cx="3727704" cy="822960"/>
          </a:xfrm>
          <a:prstGeom prst="rect">
            <a:avLst/>
          </a:prstGeom>
          <a:solidFill>
            <a:srgbClr val="0A0A0A"/>
          </a:solidFill>
          <a:ln/>
        </p:spPr>
        <p:txBody>
          <a:bodyPr/>
          <a:p/>
        </p:txBody>
      </p:sp>
      <p:sp>
        <p:nvSpPr>
          <p:cNvPr id="17" name="Text 14"/>
          <p:cNvSpPr/>
          <p:nvPr/>
        </p:nvSpPr>
        <p:spPr>
          <a:xfrm>
            <a:off x="4322064" y="4315968"/>
            <a:ext cx="3544824" cy="201168"/>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BASE CASE</a:t>
            </a:r>
            <a:endParaRPr lang="en-US" sz="750" dirty="0"/>
          </a:p>
        </p:txBody>
      </p:sp>
      <p:sp>
        <p:nvSpPr>
          <p:cNvPr id="18" name="Text 15"/>
          <p:cNvSpPr/>
          <p:nvPr/>
        </p:nvSpPr>
        <p:spPr>
          <a:xfrm>
            <a:off x="4322064" y="4498848"/>
            <a:ext cx="3544824" cy="237744"/>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US$2,520K ARR</a:t>
            </a:r>
            <a:endParaRPr lang="en-US" sz="1100" dirty="0"/>
          </a:p>
        </p:txBody>
      </p:sp>
      <p:sp>
        <p:nvSpPr>
          <p:cNvPr id="19" name="Text 16"/>
          <p:cNvSpPr/>
          <p:nvPr/>
        </p:nvSpPr>
        <p:spPr>
          <a:xfrm>
            <a:off x="4322064" y="4736592"/>
            <a:ext cx="3544824" cy="256032"/>
          </a:xfrm>
          <a:prstGeom prst="rect">
            <a:avLst/>
          </a:prstGeom>
          <a:noFill/>
          <a:ln/>
        </p:spPr>
        <p:txBody>
          <a:bodyPr wrap="square" rtlCol="0" anchor="ctr"/>
          <a:lstStyle/>
          <a:p>
            <a:pPr indent="0" marL="0">
              <a:buNone/>
            </a:pPr>
            <a:r>
              <a:rPr lang="en-US" sz="800" dirty="0">
                <a:solidFill>
                  <a:srgbClr val="AAAAAA"/>
                </a:solidFill>
                <a:latin typeface="Arial" pitchFamily="34" charset="0"/>
                <a:ea typeface="Arial" pitchFamily="34" charset="-122"/>
                <a:cs typeface="Arial" pitchFamily="34" charset="-120"/>
              </a:rPr>
              <a:t>First House Year 3 · first Wrapped Year 3 · EBITDA positive Year 5 · market-rate team costs in full model</a:t>
            </a:r>
            <a:endParaRPr lang="en-US" sz="800" dirty="0"/>
          </a:p>
        </p:txBody>
      </p:sp>
      <p:sp>
        <p:nvSpPr>
          <p:cNvPr id="20" name="Shape 17"/>
          <p:cNvSpPr/>
          <p:nvPr/>
        </p:nvSpPr>
        <p:spPr>
          <a:xfrm>
            <a:off x="8004048" y="4251960"/>
            <a:ext cx="3727704" cy="822960"/>
          </a:xfrm>
          <a:prstGeom prst="rect">
            <a:avLst/>
          </a:prstGeom>
          <a:solidFill>
            <a:srgbClr val="F4F4F4"/>
          </a:solidFill>
          <a:ln/>
        </p:spPr>
        <p:txBody>
          <a:bodyPr/>
          <a:p/>
        </p:txBody>
      </p:sp>
      <p:sp>
        <p:nvSpPr>
          <p:cNvPr id="21" name="Text 18"/>
          <p:cNvSpPr/>
          <p:nvPr/>
        </p:nvSpPr>
        <p:spPr>
          <a:xfrm>
            <a:off x="8095488" y="4315968"/>
            <a:ext cx="3544824" cy="201168"/>
          </a:xfrm>
          <a:prstGeom prst="rect">
            <a:avLst/>
          </a:prstGeom>
          <a:noFill/>
          <a:ln/>
        </p:spPr>
        <p:txBody>
          <a:bodyPr wrap="square" rtlCol="0" anchor="ctr"/>
          <a:lstStyle/>
          <a:p>
            <a:pPr indent="0" marL="0">
              <a:buNone/>
            </a:pPr>
            <a:r>
              <a:rPr lang="en-US" sz="750" b="1" dirty="0">
                <a:solidFill>
                  <a:srgbClr val="888888"/>
                </a:solidFill>
                <a:latin typeface="Arial" pitchFamily="34" charset="0"/>
                <a:ea typeface="Arial" pitchFamily="34" charset="-122"/>
                <a:cs typeface="Arial" pitchFamily="34" charset="-120"/>
              </a:rPr>
              <a:t>BULL CASE</a:t>
            </a:r>
            <a:endParaRPr lang="en-US" sz="750" dirty="0"/>
          </a:p>
        </p:txBody>
      </p:sp>
      <p:sp>
        <p:nvSpPr>
          <p:cNvPr id="22" name="Text 19"/>
          <p:cNvSpPr/>
          <p:nvPr/>
        </p:nvSpPr>
        <p:spPr>
          <a:xfrm>
            <a:off x="8095488" y="4498848"/>
            <a:ext cx="3544824" cy="237744"/>
          </a:xfrm>
          <a:prstGeom prst="rect">
            <a:avLst/>
          </a:prstGeom>
          <a:noFill/>
          <a:ln/>
        </p:spPr>
        <p:txBody>
          <a:bodyPr wrap="square" rtlCol="0" anchor="ctr"/>
          <a:lstStyle/>
          <a:p>
            <a:pPr indent="0" marL="0">
              <a:buNone/>
            </a:pPr>
            <a:r>
              <a:rPr lang="en-US" sz="1100" b="1" dirty="0">
                <a:solidFill>
                  <a:srgbClr val="0A0A0A"/>
                </a:solidFill>
                <a:latin typeface="Arial" pitchFamily="34" charset="0"/>
                <a:ea typeface="Arial" pitchFamily="34" charset="-122"/>
                <a:cs typeface="Arial" pitchFamily="34" charset="-120"/>
              </a:rPr>
              <a:t>US$4,245K ARR</a:t>
            </a:r>
            <a:endParaRPr lang="en-US" sz="1100" dirty="0"/>
          </a:p>
        </p:txBody>
      </p:sp>
      <p:sp>
        <p:nvSpPr>
          <p:cNvPr id="23" name="Text 20"/>
          <p:cNvSpPr/>
          <p:nvPr/>
        </p:nvSpPr>
        <p:spPr>
          <a:xfrm>
            <a:off x="8095488" y="4736592"/>
            <a:ext cx="3544824" cy="256032"/>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Faster boutique · two Wrapped partners Year 4</a:t>
            </a:r>
            <a:endParaRPr lang="en-US" sz="800" dirty="0"/>
          </a:p>
        </p:txBody>
      </p:sp>
      <p:sp>
        <p:nvSpPr>
          <p:cNvPr id="24" name="Text 21"/>
          <p:cNvSpPr/>
          <p:nvPr/>
        </p:nvSpPr>
        <p:spPr>
          <a:xfrm>
            <a:off x="457200" y="5166360"/>
            <a:ext cx="11274552" cy="365760"/>
          </a:xfrm>
          <a:prstGeom prst="rect">
            <a:avLst/>
          </a:prstGeom>
          <a:noFill/>
          <a:ln/>
        </p:spPr>
        <p:txBody>
          <a:bodyPr wrap="square" rtlCol="0" anchor="ctr"/>
          <a:lstStyle/>
          <a:p>
            <a:pPr indent="0" marL="0">
              <a:buNone/>
            </a:pPr>
            <a:r>
              <a:rPr lang="en-US" sz="950" i="1" dirty="0" b="1">
                <a:solidFill>
                  <a:srgbClr val="85D155"/>
                </a:solidFill>
                <a:latin typeface="Arial" pitchFamily="34" charset="0"/>
                <a:ea typeface="Arial" pitchFamily="34" charset="-122"/>
                <a:cs typeface="Arial" pitchFamily="34" charset="-120"/>
              </a:rPr>
              <a:t>Full model: ip-investor-model.xlsx (Base / Bear / Bull scenarios, assumptions editable) · Tenzor scenario modelled separately: combined TAM US$25M–US$28M ARR at 10% penetration — see financial model tab.</a:t>
            </a:r>
            <a:endParaRPr lang="en-US" sz="850" dirty="0"/>
          </a:p>
        </p:txBody>
      </p:sp>
      <p:sp>
        <p:nvSpPr>
          <p:cNvPr id="25" name="Shape 22"/>
          <p:cNvSpPr/>
          <p:nvPr/>
        </p:nvSpPr>
        <p:spPr>
          <a:xfrm>
            <a:off x="457200" y="5486400"/>
            <a:ext cx="11274552" cy="548640"/>
          </a:xfrm>
          <a:prstGeom prst="rect">
            <a:avLst/>
          </a:prstGeom>
          <a:solidFill>
            <a:srgbClr val="0A0A0A"/>
          </a:solidFill>
          <a:ln/>
        </p:spPr>
        <p:txBody>
          <a:bodyPr/>
          <a:p/>
        </p:txBody>
      </p:sp>
      <p:sp>
        <p:nvSpPr>
          <p:cNvPr id="26" name="Text 23"/>
          <p:cNvSpPr/>
          <p:nvPr/>
        </p:nvSpPr>
        <p:spPr>
          <a:xfrm>
            <a:off x="594360" y="5559552"/>
            <a:ext cx="11000232" cy="402336"/>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Use of proceeds: Five-person team (market rate: $1,030K/yr) · infrastructure ($36K/yr) · legal ($60K) · sales &amp; marketing ($30K/yr). Runway: 18–24 months to Series A milestone (at US$2.5M raise with market-rate team costs).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548640"/>
          </a:xfrm>
          <a:prstGeom prst="rect">
            <a:avLst/>
          </a:prstGeom>
          <a:solidFill>
            <a:srgbClr val="0A0A0A"/>
          </a:solidFill>
          <a:ln/>
        </p:spPr>
        <p:txBody>
          <a:bodyPr/>
          <a:p/>
        </p:txBody>
      </p:sp>
      <p:sp>
        <p:nvSpPr>
          <p:cNvPr id="3" name="Text 1"/>
          <p:cNvSpPr/>
          <p:nvPr/>
        </p:nvSpPr>
        <p:spPr>
          <a:xfrm>
            <a:off x="457200" y="45720"/>
            <a:ext cx="182880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Invest</a:t>
            </a:r>
            <a:pPr indent="0" marL="0">
              <a:buNone/>
            </a:pPr>
            <a:r>
              <a:rPr lang="en-US" sz="1400" b="1" dirty="0">
                <a:solidFill>
                  <a:srgbClr val="85D155"/>
                </a:solidFill>
                <a:latin typeface="Arial" pitchFamily="34" charset="0"/>
                <a:ea typeface="Arial" pitchFamily="34" charset="-122"/>
                <a:cs typeface="Arial" pitchFamily="34" charset="-120"/>
              </a:rPr>
              <a:t>Puppy</a:t>
            </a:r>
            <a:endParaRPr lang="en-US" sz="1400" dirty="0"/>
          </a:p>
        </p:txBody>
      </p:sp>
      <p:sp>
        <p:nvSpPr>
          <p:cNvPr id="4" name="Text 2"/>
          <p:cNvSpPr/>
          <p:nvPr/>
        </p:nvSpPr>
        <p:spPr>
          <a:xfrm>
            <a:off x="8531352" y="45720"/>
            <a:ext cx="3200400" cy="274320"/>
          </a:xfrm>
          <a:prstGeom prst="rect">
            <a:avLst/>
          </a:prstGeom>
          <a:noFill/>
          <a:ln/>
        </p:spPr>
        <p:txBody>
          <a:bodyPr wrap="square" rtlCol="0" anchor="ctr"/>
          <a:lstStyle/>
          <a:p>
            <a:pPr algn="r" indent="0" marL="0">
              <a:buNone/>
            </a:pPr>
            <a:r>
              <a:rPr lang="en-US" sz="900" dirty="0">
                <a:solidFill>
                  <a:srgbClr val="FFFFFF"/>
                </a:solidFill>
                <a:latin typeface="Arial" pitchFamily="34" charset="0"/>
                <a:ea typeface="Arial" pitchFamily="34" charset="-122"/>
                <a:cs typeface="Arial" pitchFamily="34" charset="-120"/>
              </a:rPr>
              <a:t>Go-to-Market</a:t>
            </a:r>
            <a:endParaRPr lang="en-US" sz="900" dirty="0"/>
          </a:p>
        </p:txBody>
      </p:sp>
      <p:sp>
        <p:nvSpPr>
          <p:cNvPr id="5" name="Text 3"/>
          <p:cNvSpPr/>
          <p:nvPr/>
        </p:nvSpPr>
        <p:spPr>
          <a:xfrm>
            <a:off x="8531352" y="301752"/>
            <a:ext cx="3200400" cy="201168"/>
          </a:xfrm>
          <a:prstGeom prst="rect">
            <a:avLst/>
          </a:prstGeom>
          <a:noFill/>
          <a:ln/>
        </p:spPr>
        <p:txBody>
          <a:bodyPr wrap="square" rtlCol="0" anchor="ctr"/>
          <a:lstStyle/>
          <a:p>
            <a:pPr algn="r" indent="0" marL="0">
              <a:buNone/>
            </a:pPr>
            <a:r>
              <a:rPr lang="en-US" sz="800" dirty="0">
                <a:solidFill>
                  <a:srgbClr val="888888"/>
                </a:solidFill>
                <a:latin typeface="Arial" pitchFamily="34" charset="0"/>
                <a:ea typeface="Arial" pitchFamily="34" charset="-122"/>
                <a:cs typeface="Arial" pitchFamily="34" charset="-120"/>
              </a:rPr>
              <a:t>Confidential · May 2026</a:t>
            </a:r>
            <a:endParaRPr lang="en-US" sz="800" dirty="0"/>
          </a:p>
        </p:txBody>
      </p:sp>
      <p:sp>
        <p:nvSpPr>
          <p:cNvPr id="6" name="Shape 4"/>
          <p:cNvSpPr/>
          <p:nvPr/>
        </p:nvSpPr>
        <p:spPr>
          <a:xfrm>
            <a:off x="0" y="548640"/>
            <a:ext cx="12188952" cy="0"/>
          </a:xfrm>
          <a:prstGeom prst="line">
            <a:avLst/>
          </a:prstGeom>
          <a:noFill/>
          <a:ln w="25400">
            <a:solidFill>
              <a:srgbClr val="85D155"/>
            </a:solidFill>
            <a:prstDash val="solid"/>
          </a:ln>
        </p:spPr>
        <p:txBody>
          <a:bodyPr/>
          <a:p/>
        </p:txBody>
      </p:sp>
      <p:sp>
        <p:nvSpPr>
          <p:cNvPr id="7" name="Shape 5"/>
          <p:cNvSpPr/>
          <p:nvPr/>
        </p:nvSpPr>
        <p:spPr>
          <a:xfrm>
            <a:off x="457200" y="6510528"/>
            <a:ext cx="11274552" cy="0"/>
          </a:xfrm>
          <a:prstGeom prst="line">
            <a:avLst/>
          </a:prstGeom>
          <a:noFill/>
          <a:ln w="6350">
            <a:solidFill>
              <a:srgbClr val="D0D0D0"/>
            </a:solidFill>
            <a:prstDash val="solid"/>
          </a:ln>
        </p:spPr>
        <p:txBody>
          <a:bodyPr/>
          <a:p/>
        </p:txBody>
      </p:sp>
      <p:sp>
        <p:nvSpPr>
          <p:cNvPr id="8" name="Text 6"/>
          <p:cNvSpPr/>
          <p:nvPr/>
        </p:nvSpPr>
        <p:spPr>
          <a:xfrm>
            <a:off x="457200" y="6547104"/>
            <a:ext cx="10360152" cy="219456"/>
          </a:xfrm>
          <a:prstGeom prst="rect">
            <a:avLst/>
          </a:prstGeom>
          <a:noFill/>
          <a:ln/>
        </p:spPr>
        <p:txBody>
          <a:bodyPr wrap="square" rtlCol="0" anchor="ctr"/>
          <a:lstStyle/>
          <a:p>
            <a:pPr indent="0" marL="0">
              <a:buNone/>
            </a:pPr>
            <a:r>
              <a:rPr lang="en-US" sz="750" dirty="0">
                <a:solidFill>
                  <a:srgbClr val="888888"/>
                </a:solidFill>
                <a:latin typeface="Arial" pitchFamily="34" charset="0"/>
                <a:ea typeface="Arial" pitchFamily="34" charset="-122"/>
                <a:cs typeface="Arial" pitchFamily="34" charset="-120"/>
              </a:rPr>
              <a:t>InvestPuppy Pte Ltd · investpuppy.com · Confidential</a:t>
            </a:r>
            <a:endParaRPr lang="en-US" sz="750" dirty="0"/>
          </a:p>
        </p:txBody>
      </p:sp>
      <p:sp>
        <p:nvSpPr>
          <p:cNvPr id="9" name="Text 7"/>
          <p:cNvSpPr/>
          <p:nvPr/>
        </p:nvSpPr>
        <p:spPr>
          <a:xfrm>
            <a:off x="11457432" y="6547104"/>
            <a:ext cx="502920" cy="219456"/>
          </a:xfrm>
          <a:prstGeom prst="rect">
            <a:avLst/>
          </a:prstGeom>
          <a:noFill/>
          <a:ln/>
        </p:spPr>
        <p:txBody>
          <a:bodyPr wrap="square" rtlCol="0" anchor="ctr"/>
          <a:lstStyle/>
          <a:p>
            <a:pPr algn="r" indent="0" marL="0">
              <a:buNone/>
            </a:pPr>
            <a:r>
              <a:rPr lang="en-US" sz="750" dirty="0">
                <a:solidFill>
                  <a:srgbClr val="888888"/>
                </a:solidFill>
                <a:latin typeface="Arial" pitchFamily="34" charset="0"/>
                <a:ea typeface="Arial" pitchFamily="34" charset="-122"/>
                <a:cs typeface="Arial" pitchFamily="34" charset="-120"/>
              </a:rPr>
              <a:t>10</a:t>
            </a:r>
            <a:endParaRPr lang="en-US" sz="750" dirty="0"/>
          </a:p>
        </p:txBody>
      </p:sp>
      <p:sp>
        <p:nvSpPr>
          <p:cNvPr id="10" name="Text 8"/>
          <p:cNvSpPr/>
          <p:nvPr/>
        </p:nvSpPr>
        <p:spPr>
          <a:xfrm>
            <a:off x="457200" y="685800"/>
            <a:ext cx="11274552" cy="320040"/>
          </a:xfrm>
          <a:prstGeom prst="rect">
            <a:avLst/>
          </a:prstGeom>
          <a:noFill/>
          <a:ln/>
        </p:spPr>
        <p:txBody>
          <a:bodyPr wrap="square" rtlCol="0" anchor="ctr"/>
          <a:lstStyle/>
          <a:p>
            <a:pPr indent="0" marL="0">
              <a:buNone/>
            </a:pPr>
            <a:r>
              <a:rPr lang="en-US" sz="1100" dirty="0">
                <a:solidFill>
                  <a:srgbClr val="0A0A0A"/>
                </a:solidFill>
                <a:latin typeface="Arial" pitchFamily="34" charset="0"/>
                <a:ea typeface="Arial" pitchFamily="34" charset="-122"/>
                <a:cs typeface="Arial" pitchFamily="34" charset="-120"/>
              </a:rPr>
              <a:t>Proof Partners first. Alloy Partners in parallel. Wrapped as the institutional channel develops.</a:t>
            </a:r>
            <a:endParaRPr lang="en-US" sz="1100" dirty="0"/>
          </a:p>
        </p:txBody>
      </p:sp>
      <p:sp>
        <p:nvSpPr>
          <p:cNvPr id="11" name="Text 9"/>
          <p:cNvSpPr/>
          <p:nvPr/>
        </p:nvSpPr>
        <p:spPr>
          <a:xfrm>
            <a:off x="457200" y="1143000"/>
            <a:ext cx="5303520" cy="201168"/>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VEKTOR : BOUTIQUE — PROOF PARTNERS</a:t>
            </a:r>
            <a:endParaRPr lang="en-US" sz="750" dirty="0"/>
          </a:p>
        </p:txBody>
      </p:sp>
      <p:sp>
        <p:nvSpPr>
          <p:cNvPr id="12" name="Shape 10"/>
          <p:cNvSpPr/>
          <p:nvPr/>
        </p:nvSpPr>
        <p:spPr>
          <a:xfrm>
            <a:off x="457200" y="1344168"/>
            <a:ext cx="5303520" cy="0"/>
          </a:xfrm>
          <a:prstGeom prst="line">
            <a:avLst/>
          </a:prstGeom>
          <a:noFill/>
          <a:ln w="9525">
            <a:solidFill>
              <a:srgbClr val="85D155"/>
            </a:solidFill>
            <a:prstDash val="solid"/>
          </a:ln>
        </p:spPr>
        <p:txBody>
          <a:bodyPr/>
          <a:p/>
        </p:txBody>
      </p:sp>
      <p:sp>
        <p:nvSpPr>
          <p:cNvPr id="13" name="Text 11"/>
          <p:cNvSpPr/>
          <p:nvPr/>
        </p:nvSpPr>
        <p:spPr>
          <a:xfrm>
            <a:off x="457200" y="1463040"/>
            <a:ext cx="5303520" cy="36576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Three Proof Partner slots available at US$13,500/yr Year 1 rate.</a:t>
            </a:r>
            <a:endParaRPr lang="en-US" sz="950" dirty="0"/>
          </a:p>
        </p:txBody>
      </p:sp>
      <p:sp>
        <p:nvSpPr>
          <p:cNvPr id="14" name="Text 12"/>
          <p:cNvSpPr/>
          <p:nvPr/>
        </p:nvSpPr>
        <p:spPr>
          <a:xfrm>
            <a:off x="457200" y="1874520"/>
            <a:ext cx="5303520" cy="36576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Suite distribution-ready. First commercial conversations beginning now.</a:t>
            </a:r>
            <a:endParaRPr lang="en-US" sz="950" dirty="0"/>
          </a:p>
        </p:txBody>
      </p:sp>
      <p:sp>
        <p:nvSpPr>
          <p:cNvPr id="15" name="Text 13"/>
          <p:cNvSpPr/>
          <p:nvPr/>
        </p:nvSpPr>
        <p:spPr>
          <a:xfrm>
            <a:off x="457200" y="2286000"/>
            <a:ext cx="5303520" cy="36576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Preferential terms locked for the duration — permanently discounted from standard tier pricing, agreed at signing.</a:t>
            </a:r>
            <a:endParaRPr lang="en-US" sz="950" dirty="0"/>
          </a:p>
        </p:txBody>
      </p:sp>
      <p:sp>
        <p:nvSpPr>
          <p:cNvPr id="16" name="Text 14"/>
          <p:cNvSpPr/>
          <p:nvPr/>
        </p:nvSpPr>
        <p:spPr>
          <a:xfrm>
            <a:off x="457200" y="2697480"/>
            <a:ext cx="5303520" cy="36576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CEO and CTO present in first implementation weeks. Full First 90 Days programme.</a:t>
            </a:r>
            <a:endParaRPr lang="en-US" sz="950" dirty="0"/>
          </a:p>
        </p:txBody>
      </p:sp>
      <p:sp>
        <p:nvSpPr>
          <p:cNvPr id="17" name="Text 15"/>
          <p:cNvSpPr/>
          <p:nvPr/>
        </p:nvSpPr>
        <p:spPr>
          <a:xfrm>
            <a:off x="457200" y="3108960"/>
            <a:ext cx="5303520" cy="365760"/>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Proof Partners named as co-creators of the platform's commercial foundation.</a:t>
            </a:r>
            <a:endParaRPr lang="en-US" sz="950" dirty="0"/>
          </a:p>
        </p:txBody>
      </p:sp>
      <p:sp>
        <p:nvSpPr>
          <p:cNvPr id="18" name="Text 16"/>
          <p:cNvSpPr/>
          <p:nvPr/>
        </p:nvSpPr>
        <p:spPr>
          <a:xfrm>
            <a:off x="6217920" y="1143000"/>
            <a:ext cx="5303520" cy="201168"/>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VEKTOR : HOUSE — ALLOY PARTNERS</a:t>
            </a:r>
            <a:endParaRPr lang="en-US" sz="750" dirty="0"/>
          </a:p>
        </p:txBody>
      </p:sp>
      <p:sp>
        <p:nvSpPr>
          <p:cNvPr id="19" name="Shape 17"/>
          <p:cNvSpPr/>
          <p:nvPr/>
        </p:nvSpPr>
        <p:spPr>
          <a:xfrm>
            <a:off x="6217920" y="1344168"/>
            <a:ext cx="5303520" cy="0"/>
          </a:xfrm>
          <a:prstGeom prst="line">
            <a:avLst/>
          </a:prstGeom>
          <a:noFill/>
          <a:ln w="9525">
            <a:solidFill>
              <a:srgbClr val="85D155"/>
            </a:solidFill>
            <a:prstDash val="solid"/>
          </a:ln>
        </p:spPr>
        <p:txBody>
          <a:bodyPr/>
          <a:p/>
        </p:txBody>
      </p:sp>
      <p:sp>
        <p:nvSpPr>
          <p:cNvPr id="20" name="Text 18"/>
          <p:cNvSpPr/>
          <p:nvPr/>
        </p:nvSpPr>
        <p:spPr>
          <a:xfrm>
            <a:off x="6217920" y="1463040"/>
            <a:ext cx="5303520" cy="201168"/>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STAGE 1 — OPEN NOW</a:t>
            </a:r>
            <a:endParaRPr lang="en-US" sz="750" dirty="0"/>
          </a:p>
        </p:txBody>
      </p:sp>
      <p:sp>
        <p:nvSpPr>
          <p:cNvPr id="21" name="Text 19"/>
          <p:cNvSpPr/>
          <p:nvPr/>
        </p:nvSpPr>
        <p:spPr>
          <a:xfrm>
            <a:off x="6217920" y="1664208"/>
            <a:ext cx="5303520" cy="411480"/>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NDA + initial conversation. Low resource. Parallel to boutique activity. Target: Head of DPM at regional bank in SE Asia.</a:t>
            </a:r>
            <a:endParaRPr lang="en-US" sz="900" dirty="0"/>
          </a:p>
        </p:txBody>
      </p:sp>
      <p:sp>
        <p:nvSpPr>
          <p:cNvPr id="22" name="Text 20"/>
          <p:cNvSpPr/>
          <p:nvPr/>
        </p:nvSpPr>
        <p:spPr>
          <a:xfrm>
            <a:off x="6217920" y="2212848"/>
            <a:ext cx="5303520" cy="201168"/>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STAGE 2 — GATED</a:t>
            </a:r>
            <a:endParaRPr lang="en-US" sz="750" dirty="0"/>
          </a:p>
        </p:txBody>
      </p:sp>
      <p:sp>
        <p:nvSpPr>
          <p:cNvPr id="23" name="Text 21"/>
          <p:cNvSpPr/>
          <p:nvPr/>
        </p:nvSpPr>
        <p:spPr>
          <a:xfrm>
            <a:off x="6217920" y="2414016"/>
            <a:ext cx="5303520" cy="411480"/>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POC on partner's own data + integration architecture scoping. Max 1 partner at Stage 2 at any time. Begins once first Proof Partner is active.</a:t>
            </a:r>
            <a:endParaRPr lang="en-US" sz="900" dirty="0"/>
          </a:p>
        </p:txBody>
      </p:sp>
      <p:sp>
        <p:nvSpPr>
          <p:cNvPr id="24" name="Text 22"/>
          <p:cNvSpPr/>
          <p:nvPr/>
        </p:nvSpPr>
        <p:spPr>
          <a:xfrm>
            <a:off x="6217920" y="2962656"/>
            <a:ext cx="5303520" cy="201168"/>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STAGE 3 — COMMERCIAL</a:t>
            </a:r>
            <a:endParaRPr lang="en-US" sz="750" dirty="0"/>
          </a:p>
        </p:txBody>
      </p:sp>
      <p:sp>
        <p:nvSpPr>
          <p:cNvPr id="25" name="Text 23"/>
          <p:cNvSpPr/>
          <p:nvPr/>
        </p:nvSpPr>
        <p:spPr>
          <a:xfrm>
            <a:off x="6217920" y="3163824"/>
            <a:ext cx="5303520" cy="411480"/>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Commercial negotiation and partnership terms. Follows Stage 2.</a:t>
            </a:r>
            <a:endParaRPr lang="en-US" sz="900" dirty="0"/>
          </a:p>
        </p:txBody>
      </p:sp>
      <p:sp>
        <p:nvSpPr>
          <p:cNvPr id="26" name="Shape 24"/>
          <p:cNvSpPr/>
          <p:nvPr/>
        </p:nvSpPr>
        <p:spPr>
          <a:xfrm>
            <a:off x="457200" y="4206240"/>
            <a:ext cx="11274552" cy="640080"/>
          </a:xfrm>
          <a:prstGeom prst="rect">
            <a:avLst/>
          </a:prstGeom>
          <a:solidFill>
            <a:srgbClr val="0A0A0A"/>
          </a:solidFill>
          <a:ln/>
        </p:spPr>
        <p:txBody>
          <a:bodyPr/>
          <a:p/>
        </p:txBody>
      </p:sp>
      <p:sp>
        <p:nvSpPr>
          <p:cNvPr id="27" name="Text 25"/>
          <p:cNvSpPr/>
          <p:nvPr/>
        </p:nvSpPr>
        <p:spPr>
          <a:xfrm>
            <a:off x="594360" y="4279392"/>
            <a:ext cx="11000232" cy="493776"/>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Institutional sales cycles run 12–18 months minimum. Active engagement must begin before the product is fully built. Stage 1 conversations can begin now — they are low-resource and parallel to boutique work.</a:t>
            </a:r>
            <a:endParaRPr lang="en-US" sz="950" dirty="0"/>
          </a:p>
        </p:txBody>
      </p:sp>
      <p:sp>
        <p:nvSpPr>
          <p:cNvPr id="28" name="Text 26"/>
          <p:cNvSpPr/>
          <p:nvPr/>
        </p:nvSpPr>
        <p:spPr>
          <a:xfrm>
            <a:off x="457200" y="4983480"/>
            <a:ext cx="11274552" cy="201168"/>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KEY MILESTONES</a:t>
            </a:r>
            <a:endParaRPr lang="en-US" sz="750" dirty="0"/>
          </a:p>
        </p:txBody>
      </p:sp>
      <p:sp>
        <p:nvSpPr>
          <p:cNvPr id="29" name="Shape 27"/>
          <p:cNvSpPr/>
          <p:nvPr/>
        </p:nvSpPr>
        <p:spPr>
          <a:xfrm>
            <a:off x="457200" y="5184648"/>
            <a:ext cx="11274552" cy="0"/>
          </a:xfrm>
          <a:prstGeom prst="line">
            <a:avLst/>
          </a:prstGeom>
          <a:noFill/>
          <a:ln w="9525">
            <a:solidFill>
              <a:srgbClr val="85D155"/>
            </a:solidFill>
            <a:prstDash val="solid"/>
          </a:ln>
        </p:spPr>
        <p:txBody>
          <a:bodyPr/>
          <a:p/>
        </p:txBody>
      </p:sp>
      <p:sp>
        <p:nvSpPr>
          <p:cNvPr id="30" name="Shape 28"/>
          <p:cNvSpPr/>
          <p:nvPr/>
        </p:nvSpPr>
        <p:spPr>
          <a:xfrm>
            <a:off x="457200" y="5349240"/>
            <a:ext cx="2209190" cy="1005840"/>
          </a:xfrm>
          <a:prstGeom prst="rect">
            <a:avLst/>
          </a:prstGeom>
          <a:solidFill>
            <a:srgbClr val="0A0A0A"/>
          </a:solidFill>
          <a:ln/>
        </p:spPr>
        <p:txBody>
          <a:bodyPr/>
          <a:p/>
        </p:txBody>
      </p:sp>
      <p:sp>
        <p:nvSpPr>
          <p:cNvPr id="31" name="Text 29"/>
          <p:cNvSpPr/>
          <p:nvPr/>
        </p:nvSpPr>
        <p:spPr>
          <a:xfrm>
            <a:off x="548640" y="5413248"/>
            <a:ext cx="2026310" cy="256032"/>
          </a:xfrm>
          <a:prstGeom prst="rect">
            <a:avLst/>
          </a:prstGeom>
          <a:noFill/>
          <a:ln/>
        </p:spPr>
        <p:txBody>
          <a:bodyPr wrap="square" rtlCol="0" anchor="ctr"/>
          <a:lstStyle/>
          <a:p>
            <a:pPr indent="0" marL="0">
              <a:buNone/>
            </a:pPr>
            <a:r>
              <a:rPr lang="en-US" sz="900" b="1" dirty="0">
                <a:solidFill>
                  <a:srgbClr val="85D155"/>
                </a:solidFill>
                <a:latin typeface="Arial" pitchFamily="34" charset="0"/>
                <a:ea typeface="Arial" pitchFamily="34" charset="-122"/>
                <a:cs typeface="Arial" pitchFamily="34" charset="-120"/>
              </a:rPr>
              <a:t>Now</a:t>
            </a:r>
            <a:endParaRPr lang="en-US" sz="900" dirty="0"/>
          </a:p>
        </p:txBody>
      </p:sp>
      <p:sp>
        <p:nvSpPr>
          <p:cNvPr id="32" name="Text 30"/>
          <p:cNvSpPr/>
          <p:nvPr/>
        </p:nvSpPr>
        <p:spPr>
          <a:xfrm>
            <a:off x="548640" y="5669280"/>
            <a:ext cx="2026310" cy="594360"/>
          </a:xfrm>
          <a:prstGeom prst="rect">
            <a:avLst/>
          </a:prstGeom>
          <a:noFill/>
          <a:ln/>
        </p:spPr>
        <p:txBody>
          <a:bodyPr wrap="square" rtlCol="0" anchor="ctr"/>
          <a:lstStyle/>
          <a:p>
            <a:pPr indent="0" marL="0">
              <a:buNone/>
            </a:pPr>
            <a:r>
              <a:rPr lang="en-US" sz="850" dirty="0">
                <a:solidFill>
                  <a:srgbClr val="AAAAAA"/>
                </a:solidFill>
                <a:latin typeface="Arial" pitchFamily="34" charset="0"/>
                <a:ea typeface="Arial" pitchFamily="34" charset="-122"/>
                <a:cs typeface="Arial" pitchFamily="34" charset="-120"/>
              </a:rPr>
              <a:t>First Proof Partner conversations · Alloy Partners Stage 1 open</a:t>
            </a:r>
            <a:endParaRPr lang="en-US" sz="850" dirty="0"/>
          </a:p>
        </p:txBody>
      </p:sp>
      <p:sp>
        <p:nvSpPr>
          <p:cNvPr id="33" name="Shape 31"/>
          <p:cNvSpPr/>
          <p:nvPr/>
        </p:nvSpPr>
        <p:spPr>
          <a:xfrm>
            <a:off x="2721254" y="5349240"/>
            <a:ext cx="2209190" cy="1005840"/>
          </a:xfrm>
          <a:prstGeom prst="rect">
            <a:avLst/>
          </a:prstGeom>
          <a:solidFill>
            <a:srgbClr val="0A0A0A"/>
          </a:solidFill>
          <a:ln/>
        </p:spPr>
        <p:txBody>
          <a:bodyPr/>
          <a:p/>
        </p:txBody>
      </p:sp>
      <p:sp>
        <p:nvSpPr>
          <p:cNvPr id="34" name="Text 32"/>
          <p:cNvSpPr/>
          <p:nvPr/>
        </p:nvSpPr>
        <p:spPr>
          <a:xfrm>
            <a:off x="2812694" y="5413248"/>
            <a:ext cx="2026310" cy="256032"/>
          </a:xfrm>
          <a:prstGeom prst="rect">
            <a:avLst/>
          </a:prstGeom>
          <a:noFill/>
          <a:ln/>
        </p:spPr>
        <p:txBody>
          <a:bodyPr wrap="square" rtlCol="0" anchor="ctr"/>
          <a:lstStyle/>
          <a:p>
            <a:pPr indent="0" marL="0">
              <a:buNone/>
            </a:pPr>
            <a:r>
              <a:rPr lang="en-US" sz="900" b="1" dirty="0">
                <a:solidFill>
                  <a:srgbClr val="85D155"/>
                </a:solidFill>
                <a:latin typeface="Arial" pitchFamily="34" charset="0"/>
                <a:ea typeface="Arial" pitchFamily="34" charset="-122"/>
                <a:cs typeface="Arial" pitchFamily="34" charset="-120"/>
              </a:rPr>
              <a:t>Month 3</a:t>
            </a:r>
            <a:endParaRPr lang="en-US" sz="900" dirty="0"/>
          </a:p>
        </p:txBody>
      </p:sp>
      <p:sp>
        <p:nvSpPr>
          <p:cNvPr id="35" name="Text 33"/>
          <p:cNvSpPr/>
          <p:nvPr/>
        </p:nvSpPr>
        <p:spPr>
          <a:xfrm>
            <a:off x="2812694" y="5669280"/>
            <a:ext cx="2026310" cy="594360"/>
          </a:xfrm>
          <a:prstGeom prst="rect">
            <a:avLst/>
          </a:prstGeom>
          <a:noFill/>
          <a:ln/>
        </p:spPr>
        <p:txBody>
          <a:bodyPr wrap="square" rtlCol="0" anchor="ctr"/>
          <a:lstStyle/>
          <a:p>
            <a:pPr indent="0" marL="0">
              <a:buNone/>
            </a:pPr>
            <a:r>
              <a:rPr lang="en-US" sz="850" dirty="0">
                <a:solidFill>
                  <a:srgbClr val="AAAAAA"/>
                </a:solidFill>
                <a:latin typeface="Arial" pitchFamily="34" charset="0"/>
                <a:ea typeface="Arial" pitchFamily="34" charset="-122"/>
                <a:cs typeface="Arial" pitchFamily="34" charset="-120"/>
              </a:rPr>
              <a:t>First Proof Partner signed · platform live-account execution</a:t>
            </a:r>
            <a:endParaRPr lang="en-US" sz="850" dirty="0"/>
          </a:p>
        </p:txBody>
      </p:sp>
      <p:sp>
        <p:nvSpPr>
          <p:cNvPr id="36" name="Shape 34"/>
          <p:cNvSpPr/>
          <p:nvPr/>
        </p:nvSpPr>
        <p:spPr>
          <a:xfrm>
            <a:off x="4985309" y="5349240"/>
            <a:ext cx="2209190" cy="1005840"/>
          </a:xfrm>
          <a:prstGeom prst="rect">
            <a:avLst/>
          </a:prstGeom>
          <a:solidFill>
            <a:srgbClr val="0A0A0A"/>
          </a:solidFill>
          <a:ln/>
        </p:spPr>
        <p:txBody>
          <a:bodyPr/>
          <a:p/>
        </p:txBody>
      </p:sp>
      <p:sp>
        <p:nvSpPr>
          <p:cNvPr id="37" name="Text 35"/>
          <p:cNvSpPr/>
          <p:nvPr/>
        </p:nvSpPr>
        <p:spPr>
          <a:xfrm>
            <a:off x="5076749" y="5413248"/>
            <a:ext cx="2026310" cy="256032"/>
          </a:xfrm>
          <a:prstGeom prst="rect">
            <a:avLst/>
          </a:prstGeom>
          <a:noFill/>
          <a:ln/>
        </p:spPr>
        <p:txBody>
          <a:bodyPr wrap="square" rtlCol="0" anchor="ctr"/>
          <a:lstStyle/>
          <a:p>
            <a:pPr indent="0" marL="0">
              <a:buNone/>
            </a:pPr>
            <a:r>
              <a:rPr lang="en-US" sz="900" b="1" dirty="0">
                <a:solidFill>
                  <a:srgbClr val="85D155"/>
                </a:solidFill>
                <a:latin typeface="Arial" pitchFamily="34" charset="0"/>
                <a:ea typeface="Arial" pitchFamily="34" charset="-122"/>
                <a:cs typeface="Arial" pitchFamily="34" charset="-120"/>
              </a:rPr>
              <a:t>Month 6</a:t>
            </a:r>
            <a:endParaRPr lang="en-US" sz="900" dirty="0"/>
          </a:p>
        </p:txBody>
      </p:sp>
      <p:sp>
        <p:nvSpPr>
          <p:cNvPr id="38" name="Text 36"/>
          <p:cNvSpPr/>
          <p:nvPr/>
        </p:nvSpPr>
        <p:spPr>
          <a:xfrm>
            <a:off x="5076749" y="5669280"/>
            <a:ext cx="2026310" cy="594360"/>
          </a:xfrm>
          <a:prstGeom prst="rect">
            <a:avLst/>
          </a:prstGeom>
          <a:noFill/>
          <a:ln/>
        </p:spPr>
        <p:txBody>
          <a:bodyPr wrap="square" rtlCol="0" anchor="ctr"/>
          <a:lstStyle/>
          <a:p>
            <a:pPr indent="0" marL="0">
              <a:buNone/>
            </a:pPr>
            <a:r>
              <a:rPr lang="en-US" sz="850" dirty="0">
                <a:solidFill>
                  <a:srgbClr val="AAAAAA"/>
                </a:solidFill>
                <a:latin typeface="Arial" pitchFamily="34" charset="0"/>
                <a:ea typeface="Arial" pitchFamily="34" charset="-122"/>
                <a:cs typeface="Arial" pitchFamily="34" charset="-120"/>
              </a:rPr>
              <a:t>3 Proof Partners active · Alloy Partners Stage 2 begins</a:t>
            </a:r>
            <a:endParaRPr lang="en-US" sz="850" dirty="0"/>
          </a:p>
        </p:txBody>
      </p:sp>
      <p:sp>
        <p:nvSpPr>
          <p:cNvPr id="39" name="Shape 37"/>
          <p:cNvSpPr/>
          <p:nvPr/>
        </p:nvSpPr>
        <p:spPr>
          <a:xfrm>
            <a:off x="7249363" y="5349240"/>
            <a:ext cx="2209190" cy="1005840"/>
          </a:xfrm>
          <a:prstGeom prst="rect">
            <a:avLst/>
          </a:prstGeom>
          <a:solidFill>
            <a:srgbClr val="0A0A0A"/>
          </a:solidFill>
          <a:ln/>
        </p:spPr>
        <p:txBody>
          <a:bodyPr/>
          <a:p/>
        </p:txBody>
      </p:sp>
      <p:sp>
        <p:nvSpPr>
          <p:cNvPr id="40" name="Text 38"/>
          <p:cNvSpPr/>
          <p:nvPr/>
        </p:nvSpPr>
        <p:spPr>
          <a:xfrm>
            <a:off x="7340803" y="5413248"/>
            <a:ext cx="2026310" cy="256032"/>
          </a:xfrm>
          <a:prstGeom prst="rect">
            <a:avLst/>
          </a:prstGeom>
          <a:noFill/>
          <a:ln/>
        </p:spPr>
        <p:txBody>
          <a:bodyPr wrap="square" rtlCol="0" anchor="ctr"/>
          <a:lstStyle/>
          <a:p>
            <a:pPr indent="0" marL="0">
              <a:buNone/>
            </a:pPr>
            <a:r>
              <a:rPr lang="en-US" sz="900" b="1" dirty="0">
                <a:solidFill>
                  <a:srgbClr val="85D155"/>
                </a:solidFill>
                <a:latin typeface="Arial" pitchFamily="34" charset="0"/>
                <a:ea typeface="Arial" pitchFamily="34" charset="-122"/>
                <a:cs typeface="Arial" pitchFamily="34" charset="-120"/>
              </a:rPr>
              <a:t>Month 12</a:t>
            </a:r>
            <a:endParaRPr lang="en-US" sz="900" dirty="0"/>
          </a:p>
        </p:txBody>
      </p:sp>
      <p:sp>
        <p:nvSpPr>
          <p:cNvPr id="41" name="Text 39"/>
          <p:cNvSpPr/>
          <p:nvPr/>
        </p:nvSpPr>
        <p:spPr>
          <a:xfrm>
            <a:off x="7340803" y="5669280"/>
            <a:ext cx="2026310" cy="594360"/>
          </a:xfrm>
          <a:prstGeom prst="rect">
            <a:avLst/>
          </a:prstGeom>
          <a:noFill/>
          <a:ln/>
        </p:spPr>
        <p:txBody>
          <a:bodyPr wrap="square" rtlCol="0" anchor="ctr"/>
          <a:lstStyle/>
          <a:p>
            <a:pPr indent="0" marL="0">
              <a:buNone/>
            </a:pPr>
            <a:r>
              <a:rPr lang="en-US" sz="850" dirty="0">
                <a:solidFill>
                  <a:srgbClr val="AAAAAA"/>
                </a:solidFill>
                <a:latin typeface="Arial" pitchFamily="34" charset="0"/>
                <a:ea typeface="Arial" pitchFamily="34" charset="-122"/>
                <a:cs typeface="Arial" pitchFamily="34" charset="-120"/>
              </a:rPr>
              <a:t>First Alloy Partners Stage 3 · first Wrapped commercial discussion</a:t>
            </a:r>
            <a:endParaRPr lang="en-US" sz="850" dirty="0"/>
          </a:p>
        </p:txBody>
      </p:sp>
      <p:sp>
        <p:nvSpPr>
          <p:cNvPr id="42" name="Shape 40"/>
          <p:cNvSpPr/>
          <p:nvPr/>
        </p:nvSpPr>
        <p:spPr>
          <a:xfrm>
            <a:off x="9513418" y="5349240"/>
            <a:ext cx="2209190" cy="1005840"/>
          </a:xfrm>
          <a:prstGeom prst="rect">
            <a:avLst/>
          </a:prstGeom>
          <a:solidFill>
            <a:srgbClr val="0A0A0A"/>
          </a:solidFill>
          <a:ln/>
        </p:spPr>
        <p:txBody>
          <a:bodyPr/>
          <a:p/>
        </p:txBody>
      </p:sp>
      <p:sp>
        <p:nvSpPr>
          <p:cNvPr id="43" name="Text 41"/>
          <p:cNvSpPr/>
          <p:nvPr/>
        </p:nvSpPr>
        <p:spPr>
          <a:xfrm>
            <a:off x="9604858" y="5413248"/>
            <a:ext cx="2026310" cy="256032"/>
          </a:xfrm>
          <a:prstGeom prst="rect">
            <a:avLst/>
          </a:prstGeom>
          <a:noFill/>
          <a:ln/>
        </p:spPr>
        <p:txBody>
          <a:bodyPr wrap="square" rtlCol="0" anchor="ctr"/>
          <a:lstStyle/>
          <a:p>
            <a:pPr indent="0" marL="0">
              <a:buNone/>
            </a:pPr>
            <a:r>
              <a:rPr lang="en-US" sz="900" b="1" dirty="0">
                <a:solidFill>
                  <a:srgbClr val="85D155"/>
                </a:solidFill>
                <a:latin typeface="Arial" pitchFamily="34" charset="0"/>
                <a:ea typeface="Arial" pitchFamily="34" charset="-122"/>
                <a:cs typeface="Arial" pitchFamily="34" charset="-120"/>
              </a:rPr>
              <a:t>Month 18</a:t>
            </a:r>
            <a:endParaRPr lang="en-US" sz="900" dirty="0"/>
          </a:p>
        </p:txBody>
      </p:sp>
      <p:sp>
        <p:nvSpPr>
          <p:cNvPr id="44" name="Text 42"/>
          <p:cNvSpPr/>
          <p:nvPr/>
        </p:nvSpPr>
        <p:spPr>
          <a:xfrm>
            <a:off x="9604858" y="5669280"/>
            <a:ext cx="2026310" cy="594360"/>
          </a:xfrm>
          <a:prstGeom prst="rect">
            <a:avLst/>
          </a:prstGeom>
          <a:noFill/>
          <a:ln/>
        </p:spPr>
        <p:txBody>
          <a:bodyPr wrap="square" rtlCol="0" anchor="ctr"/>
          <a:lstStyle/>
          <a:p>
            <a:pPr indent="0" marL="0">
              <a:buNone/>
            </a:pPr>
            <a:r>
              <a:rPr lang="en-US" sz="850" dirty="0">
                <a:solidFill>
                  <a:srgbClr val="AAAAAA"/>
                </a:solidFill>
                <a:latin typeface="Arial" pitchFamily="34" charset="0"/>
                <a:ea typeface="Arial" pitchFamily="34" charset="-122"/>
                <a:cs typeface="Arial" pitchFamily="34" charset="-120"/>
              </a:rPr>
              <a:t>First House commercial client · first Wrapped partner active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548640"/>
          </a:xfrm>
          <a:prstGeom prst="rect">
            <a:avLst/>
          </a:prstGeom>
          <a:solidFill>
            <a:srgbClr val="0A0A0A"/>
          </a:solidFill>
          <a:ln/>
        </p:spPr>
        <p:txBody>
          <a:bodyPr/>
          <a:p/>
        </p:txBody>
      </p:sp>
      <p:sp>
        <p:nvSpPr>
          <p:cNvPr id="3" name="Text 1"/>
          <p:cNvSpPr/>
          <p:nvPr/>
        </p:nvSpPr>
        <p:spPr>
          <a:xfrm>
            <a:off x="457200" y="45720"/>
            <a:ext cx="182880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Invest</a:t>
            </a:r>
            <a:pPr indent="0" marL="0">
              <a:buNone/>
            </a:pPr>
            <a:r>
              <a:rPr lang="en-US" sz="1400" b="1" dirty="0">
                <a:solidFill>
                  <a:srgbClr val="85D155"/>
                </a:solidFill>
                <a:latin typeface="Arial" pitchFamily="34" charset="0"/>
                <a:ea typeface="Arial" pitchFamily="34" charset="-122"/>
                <a:cs typeface="Arial" pitchFamily="34" charset="-120"/>
              </a:rPr>
              <a:t>Puppy</a:t>
            </a:r>
            <a:endParaRPr lang="en-US" sz="1400" dirty="0"/>
          </a:p>
        </p:txBody>
      </p:sp>
      <p:sp>
        <p:nvSpPr>
          <p:cNvPr id="4" name="Text 2"/>
          <p:cNvSpPr/>
          <p:nvPr/>
        </p:nvSpPr>
        <p:spPr>
          <a:xfrm>
            <a:off x="8531352" y="45720"/>
            <a:ext cx="3200400" cy="274320"/>
          </a:xfrm>
          <a:prstGeom prst="rect">
            <a:avLst/>
          </a:prstGeom>
          <a:noFill/>
          <a:ln/>
        </p:spPr>
        <p:txBody>
          <a:bodyPr wrap="square" rtlCol="0" anchor="ctr"/>
          <a:lstStyle/>
          <a:p>
            <a:pPr algn="r" indent="0" marL="0">
              <a:buNone/>
            </a:pPr>
            <a:r>
              <a:rPr lang="en-US" sz="900" dirty="0">
                <a:solidFill>
                  <a:srgbClr val="FFFFFF"/>
                </a:solidFill>
                <a:latin typeface="Arial" pitchFamily="34" charset="0"/>
                <a:ea typeface="Arial" pitchFamily="34" charset="-122"/>
                <a:cs typeface="Arial" pitchFamily="34" charset="-120"/>
              </a:rPr>
              <a:t>The Raise</a:t>
            </a:r>
            <a:endParaRPr lang="en-US" sz="900" dirty="0"/>
          </a:p>
        </p:txBody>
      </p:sp>
      <p:sp>
        <p:nvSpPr>
          <p:cNvPr id="5" name="Text 3"/>
          <p:cNvSpPr/>
          <p:nvPr/>
        </p:nvSpPr>
        <p:spPr>
          <a:xfrm>
            <a:off x="8531352" y="301752"/>
            <a:ext cx="3200400" cy="201168"/>
          </a:xfrm>
          <a:prstGeom prst="rect">
            <a:avLst/>
          </a:prstGeom>
          <a:noFill/>
          <a:ln/>
        </p:spPr>
        <p:txBody>
          <a:bodyPr wrap="square" rtlCol="0" anchor="ctr"/>
          <a:lstStyle/>
          <a:p>
            <a:pPr algn="r" indent="0" marL="0">
              <a:buNone/>
            </a:pPr>
            <a:r>
              <a:rPr lang="en-US" sz="800" dirty="0">
                <a:solidFill>
                  <a:srgbClr val="888888"/>
                </a:solidFill>
                <a:latin typeface="Arial" pitchFamily="34" charset="0"/>
                <a:ea typeface="Arial" pitchFamily="34" charset="-122"/>
                <a:cs typeface="Arial" pitchFamily="34" charset="-120"/>
              </a:rPr>
              <a:t>Confidential · May 2026</a:t>
            </a:r>
            <a:endParaRPr lang="en-US" sz="800" dirty="0"/>
          </a:p>
        </p:txBody>
      </p:sp>
      <p:sp>
        <p:nvSpPr>
          <p:cNvPr id="6" name="Shape 4"/>
          <p:cNvSpPr/>
          <p:nvPr/>
        </p:nvSpPr>
        <p:spPr>
          <a:xfrm>
            <a:off x="0" y="548640"/>
            <a:ext cx="12188952" cy="0"/>
          </a:xfrm>
          <a:prstGeom prst="line">
            <a:avLst/>
          </a:prstGeom>
          <a:noFill/>
          <a:ln w="25400">
            <a:solidFill>
              <a:srgbClr val="85D155"/>
            </a:solidFill>
            <a:prstDash val="solid"/>
          </a:ln>
        </p:spPr>
        <p:txBody>
          <a:bodyPr/>
          <a:p/>
        </p:txBody>
      </p:sp>
      <p:sp>
        <p:nvSpPr>
          <p:cNvPr id="7" name="Shape 5"/>
          <p:cNvSpPr/>
          <p:nvPr/>
        </p:nvSpPr>
        <p:spPr>
          <a:xfrm>
            <a:off x="457200" y="6510528"/>
            <a:ext cx="11274552" cy="0"/>
          </a:xfrm>
          <a:prstGeom prst="line">
            <a:avLst/>
          </a:prstGeom>
          <a:noFill/>
          <a:ln w="6350">
            <a:solidFill>
              <a:srgbClr val="D0D0D0"/>
            </a:solidFill>
            <a:prstDash val="solid"/>
          </a:ln>
        </p:spPr>
        <p:txBody>
          <a:bodyPr/>
          <a:p/>
        </p:txBody>
      </p:sp>
      <p:sp>
        <p:nvSpPr>
          <p:cNvPr id="8" name="Text 6"/>
          <p:cNvSpPr/>
          <p:nvPr/>
        </p:nvSpPr>
        <p:spPr>
          <a:xfrm>
            <a:off x="457200" y="6547104"/>
            <a:ext cx="10360152" cy="219456"/>
          </a:xfrm>
          <a:prstGeom prst="rect">
            <a:avLst/>
          </a:prstGeom>
          <a:noFill/>
          <a:ln/>
        </p:spPr>
        <p:txBody>
          <a:bodyPr wrap="square" rtlCol="0" anchor="ctr"/>
          <a:lstStyle/>
          <a:p>
            <a:pPr indent="0" marL="0">
              <a:buNone/>
            </a:pPr>
            <a:r>
              <a:rPr lang="en-US" sz="750" dirty="0">
                <a:solidFill>
                  <a:srgbClr val="888888"/>
                </a:solidFill>
                <a:latin typeface="Arial" pitchFamily="34" charset="0"/>
                <a:ea typeface="Arial" pitchFamily="34" charset="-122"/>
                <a:cs typeface="Arial" pitchFamily="34" charset="-120"/>
              </a:rPr>
              <a:t>InvestPuppy Pte Ltd · investpuppy.com · Confidential</a:t>
            </a:r>
            <a:endParaRPr lang="en-US" sz="750" dirty="0"/>
          </a:p>
        </p:txBody>
      </p:sp>
      <p:sp>
        <p:nvSpPr>
          <p:cNvPr id="9" name="Text 7"/>
          <p:cNvSpPr/>
          <p:nvPr/>
        </p:nvSpPr>
        <p:spPr>
          <a:xfrm>
            <a:off x="11457432" y="6547104"/>
            <a:ext cx="502920" cy="219456"/>
          </a:xfrm>
          <a:prstGeom prst="rect">
            <a:avLst/>
          </a:prstGeom>
          <a:noFill/>
          <a:ln/>
        </p:spPr>
        <p:txBody>
          <a:bodyPr wrap="square" rtlCol="0" anchor="ctr"/>
          <a:lstStyle/>
          <a:p>
            <a:pPr algn="r" indent="0" marL="0">
              <a:buNone/>
            </a:pPr>
            <a:r>
              <a:rPr lang="en-US" sz="750" dirty="0">
                <a:solidFill>
                  <a:srgbClr val="888888"/>
                </a:solidFill>
                <a:latin typeface="Arial" pitchFamily="34" charset="0"/>
                <a:ea typeface="Arial" pitchFamily="34" charset="-122"/>
                <a:cs typeface="Arial" pitchFamily="34" charset="-120"/>
              </a:rPr>
              <a:t>11</a:t>
            </a:r>
            <a:endParaRPr lang="en-US" sz="750" dirty="0"/>
          </a:p>
        </p:txBody>
      </p:sp>
      <p:sp>
        <p:nvSpPr>
          <p:cNvPr id="10" name="Text 8"/>
          <p:cNvSpPr/>
          <p:nvPr/>
        </p:nvSpPr>
        <p:spPr>
          <a:xfrm>
            <a:off x="457200" y="685800"/>
            <a:ext cx="11274552" cy="320040"/>
          </a:xfrm>
          <a:prstGeom prst="rect">
            <a:avLst/>
          </a:prstGeom>
          <a:noFill/>
          <a:ln/>
        </p:spPr>
        <p:txBody>
          <a:bodyPr wrap="square" rtlCol="0" anchor="ctr"/>
          <a:lstStyle/>
          <a:p>
            <a:pPr indent="0" marL="0">
              <a:buNone/>
            </a:pPr>
            <a:r>
              <a:rPr lang="en-US" sz="1300" b="1" dirty="0">
                <a:solidFill>
                  <a:srgbClr val="0A0A0A"/>
                </a:solidFill>
                <a:latin typeface="Arial" pitchFamily="34" charset="0"/>
                <a:ea typeface="Arial" pitchFamily="34" charset="-122"/>
                <a:cs typeface="Arial" pitchFamily="34" charset="-120"/>
              </a:rPr>
              <a:t>US$2.5M · Pre-money US$9M–US$10M · Quiet raise</a:t>
            </a:r>
            <a:endParaRPr lang="en-US" sz="1300" dirty="0"/>
          </a:p>
        </p:txBody>
      </p:sp>
      <p:sp>
        <p:nvSpPr>
          <p:cNvPr id="11" name="Text 9"/>
          <p:cNvSpPr/>
          <p:nvPr/>
        </p:nvSpPr>
        <p:spPr>
          <a:xfrm>
            <a:off x="457200" y="1143000"/>
            <a:ext cx="5303520" cy="201168"/>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RAISE STRUCTURE</a:t>
            </a:r>
            <a:endParaRPr lang="en-US" sz="750" dirty="0"/>
          </a:p>
        </p:txBody>
      </p:sp>
      <p:sp>
        <p:nvSpPr>
          <p:cNvPr id="12" name="Shape 10"/>
          <p:cNvSpPr/>
          <p:nvPr/>
        </p:nvSpPr>
        <p:spPr>
          <a:xfrm>
            <a:off x="457200" y="1344168"/>
            <a:ext cx="5303520" cy="0"/>
          </a:xfrm>
          <a:prstGeom prst="line">
            <a:avLst/>
          </a:prstGeom>
          <a:noFill/>
          <a:ln w="9525">
            <a:solidFill>
              <a:srgbClr val="85D155"/>
            </a:solidFill>
            <a:prstDash val="solid"/>
          </a:ln>
        </p:spPr>
        <p:txBody>
          <a:bodyPr/>
          <a:p/>
        </p:txBody>
      </p:sp>
      <p:sp>
        <p:nvSpPr>
          <p:cNvPr id="13" name="Text 11"/>
          <p:cNvSpPr/>
          <p:nvPr/>
        </p:nvSpPr>
        <p:spPr>
          <a:xfrm>
            <a:off x="457200" y="1481328"/>
            <a:ext cx="1280160" cy="256032"/>
          </a:xfrm>
          <a:prstGeom prst="rect">
            <a:avLst/>
          </a:prstGeom>
          <a:noFill/>
          <a:ln/>
        </p:spPr>
        <p:txBody>
          <a:bodyPr wrap="square" rtlCol="0" anchor="ctr"/>
          <a:lstStyle/>
          <a:p>
            <a:pPr indent="0" marL="0">
              <a:buNone/>
            </a:pPr>
            <a:r>
              <a:rPr lang="en-US" sz="950" b="1" dirty="0">
                <a:solidFill>
                  <a:srgbClr val="0A0A0A"/>
                </a:solidFill>
                <a:latin typeface="Arial" pitchFamily="34" charset="0"/>
                <a:ea typeface="Arial" pitchFamily="34" charset="-122"/>
                <a:cs typeface="Arial" pitchFamily="34" charset="-120"/>
              </a:rPr>
              <a:t>Target:</a:t>
            </a:r>
            <a:endParaRPr lang="en-US" sz="950" dirty="0"/>
          </a:p>
        </p:txBody>
      </p:sp>
      <p:sp>
        <p:nvSpPr>
          <p:cNvPr id="14" name="Text 12"/>
          <p:cNvSpPr/>
          <p:nvPr/>
        </p:nvSpPr>
        <p:spPr>
          <a:xfrm>
            <a:off x="1783080" y="1481328"/>
            <a:ext cx="3931920" cy="256032"/>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US$2.5M</a:t>
            </a:r>
            <a:endParaRPr lang="en-US" sz="950" dirty="0"/>
          </a:p>
        </p:txBody>
      </p:sp>
      <p:sp>
        <p:nvSpPr>
          <p:cNvPr id="15" name="Text 13"/>
          <p:cNvSpPr/>
          <p:nvPr/>
        </p:nvSpPr>
        <p:spPr>
          <a:xfrm>
            <a:off x="457200" y="1773936"/>
            <a:ext cx="1280160" cy="256032"/>
          </a:xfrm>
          <a:prstGeom prst="rect">
            <a:avLst/>
          </a:prstGeom>
          <a:noFill/>
          <a:ln/>
        </p:spPr>
        <p:txBody>
          <a:bodyPr wrap="square" rtlCol="0" anchor="ctr"/>
          <a:lstStyle/>
          <a:p>
            <a:pPr indent="0" marL="0">
              <a:buNone/>
            </a:pPr>
            <a:r>
              <a:rPr lang="en-US" sz="950" b="1" dirty="0">
                <a:solidFill>
                  <a:srgbClr val="0A0A0A"/>
                </a:solidFill>
                <a:latin typeface="Arial" pitchFamily="34" charset="0"/>
                <a:ea typeface="Arial" pitchFamily="34" charset="-122"/>
                <a:cs typeface="Arial" pitchFamily="34" charset="-120"/>
              </a:rPr>
              <a:t>Pre-money:</a:t>
            </a:r>
            <a:endParaRPr lang="en-US" sz="950" dirty="0"/>
          </a:p>
        </p:txBody>
      </p:sp>
      <p:sp>
        <p:nvSpPr>
          <p:cNvPr id="16" name="Text 14"/>
          <p:cNvSpPr/>
          <p:nvPr/>
        </p:nvSpPr>
        <p:spPr>
          <a:xfrm>
            <a:off x="1783080" y="1773936"/>
            <a:ext cx="3931920" cy="256032"/>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US$9M – US$10M</a:t>
            </a:r>
            <a:endParaRPr lang="en-US" sz="950" dirty="0"/>
          </a:p>
        </p:txBody>
      </p:sp>
      <p:sp>
        <p:nvSpPr>
          <p:cNvPr id="17" name="Text 15"/>
          <p:cNvSpPr/>
          <p:nvPr/>
        </p:nvSpPr>
        <p:spPr>
          <a:xfrm>
            <a:off x="457200" y="2066544"/>
            <a:ext cx="1280160" cy="256032"/>
          </a:xfrm>
          <a:prstGeom prst="rect">
            <a:avLst/>
          </a:prstGeom>
          <a:noFill/>
          <a:ln/>
        </p:spPr>
        <p:txBody>
          <a:bodyPr wrap="square" rtlCol="0" anchor="ctr"/>
          <a:lstStyle/>
          <a:p>
            <a:pPr indent="0" marL="0">
              <a:buNone/>
            </a:pPr>
            <a:r>
              <a:rPr lang="en-US" sz="950" b="1" dirty="0">
                <a:solidFill>
                  <a:srgbClr val="0A0A0A"/>
                </a:solidFill>
                <a:latin typeface="Arial" pitchFamily="34" charset="0"/>
                <a:ea typeface="Arial" pitchFamily="34" charset="-122"/>
                <a:cs typeface="Arial" pitchFamily="34" charset="-120"/>
              </a:rPr>
              <a:t>Structure:</a:t>
            </a:r>
            <a:endParaRPr lang="en-US" sz="950" dirty="0"/>
          </a:p>
        </p:txBody>
      </p:sp>
      <p:sp>
        <p:nvSpPr>
          <p:cNvPr id="18" name="Text 16"/>
          <p:cNvSpPr/>
          <p:nvPr/>
        </p:nvSpPr>
        <p:spPr>
          <a:xfrm>
            <a:off x="1783080" y="2066544"/>
            <a:ext cx="3931920" cy="256032"/>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3–5 investors · boutique wealth practitioners or fintech-experienced angels with wealth management backgrounds</a:t>
            </a:r>
            <a:endParaRPr lang="en-US" sz="950" dirty="0"/>
          </a:p>
        </p:txBody>
      </p:sp>
      <p:sp>
        <p:nvSpPr>
          <p:cNvPr id="19" name="Text 17"/>
          <p:cNvSpPr/>
          <p:nvPr/>
        </p:nvSpPr>
        <p:spPr>
          <a:xfrm>
            <a:off x="457200" y="2359152"/>
            <a:ext cx="1280160" cy="256032"/>
          </a:xfrm>
          <a:prstGeom prst="rect">
            <a:avLst/>
          </a:prstGeom>
          <a:noFill/>
          <a:ln/>
        </p:spPr>
        <p:txBody>
          <a:bodyPr wrap="square" rtlCol="0" anchor="ctr"/>
          <a:lstStyle/>
          <a:p>
            <a:pPr indent="0" marL="0">
              <a:buNone/>
            </a:pPr>
            <a:r>
              <a:rPr lang="en-US" sz="950" b="1" dirty="0">
                <a:solidFill>
                  <a:srgbClr val="0A0A0A"/>
                </a:solidFill>
                <a:latin typeface="Arial" pitchFamily="34" charset="0"/>
                <a:ea typeface="Arial" pitchFamily="34" charset="-122"/>
                <a:cs typeface="Arial" pitchFamily="34" charset="-120"/>
              </a:rPr>
              <a:t>Compatibility:</a:t>
            </a:r>
            <a:endParaRPr lang="en-US" sz="950" dirty="0"/>
          </a:p>
        </p:txBody>
      </p:sp>
      <p:sp>
        <p:nvSpPr>
          <p:cNvPr id="20" name="Text 18"/>
          <p:cNvSpPr/>
          <p:nvPr/>
        </p:nvSpPr>
        <p:spPr>
          <a:xfrm>
            <a:off x="1783080" y="2359152"/>
            <a:ext cx="3931920" cy="256032"/>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Quiet raise · stealth-compatible · both founders commit full-time on close</a:t>
            </a:r>
            <a:endParaRPr lang="en-US" sz="950" dirty="0"/>
          </a:p>
        </p:txBody>
      </p:sp>
      <p:sp>
        <p:nvSpPr>
          <p:cNvPr id="21" name="Text 19"/>
          <p:cNvSpPr/>
          <p:nvPr/>
        </p:nvSpPr>
        <p:spPr>
          <a:xfrm>
            <a:off x="457200" y="2651760"/>
            <a:ext cx="1280160" cy="256032"/>
          </a:xfrm>
          <a:prstGeom prst="rect">
            <a:avLst/>
          </a:prstGeom>
          <a:noFill/>
          <a:ln/>
        </p:spPr>
        <p:txBody>
          <a:bodyPr wrap="square" rtlCol="0" anchor="ctr"/>
          <a:lstStyle/>
          <a:p>
            <a:pPr indent="0" marL="0">
              <a:buNone/>
            </a:pPr>
            <a:r>
              <a:rPr lang="en-US" sz="950" b="1" dirty="0">
                <a:solidFill>
                  <a:srgbClr val="0A0A0A"/>
                </a:solidFill>
                <a:latin typeface="Arial" pitchFamily="34" charset="0"/>
                <a:ea typeface="Arial" pitchFamily="34" charset="-122"/>
                <a:cs typeface="Arial" pitchFamily="34" charset="-120"/>
              </a:rPr>
              <a:t>Runway:</a:t>
            </a:r>
            <a:endParaRPr lang="en-US" sz="950" dirty="0"/>
          </a:p>
        </p:txBody>
      </p:sp>
      <p:sp>
        <p:nvSpPr>
          <p:cNvPr id="22" name="Text 20"/>
          <p:cNvSpPr/>
          <p:nvPr/>
        </p:nvSpPr>
        <p:spPr>
          <a:xfrm>
            <a:off x="1783080" y="2651760"/>
            <a:ext cx="3931920" cy="256032"/>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18–24 months to first Proof Partners live, first Alloy Partners Stage 2 active, Tenzor design phase complete. Series A milestone.</a:t>
            </a:r>
            <a:endParaRPr lang="en-US" sz="950" dirty="0"/>
          </a:p>
        </p:txBody>
      </p:sp>
      <p:sp>
        <p:nvSpPr>
          <p:cNvPr id="23" name="Text 21"/>
          <p:cNvSpPr/>
          <p:nvPr/>
        </p:nvSpPr>
        <p:spPr>
          <a:xfrm>
            <a:off x="457200" y="3054096"/>
            <a:ext cx="5303520" cy="201168"/>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USE OF PROCEEDS</a:t>
            </a:r>
            <a:endParaRPr lang="en-US" sz="750" dirty="0"/>
          </a:p>
        </p:txBody>
      </p:sp>
      <p:sp>
        <p:nvSpPr>
          <p:cNvPr id="24" name="Shape 22"/>
          <p:cNvSpPr/>
          <p:nvPr/>
        </p:nvSpPr>
        <p:spPr>
          <a:xfrm>
            <a:off x="457200" y="3255264"/>
            <a:ext cx="5303520" cy="0"/>
          </a:xfrm>
          <a:prstGeom prst="line">
            <a:avLst/>
          </a:prstGeom>
          <a:noFill/>
          <a:ln w="9525">
            <a:solidFill>
              <a:srgbClr val="85D155"/>
            </a:solidFill>
            <a:prstDash val="solid"/>
          </a:ln>
        </p:spPr>
        <p:txBody>
          <a:bodyPr/>
          <a:p/>
        </p:txBody>
      </p:sp>
      <p:sp>
        <p:nvSpPr>
          <p:cNvPr id="25" name="Text 23"/>
          <p:cNvSpPr/>
          <p:nvPr/>
        </p:nvSpPr>
        <p:spPr>
          <a:xfrm>
            <a:off x="457200" y="3374136"/>
            <a:ext cx="5303520" cy="24688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Five-person team salaries + benefits: US$1,030K/yr (market rate)</a:t>
            </a:r>
            <a:endParaRPr lang="en-US" sz="950" dirty="0"/>
          </a:p>
        </p:txBody>
      </p:sp>
      <p:sp>
        <p:nvSpPr>
          <p:cNvPr id="26" name="Text 24"/>
          <p:cNvSpPr/>
          <p:nvPr/>
        </p:nvSpPr>
        <p:spPr>
          <a:xfrm>
            <a:off x="457200" y="3648456"/>
            <a:ext cx="5303520" cy="24688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Infrastructure (AWS, tooling): US$36K/yr</a:t>
            </a:r>
            <a:endParaRPr lang="en-US" sz="950" dirty="0"/>
          </a:p>
        </p:txBody>
      </p:sp>
      <p:sp>
        <p:nvSpPr>
          <p:cNvPr id="27" name="Text 25"/>
          <p:cNvSpPr/>
          <p:nvPr/>
        </p:nvSpPr>
        <p:spPr>
          <a:xfrm>
            <a:off x="457200" y="3922776"/>
            <a:ext cx="5303520" cy="24688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Legal + compliance (SG, CH, UK): ~US$60K primarily Year 1</a:t>
            </a:r>
            <a:endParaRPr lang="en-US" sz="950" dirty="0"/>
          </a:p>
        </p:txBody>
      </p:sp>
      <p:sp>
        <p:nvSpPr>
          <p:cNvPr id="28" name="Text 26"/>
          <p:cNvSpPr/>
          <p:nvPr/>
        </p:nvSpPr>
        <p:spPr>
          <a:xfrm>
            <a:off x="457200" y="4197096"/>
            <a:ext cx="5303520" cy="24688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Sales + marketing: US$30K/yr growing with traction</a:t>
            </a:r>
            <a:endParaRPr lang="en-US" sz="950" dirty="0"/>
          </a:p>
        </p:txBody>
      </p:sp>
      <p:sp>
        <p:nvSpPr>
          <p:cNvPr id="29" name="Text 27"/>
          <p:cNvSpPr/>
          <p:nvPr/>
        </p:nvSpPr>
        <p:spPr>
          <a:xfrm>
            <a:off x="6400800" y="1143000"/>
            <a:ext cx="5303520" cy="201168"/>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WHY NOW</a:t>
            </a:r>
            <a:endParaRPr lang="en-US" sz="750" dirty="0"/>
          </a:p>
        </p:txBody>
      </p:sp>
      <p:sp>
        <p:nvSpPr>
          <p:cNvPr id="30" name="Shape 28"/>
          <p:cNvSpPr/>
          <p:nvPr/>
        </p:nvSpPr>
        <p:spPr>
          <a:xfrm>
            <a:off x="6400800" y="1344168"/>
            <a:ext cx="5303520" cy="0"/>
          </a:xfrm>
          <a:prstGeom prst="line">
            <a:avLst/>
          </a:prstGeom>
          <a:noFill/>
          <a:ln w="9525">
            <a:solidFill>
              <a:srgbClr val="85D155"/>
            </a:solidFill>
            <a:prstDash val="solid"/>
          </a:ln>
        </p:spPr>
        <p:txBody>
          <a:bodyPr/>
          <a:p/>
        </p:txBody>
      </p:sp>
      <p:sp>
        <p:nvSpPr>
          <p:cNvPr id="31" name="Text 29"/>
          <p:cNvSpPr/>
          <p:nvPr/>
        </p:nvSpPr>
        <p:spPr>
          <a:xfrm>
            <a:off x="6400800" y="1481328"/>
            <a:ext cx="5303520" cy="38404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Boutique practitioners face a genuine tool gap that grows with compliance requirements.</a:t>
            </a:r>
            <a:endParaRPr lang="en-US" sz="950" dirty="0"/>
          </a:p>
        </p:txBody>
      </p:sp>
      <p:sp>
        <p:nvSpPr>
          <p:cNvPr id="32" name="Text 30"/>
          <p:cNvSpPr/>
          <p:nvPr/>
        </p:nvSpPr>
        <p:spPr>
          <a:xfrm>
            <a:off x="6400800" y="1956816"/>
            <a:ext cx="5303520" cy="38404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Singapore family office market at scale — 2,000+ SFOs (MAS, 2024). Vektor is distribution-ready.</a:t>
            </a:r>
            <a:endParaRPr lang="en-US" sz="950" dirty="0"/>
          </a:p>
        </p:txBody>
      </p:sp>
      <p:sp>
        <p:nvSpPr>
          <p:cNvPr id="33" name="Text 31"/>
          <p:cNvSpPr/>
          <p:nvPr/>
        </p:nvSpPr>
        <p:spPr>
          <a:xfrm>
            <a:off x="6400800" y="2432304"/>
            <a:ext cx="5303520" cy="38404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CEO's OpenWealth credential positions InvestPuppy for the institutional channel before competitors can establish it.</a:t>
            </a:r>
            <a:endParaRPr lang="en-US" sz="950" dirty="0"/>
          </a:p>
        </p:txBody>
      </p:sp>
      <p:sp>
        <p:nvSpPr>
          <p:cNvPr id="34" name="Text 32"/>
          <p:cNvSpPr/>
          <p:nvPr/>
        </p:nvSpPr>
        <p:spPr>
          <a:xfrm>
            <a:off x="6400800" y="2907792"/>
            <a:ext cx="5303520" cy="38404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10-paper Unvarnished series establishes thought leadership before a product conversation begins.</a:t>
            </a:r>
            <a:endParaRPr lang="en-US" sz="950" dirty="0"/>
          </a:p>
        </p:txBody>
      </p:sp>
      <p:sp>
        <p:nvSpPr>
          <p:cNvPr id="35" name="Text 33"/>
          <p:cNvSpPr/>
          <p:nvPr/>
        </p:nvSpPr>
        <p:spPr>
          <a:xfrm>
            <a:off x="6400800" y="3383280"/>
            <a:ext cx="5303520" cy="38404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  Institutional sales cycles are 12–18 months. The raise funds the relationship development the product cannot accelerate.</a:t>
            </a:r>
            <a:endParaRPr lang="en-US" sz="950" dirty="0"/>
          </a:p>
        </p:txBody>
      </p:sp>
      <p:sp>
        <p:nvSpPr>
          <p:cNvPr id="36" name="Text 34"/>
          <p:cNvSpPr/>
          <p:nvPr/>
        </p:nvSpPr>
        <p:spPr>
          <a:xfrm>
            <a:off x="6400800" y="3950208"/>
            <a:ext cx="5303520" cy="201168"/>
          </a:xfrm>
          <a:prstGeom prst="rect">
            <a:avLst/>
          </a:prstGeom>
          <a:noFill/>
          <a:ln/>
        </p:spPr>
        <p:txBody>
          <a:bodyPr wrap="square" rtlCol="0" anchor="ctr"/>
          <a:lstStyle/>
          <a:p>
            <a:pPr indent="0" marL="0">
              <a:buNone/>
            </a:pPr>
            <a:r>
              <a:rPr lang="en-US" sz="750" b="1" dirty="0">
                <a:solidFill>
                  <a:srgbClr val="85D155"/>
                </a:solidFill>
                <a:latin typeface="Arial" pitchFamily="34" charset="0"/>
                <a:ea typeface="Arial" pitchFamily="34" charset="-122"/>
                <a:cs typeface="Arial" pitchFamily="34" charset="-120"/>
              </a:rPr>
              <a:t>THE IDEAL INVESTOR</a:t>
            </a:r>
            <a:endParaRPr lang="en-US" sz="750" dirty="0"/>
          </a:p>
        </p:txBody>
      </p:sp>
      <p:sp>
        <p:nvSpPr>
          <p:cNvPr id="37" name="Shape 35"/>
          <p:cNvSpPr/>
          <p:nvPr/>
        </p:nvSpPr>
        <p:spPr>
          <a:xfrm>
            <a:off x="6400800" y="4151376"/>
            <a:ext cx="5303520" cy="0"/>
          </a:xfrm>
          <a:prstGeom prst="line">
            <a:avLst/>
          </a:prstGeom>
          <a:noFill/>
          <a:ln w="9525">
            <a:solidFill>
              <a:srgbClr val="85D155"/>
            </a:solidFill>
            <a:prstDash val="solid"/>
          </a:ln>
        </p:spPr>
        <p:txBody>
          <a:bodyPr/>
          <a:p/>
        </p:txBody>
      </p:sp>
      <p:sp>
        <p:nvSpPr>
          <p:cNvPr id="38" name="Text 36"/>
          <p:cNvSpPr/>
          <p:nvPr/>
        </p:nvSpPr>
        <p:spPr>
          <a:xfrm>
            <a:off x="6400800" y="4270248"/>
            <a:ext cx="5303520" cy="1188720"/>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The ideal investor is a boutique wealth practitioner (family office, DPM, IWM, or MFO principal) who faces the tool gap Vektor is built to close, or a fintech-experienced angel with wealth management background, or a custodian bank corporate venture arm evaluating both investment and Wrapped channel partnership. Former executives of institutional portfolio management platforms are a natural fit.</a:t>
            </a:r>
            <a:endParaRPr lang="en-US" sz="900" dirty="0"/>
          </a:p>
        </p:txBody>
      </p:sp>
      <p:sp>
        <p:nvSpPr>
          <p:cNvPr id="39" name="Shape 37"/>
          <p:cNvSpPr/>
          <p:nvPr/>
        </p:nvSpPr>
        <p:spPr>
          <a:xfrm>
            <a:off x="457200" y="5468112"/>
            <a:ext cx="11274552" cy="73152"/>
          </a:xfrm>
          <a:prstGeom prst="rect">
            <a:avLst/>
          </a:prstGeom>
          <a:solidFill>
            <a:srgbClr val="F0F7EA"/>
          </a:solidFill>
          <a:ln/>
        </p:spPr>
        <p:txBody>
          <a:bodyPr/>
          <a:p/>
        </p:txBody>
      </p:sp>
      <p:sp>
        <p:nvSpPr>
          <p:cNvPr id="41" name="Shape 39"/>
          <p:cNvSpPr/>
          <p:nvPr/>
        </p:nvSpPr>
        <p:spPr>
          <a:xfrm>
            <a:off x="457200" y="5541264"/>
            <a:ext cx="11274552" cy="804672"/>
          </a:xfrm>
          <a:prstGeom prst="rect">
            <a:avLst/>
          </a:prstGeom>
          <a:solidFill>
            <a:srgbClr val="0A0A0A"/>
          </a:solidFill>
          <a:ln/>
        </p:spPr>
        <p:txBody>
          <a:bodyPr/>
          <a:p/>
        </p:txBody>
      </p:sp>
      <p:sp>
        <p:nvSpPr>
          <p:cNvPr id="42" name="Text 40"/>
          <p:cNvSpPr/>
          <p:nvPr/>
        </p:nvSpPr>
        <p:spPr>
          <a:xfrm>
            <a:off x="594360" y="5577840"/>
            <a:ext cx="11000232" cy="731520"/>
          </a:xfrm>
          <a:prstGeom prst="rect">
            <a:avLst/>
          </a:prstGeom>
          <a:noFill/>
          <a:ln/>
        </p:spPr>
        <p:txBody>
          <a:bodyPr wrap="square" rtlCol="0" anchor="ctr"/>
          <a:lstStyle/>
          <a:p>
            <a:pPr indent="0" marL="0">
              <a:buNone/>
            </a:pPr>
            <a:r>
              <a:rPr lang="en-US" sz="1000" i="1" dirty="0">
                <a:solidFill>
                  <a:srgbClr val="FFFFFF"/>
                </a:solidFill>
                <a:latin typeface="Arial" pitchFamily="34" charset="0"/>
                <a:ea typeface="Arial" pitchFamily="34" charset="-122"/>
                <a:cs typeface="Arial" pitchFamily="34" charset="-120"/>
              </a:rPr>
              <a:t>"We built the team before the raise. We published ten papers before the product conversation. We opened the Proof Partners programme before the first investor meeting. This is not a pitch for an idea. It is a raise to fund a product that already exists and a sales cycle that has already started."</a:t>
            </a:r>
            <a:endParaRPr lang="en-US" sz="1000" dirty="0"/>
          </a:p>
          <a:p>
            <a:pPr algn="ctr"/>
            <a:r>
              <a:rPr lang="en-US" sz="800" b="0" i="0" dirty="0">
                <a:solidFill>
                  <a:srgbClr val="85D155"/>
                </a:solidFill>
              </a:rPr>
              <a:t>CEO@investpuppy.com · investpuppy.com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548640"/>
          </a:xfrm>
          <a:prstGeom prst="rect">
            <a:avLst/>
          </a:prstGeom>
          <a:solidFill>
            <a:srgbClr val="0A0A0A"/>
          </a:solidFill>
          <a:ln/>
        </p:spPr>
        <p:txBody>
          <a:bodyPr/>
          <a:p/>
        </p:txBody>
      </p:sp>
      <p:sp>
        <p:nvSpPr>
          <p:cNvPr id="3" name="Text 1"/>
          <p:cNvSpPr/>
          <p:nvPr/>
        </p:nvSpPr>
        <p:spPr>
          <a:xfrm>
            <a:off x="457200" y="45720"/>
            <a:ext cx="182880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Invest</a:t>
            </a:r>
            <a:pPr indent="0" marL="0">
              <a:buNone/>
            </a:pPr>
            <a:r>
              <a:rPr lang="en-US" sz="1400" b="1" dirty="0">
                <a:solidFill>
                  <a:srgbClr val="85D155"/>
                </a:solidFill>
                <a:latin typeface="Arial" pitchFamily="34" charset="0"/>
                <a:ea typeface="Arial" pitchFamily="34" charset="-122"/>
                <a:cs typeface="Arial" pitchFamily="34" charset="-120"/>
              </a:rPr>
              <a:t>Puppy</a:t>
            </a:r>
            <a:endParaRPr lang="en-US" sz="1400" dirty="0"/>
          </a:p>
        </p:txBody>
      </p:sp>
      <p:sp>
        <p:nvSpPr>
          <p:cNvPr id="4" name="Text 2"/>
          <p:cNvSpPr/>
          <p:nvPr/>
        </p:nvSpPr>
        <p:spPr>
          <a:xfrm>
            <a:off x="8531352" y="45720"/>
            <a:ext cx="3200400" cy="274320"/>
          </a:xfrm>
          <a:prstGeom prst="rect">
            <a:avLst/>
          </a:prstGeom>
          <a:noFill/>
          <a:ln/>
        </p:spPr>
        <p:txBody>
          <a:bodyPr wrap="square" rtlCol="0" anchor="ctr"/>
          <a:lstStyle/>
          <a:p>
            <a:pPr algn="r" indent="0" marL="0">
              <a:buNone/>
            </a:pPr>
            <a:r>
              <a:rPr lang="en-US" sz="900" dirty="0">
                <a:solidFill>
                  <a:srgbClr val="FFFFFF"/>
                </a:solidFill>
                <a:latin typeface="Arial" pitchFamily="34" charset="0"/>
                <a:ea typeface="Arial" pitchFamily="34" charset="-122"/>
                <a:cs typeface="Arial" pitchFamily="34" charset="-120"/>
              </a:rPr>
              <a:t>Appendix — Delivery Models</a:t>
            </a:r>
            <a:endParaRPr lang="en-US" sz="900" dirty="0"/>
          </a:p>
        </p:txBody>
      </p:sp>
      <p:sp>
        <p:nvSpPr>
          <p:cNvPr id="5" name="Text 3"/>
          <p:cNvSpPr/>
          <p:nvPr/>
        </p:nvSpPr>
        <p:spPr>
          <a:xfrm>
            <a:off x="8531352" y="301752"/>
            <a:ext cx="3200400" cy="201168"/>
          </a:xfrm>
          <a:prstGeom prst="rect">
            <a:avLst/>
          </a:prstGeom>
          <a:noFill/>
          <a:ln/>
        </p:spPr>
        <p:txBody>
          <a:bodyPr wrap="square" rtlCol="0" anchor="ctr"/>
          <a:lstStyle/>
          <a:p>
            <a:pPr algn="r" indent="0" marL="0">
              <a:buNone/>
            </a:pPr>
            <a:r>
              <a:rPr lang="en-US" sz="800" dirty="0">
                <a:solidFill>
                  <a:srgbClr val="888888"/>
                </a:solidFill>
                <a:latin typeface="Arial" pitchFamily="34" charset="0"/>
                <a:ea typeface="Arial" pitchFamily="34" charset="-122"/>
                <a:cs typeface="Arial" pitchFamily="34" charset="-120"/>
              </a:rPr>
              <a:t>Confidential · May 2026</a:t>
            </a:r>
            <a:endParaRPr lang="en-US" sz="800" dirty="0"/>
          </a:p>
        </p:txBody>
      </p:sp>
      <p:sp>
        <p:nvSpPr>
          <p:cNvPr id="6" name="Shape 4"/>
          <p:cNvSpPr/>
          <p:nvPr/>
        </p:nvSpPr>
        <p:spPr>
          <a:xfrm>
            <a:off x="0" y="548640"/>
            <a:ext cx="12188952" cy="0"/>
          </a:xfrm>
          <a:prstGeom prst="line">
            <a:avLst/>
          </a:prstGeom>
          <a:noFill/>
          <a:ln w="25400">
            <a:solidFill>
              <a:srgbClr val="85D155"/>
            </a:solidFill>
            <a:prstDash val="solid"/>
          </a:ln>
        </p:spPr>
        <p:txBody>
          <a:bodyPr/>
          <a:p/>
        </p:txBody>
      </p:sp>
      <p:sp>
        <p:nvSpPr>
          <p:cNvPr id="7" name="Shape 5"/>
          <p:cNvSpPr/>
          <p:nvPr/>
        </p:nvSpPr>
        <p:spPr>
          <a:xfrm>
            <a:off x="457200" y="6510528"/>
            <a:ext cx="11274552" cy="0"/>
          </a:xfrm>
          <a:prstGeom prst="line">
            <a:avLst/>
          </a:prstGeom>
          <a:noFill/>
          <a:ln w="6350">
            <a:solidFill>
              <a:srgbClr val="D0D0D0"/>
            </a:solidFill>
            <a:prstDash val="solid"/>
          </a:ln>
        </p:spPr>
        <p:txBody>
          <a:bodyPr/>
          <a:p/>
        </p:txBody>
      </p:sp>
      <p:sp>
        <p:nvSpPr>
          <p:cNvPr id="8" name="Text 6"/>
          <p:cNvSpPr/>
          <p:nvPr/>
        </p:nvSpPr>
        <p:spPr>
          <a:xfrm>
            <a:off x="457200" y="6547104"/>
            <a:ext cx="10360152" cy="219456"/>
          </a:xfrm>
          <a:prstGeom prst="rect">
            <a:avLst/>
          </a:prstGeom>
          <a:noFill/>
          <a:ln/>
        </p:spPr>
        <p:txBody>
          <a:bodyPr wrap="square" rtlCol="0" anchor="ctr"/>
          <a:lstStyle/>
          <a:p>
            <a:pPr indent="0" marL="0">
              <a:buNone/>
            </a:pPr>
            <a:r>
              <a:rPr lang="en-US" sz="750" dirty="0">
                <a:solidFill>
                  <a:srgbClr val="888888"/>
                </a:solidFill>
                <a:latin typeface="Arial" pitchFamily="34" charset="0"/>
                <a:ea typeface="Arial" pitchFamily="34" charset="-122"/>
                <a:cs typeface="Arial" pitchFamily="34" charset="-120"/>
              </a:rPr>
              <a:t>InvestPuppy Pte Ltd · investpuppy.com · Confidential</a:t>
            </a:r>
            <a:endParaRPr lang="en-US" sz="750" dirty="0"/>
          </a:p>
        </p:txBody>
      </p:sp>
      <p:sp>
        <p:nvSpPr>
          <p:cNvPr id="9" name="Text 7"/>
          <p:cNvSpPr/>
          <p:nvPr/>
        </p:nvSpPr>
        <p:spPr>
          <a:xfrm>
            <a:off x="11457432" y="6547104"/>
            <a:ext cx="502920" cy="219456"/>
          </a:xfrm>
          <a:prstGeom prst="rect">
            <a:avLst/>
          </a:prstGeom>
          <a:noFill/>
          <a:ln/>
        </p:spPr>
        <p:txBody>
          <a:bodyPr wrap="square" rtlCol="0" anchor="ctr"/>
          <a:lstStyle/>
          <a:p>
            <a:pPr algn="r" indent="0" marL="0">
              <a:buNone/>
            </a:pPr>
            <a:r>
              <a:rPr lang="en-US" sz="750" dirty="0">
                <a:solidFill>
                  <a:srgbClr val="888888"/>
                </a:solidFill>
                <a:latin typeface="Arial" pitchFamily="34" charset="0"/>
                <a:ea typeface="Arial" pitchFamily="34" charset="-122"/>
                <a:cs typeface="Arial" pitchFamily="34" charset="-120"/>
              </a:rPr>
              <a:t>12</a:t>
            </a:r>
            <a:endParaRPr lang="en-US" sz="750" dirty="0"/>
          </a:p>
        </p:txBody>
      </p:sp>
      <p:sp>
        <p:nvSpPr>
          <p:cNvPr id="10" name="Text 8"/>
          <p:cNvSpPr/>
          <p:nvPr/>
        </p:nvSpPr>
        <p:spPr>
          <a:xfrm>
            <a:off x="457200" y="685800"/>
            <a:ext cx="11274552" cy="274320"/>
          </a:xfrm>
          <a:prstGeom prst="rect">
            <a:avLst/>
          </a:prstGeom>
          <a:noFill/>
          <a:ln/>
        </p:spPr>
        <p:txBody>
          <a:bodyPr wrap="square" rtlCol="0" anchor="ctr"/>
          <a:lstStyle/>
          <a:p>
            <a:pPr indent="0" marL="0">
              <a:buNone/>
            </a:pPr>
            <a:r>
              <a:rPr lang="en-US" sz="1000" i="1" dirty="0">
                <a:solidFill>
                  <a:srgbClr val="888888"/>
                </a:solidFill>
                <a:latin typeface="Arial" pitchFamily="34" charset="0"/>
                <a:ea typeface="Arial" pitchFamily="34" charset="-122"/>
                <a:cs typeface="Arial" pitchFamily="34" charset="-120"/>
              </a:rPr>
              <a:t>For reference — ip-three-delivery-models-v2.pdf (public distribution)</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11274552" cy="914400"/>
        </p:xfrm>
        <a:graphic>
          <a:graphicData uri="http://schemas.openxmlformats.org/drawingml/2006/table">
            <a:tbl>
              <a:tblPr/>
              <a:tblGrid>
                <a:gridCol w="2818638"/>
                <a:gridCol w="2818638"/>
                <a:gridCol w="2818638"/>
                <a:gridCol w="2818638"/>
              </a:tblGrid>
              <a:tr h="457200">
                <a:tc>
                  <a:txBody>
                    <a:bodyPr/>
                    <a:lstStyle/>
                    <a:p>
                      <a:pPr algn="l" indent="0" marL="0">
                        <a:buNone/>
                      </a:pPr>
                      <a:endParaRPr lang="en-US" sz="8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A0A0A"/>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Vektor : Boutique</a:t>
                      </a:r>
                      <a:endParaRPr lang="en-US" sz="8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A0A0A"/>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Vektor : House</a:t>
                      </a:r>
                      <a:endParaRPr lang="en-US" sz="8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A0A0A"/>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Vektor : Wrapped</a:t>
                      </a:r>
                      <a:endParaRPr lang="en-US" sz="80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0A0A0A"/>
                    </a:solidFill>
                  </a:tcPr>
                </a:tc>
              </a:tr>
              <a:tr h="457200">
                <a:tc>
                  <a:txBody>
                    <a:bodyPr/>
                    <a:lstStyle/>
                    <a:p>
                      <a:pPr algn="l" indent="0" marL="0">
                        <a:buNone/>
                      </a:pPr>
                      <a:r>
                        <a:rPr lang="en-US" sz="950" b="1" dirty="0">
                          <a:solidFill>
                            <a:srgbClr val="0A0A0A"/>
                          </a:solidFill>
                          <a:latin typeface="Arial" pitchFamily="34" charset="0"/>
                          <a:ea typeface="Arial" pitchFamily="34" charset="-122"/>
                          <a:cs typeface="Arial" pitchFamily="34" charset="-120"/>
                        </a:rPr>
                        <a:t>Channel</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Direct · boutique</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Direct · institutional</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Intermediated · bank</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0A0A0A"/>
                          </a:solidFill>
                          <a:latin typeface="Arial" pitchFamily="34" charset="0"/>
                          <a:ea typeface="Arial" pitchFamily="34" charset="-122"/>
                          <a:cs typeface="Arial" pitchFamily="34" charset="-120"/>
                        </a:rPr>
                        <a:t>Client</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DPMs, RIAs, FOs</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Bank DPM desks, MFOs</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EAMs via custodian bank</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r>
              <a:tr h="457200">
                <a:tc>
                  <a:txBody>
                    <a:bodyPr/>
                    <a:lstStyle/>
                    <a:p>
                      <a:pPr algn="l" indent="0" marL="0">
                        <a:buNone/>
                      </a:pPr>
                      <a:r>
                        <a:rPr lang="en-US" sz="950" b="1" dirty="0">
                          <a:solidFill>
                            <a:srgbClr val="0A0A0A"/>
                          </a:solidFill>
                          <a:latin typeface="Arial" pitchFamily="34" charset="0"/>
                          <a:ea typeface="Arial" pitchFamily="34" charset="-122"/>
                          <a:cs typeface="Arial" pitchFamily="34" charset="-120"/>
                        </a:rPr>
                        <a:t>Contract</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Annual subscription</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Alloy Partners ACV</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Platform licence + per-mandate</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0A0A0A"/>
                          </a:solidFill>
                          <a:latin typeface="Arial" pitchFamily="34" charset="0"/>
                          <a:ea typeface="Arial" pitchFamily="34" charset="-122"/>
                          <a:cs typeface="Arial" pitchFamily="34" charset="-120"/>
                        </a:rPr>
                        <a:t>Data</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InvestPuppy holds PII· DPA required</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Standard cloud or hybrid (no PII in cloud)</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InvestPuppy holds no EAM PII — structural</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r>
              <a:tr h="457200">
                <a:tc>
                  <a:txBody>
                    <a:bodyPr/>
                    <a:lstStyle/>
                    <a:p>
                      <a:pPr algn="l" indent="0" marL="0">
                        <a:buNone/>
                      </a:pPr>
                      <a:r>
                        <a:rPr lang="en-US" sz="950" b="1" dirty="0">
                          <a:solidFill>
                            <a:srgbClr val="0A0A0A"/>
                          </a:solidFill>
                          <a:latin typeface="Arial" pitchFamily="34" charset="0"/>
                          <a:ea typeface="Arial" pitchFamily="34" charset="-122"/>
                          <a:cs typeface="Arial" pitchFamily="34" charset="-120"/>
                        </a:rPr>
                        <a:t>Programme</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Proof Partners</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Alloy Partners</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Wrapped licensing</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0A0A0A"/>
                          </a:solidFill>
                          <a:latin typeface="Arial" pitchFamily="34" charset="0"/>
                          <a:ea typeface="Arial" pitchFamily="34" charset="-122"/>
                          <a:cs typeface="Arial" pitchFamily="34" charset="-120"/>
                        </a:rPr>
                        <a:t>Status</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Open now</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Stage 1 open now</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Pipeline building</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4F4F4"/>
                    </a:solidFill>
                  </a:tcPr>
                </a:tc>
              </a:tr>
              <a:tr h="457200">
                <a:tc>
                  <a:txBody>
                    <a:bodyPr/>
                    <a:lstStyle/>
                    <a:p>
                      <a:pPr algn="l" indent="0" marL="0">
                        <a:buNone/>
                      </a:pPr>
                      <a:r>
                        <a:rPr lang="en-US" sz="950" b="1" dirty="0">
                          <a:solidFill>
                            <a:srgbClr val="0A0A0A"/>
                          </a:solidFill>
                          <a:latin typeface="Arial" pitchFamily="34" charset="0"/>
                          <a:ea typeface="Arial" pitchFamily="34" charset="-122"/>
                          <a:cs typeface="Arial" pitchFamily="34" charset="-120"/>
                        </a:rPr>
                        <a:t>Product</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Identical</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Identical</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Identical</a:t>
                      </a:r>
                      <a:endParaRPr lang="en-US" sz="950" dirty="0">
                        <a:latin typeface="Arial" charset="0"/>
                        <a:ea typeface="Arial" charset="0"/>
                        <a:cs typeface="Arial" charset="0"/>
                      </a:endParaRPr>
                    </a:p>
                  </a:txBody>
                  <a:tcPr marL="91440" marR="91440" marT="45720" marB="45720">
                    <a:lnL w="3175" cap="flat" cmpd="sng" algn="ctr">
                      <a:solidFill>
                        <a:srgbClr val="D0D0D0"/>
                      </a:solidFill>
                      <a:prstDash val="solid"/>
                      <a:round/>
                      <a:headEnd type="none" w="med" len="med"/>
                      <a:tailEnd type="none" w="med" len="med"/>
                    </a:lnL>
                    <a:lnR w="3175" cap="flat" cmpd="sng" algn="ctr">
                      <a:solidFill>
                        <a:srgbClr val="D0D0D0"/>
                      </a:solidFill>
                      <a:prstDash val="solid"/>
                      <a:round/>
                      <a:headEnd type="none" w="med" len="med"/>
                      <a:tailEnd type="none" w="med" len="med"/>
                    </a:lnR>
                    <a:lnT w="3175" cap="flat" cmpd="sng" algn="ctr">
                      <a:solidFill>
                        <a:srgbClr val="D0D0D0"/>
                      </a:solidFill>
                      <a:prstDash val="solid"/>
                      <a:round/>
                      <a:headEnd type="none" w="med" len="med"/>
                      <a:tailEnd type="none" w="med" len="med"/>
                    </a:lnT>
                    <a:lnB w="3175" cap="flat" cmpd="sng" algn="ctr">
                      <a:solidFill>
                        <a:srgbClr val="D0D0D0"/>
                      </a:solidFill>
                      <a:prstDash val="solid"/>
                      <a:round/>
                      <a:headEnd type="none" w="med" len="med"/>
                      <a:tailEnd type="none" w="med" len="med"/>
                    </a:lnB>
                    <a:solidFill>
                      <a:srgbClr val="FFFFFF"/>
                    </a:solidFill>
                  </a:tcPr>
                </a:tc>
              </a:tr>
            </a:tbl>
          </a:graphicData>
        </a:graphic>
      </p:graphicFrame>
      <p:sp>
        <p:nvSpPr>
          <p:cNvPr id="12" name="Text 9"/>
          <p:cNvSpPr/>
          <p:nvPr/>
        </p:nvSpPr>
        <p:spPr>
          <a:xfrm>
            <a:off x="457200" y="5257800"/>
            <a:ext cx="11274552" cy="256032"/>
          </a:xfrm>
          <a:prstGeom prst="rect">
            <a:avLst/>
          </a:prstGeom>
          <a:noFill/>
          <a:ln/>
        </p:spPr>
        <p:txBody>
          <a:bodyPr wrap="square" rtlCol="0" anchor="ctr"/>
          <a:lstStyle/>
          <a:p>
            <a:pPr indent="0" marL="0">
              <a:buNone/>
            </a:pPr>
            <a:r>
              <a:rPr lang="en-US" sz="950" b="1" i="1" dirty="0">
                <a:solidFill>
                  <a:srgbClr val="0A0A0A"/>
                </a:solidFill>
                <a:latin typeface="Arial" pitchFamily="34" charset="0"/>
                <a:ea typeface="Arial" pitchFamily="34" charset="-122"/>
                <a:cs typeface="Arial" pitchFamily="34" charset="-120"/>
              </a:rPr>
              <a:t>One product. Delivery model ≠ product quality. Methodology, signal generation, and audit trail identical in every deployment.</a:t>
            </a:r>
            <a:endParaRPr lang="en-US" sz="950" dirty="0"/>
          </a:p>
        </p:txBody>
      </p:sp>
      <p:sp>
        <p:nvSpPr>
          <p:cNvPr id="13" name="Shape 10"/>
          <p:cNvSpPr/>
          <p:nvPr/>
        </p:nvSpPr>
        <p:spPr>
          <a:xfrm>
            <a:off x="457200" y="5577840"/>
            <a:ext cx="11274552" cy="530352"/>
          </a:xfrm>
          <a:prstGeom prst="rect">
            <a:avLst/>
          </a:prstGeom>
          <a:solidFill>
            <a:srgbClr val="F0F7EA"/>
          </a:solidFill>
          <a:ln/>
        </p:spPr>
        <p:txBody>
          <a:bodyPr/>
          <a:p/>
        </p:txBody>
      </p:sp>
      <p:sp>
        <p:nvSpPr>
          <p:cNvPr id="14" name="Text 11"/>
          <p:cNvSpPr/>
          <p:nvPr/>
        </p:nvSpPr>
        <p:spPr>
          <a:xfrm>
            <a:off x="594360" y="5650992"/>
            <a:ext cx="11000232" cy="38404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Migration between delivery models is supported in both directions. Defined process. Never 'upgrade' or 'downgrade' — always 'migration'.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2026-05-18T08:21:13Z</dcterms:created>
  <dcterms:modified xsi:type="dcterms:W3CDTF">2026-05-18T08:21:13Z</dcterms:modified>
</cp:coreProperties>
</file>