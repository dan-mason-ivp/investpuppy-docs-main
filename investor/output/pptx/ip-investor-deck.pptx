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7132320" y="182880"/>
            <a:ext cx="2194560" cy="2194560"/>
          </a:xfrm>
          <a:prstGeom prst="ellipse">
            <a:avLst/>
          </a:prstGeom>
          <a:solidFill>
            <a:srgbClr val="85D155">
              <a:alpha val="10000"/>
            </a:srgbClr>
          </a:solidFill>
          <a:ln w="12700">
            <a:solidFill>
              <a:srgbClr val="85D155"/>
            </a:solidFill>
            <a:prstDash val="solid"/>
          </a:ln>
        </p:spPr>
      </p:sp>
      <p:sp>
        <p:nvSpPr>
          <p:cNvPr id="3" name="Shape 1"/>
          <p:cNvSpPr/>
          <p:nvPr/>
        </p:nvSpPr>
        <p:spPr>
          <a:xfrm>
            <a:off x="8138160" y="3383280"/>
            <a:ext cx="914400" cy="914400"/>
          </a:xfrm>
          <a:prstGeom prst="ellipse">
            <a:avLst/>
          </a:prstGeom>
          <a:solidFill>
            <a:srgbClr val="85D155">
              <a:alpha val="15000"/>
            </a:srgbClr>
          </a:solidFill>
          <a:ln w="12700">
            <a:solidFill>
              <a:srgbClr val="85D155"/>
            </a:solidFill>
            <a:prstDash val="solid"/>
          </a:ln>
        </p:spPr>
      </p:sp>
      <p:pic>
        <p:nvPicPr>
          <p:cNvPr id="4" name="Image 0" descr="/home/claude/investpuppy/_shared/logos/ip_logo_dark_bg.png">    </p:cNvPr>
          <p:cNvPicPr>
            <a:picLocks noChangeAspect="1"/>
          </p:cNvPicPr>
          <p:nvPr/>
        </p:nvPicPr>
        <p:blipFill>
          <a:blip r:embed="rId1"/>
          <a:stretch>
            <a:fillRect/>
          </a:stretch>
        </p:blipFill>
        <p:spPr>
          <a:xfrm>
            <a:off x="457200" y="329184"/>
            <a:ext cx="803758" cy="658368"/>
          </a:xfrm>
          <a:prstGeom prst="rect">
            <a:avLst/>
          </a:prstGeom>
        </p:spPr>
      </p:pic>
      <p:sp>
        <p:nvSpPr>
          <p:cNvPr id="5" name="Shape 2"/>
          <p:cNvSpPr/>
          <p:nvPr/>
        </p:nvSpPr>
        <p:spPr>
          <a:xfrm>
            <a:off x="457200" y="1005840"/>
            <a:ext cx="2331720" cy="256032"/>
          </a:xfrm>
          <a:prstGeom prst="rect">
            <a:avLst/>
          </a:prstGeom>
          <a:solidFill>
            <a:srgbClr val="1D1D24"/>
          </a:solidFill>
          <a:ln w="6350">
            <a:solidFill>
              <a:srgbClr val="333340"/>
            </a:solidFill>
            <a:prstDash val="solid"/>
          </a:ln>
        </p:spPr>
      </p:sp>
      <p:sp>
        <p:nvSpPr>
          <p:cNvPr id="6" name="Text 3"/>
          <p:cNvSpPr/>
          <p:nvPr/>
        </p:nvSpPr>
        <p:spPr>
          <a:xfrm>
            <a:off x="457200" y="1005840"/>
            <a:ext cx="2331720" cy="256032"/>
          </a:xfrm>
          <a:prstGeom prst="rect">
            <a:avLst/>
          </a:prstGeom>
          <a:noFill/>
          <a:ln/>
        </p:spPr>
        <p:txBody>
          <a:bodyPr wrap="square" lIns="0" tIns="0" rIns="0" bIns="0" rtlCol="0" anchor="ctr"/>
          <a:lstStyle/>
          <a:p>
            <a:pPr algn="ctr" indent="0" marL="0">
              <a:buNone/>
            </a:pPr>
            <a:r>
              <a:rPr lang="en-US" sz="750" b="1" spc="80" kern="0" dirty="0">
                <a:solidFill>
                  <a:srgbClr val="85D155"/>
                </a:solidFill>
                <a:latin typeface="Poppins" pitchFamily="34" charset="0"/>
                <a:ea typeface="Poppins" pitchFamily="34" charset="-122"/>
                <a:cs typeface="Poppins" pitchFamily="34" charset="-120"/>
              </a:rPr>
              <a:t>SEED ROUND  ·  S$1M – S$2M</a:t>
            </a:r>
            <a:endParaRPr lang="en-US" sz="750" dirty="0"/>
          </a:p>
        </p:txBody>
      </p:sp>
      <p:sp>
        <p:nvSpPr>
          <p:cNvPr id="7" name="Text 4"/>
          <p:cNvSpPr/>
          <p:nvPr/>
        </p:nvSpPr>
        <p:spPr>
          <a:xfrm>
            <a:off x="457200" y="1481328"/>
            <a:ext cx="6949440" cy="1371600"/>
          </a:xfrm>
          <a:prstGeom prst="rect">
            <a:avLst/>
          </a:prstGeom>
          <a:noFill/>
          <a:ln/>
        </p:spPr>
        <p:txBody>
          <a:bodyPr wrap="square" lIns="0" tIns="0" rIns="0" bIns="0" rtlCol="0" anchor="ctr"/>
          <a:lstStyle/>
          <a:p>
            <a:pPr indent="0" marL="0">
              <a:buNone/>
            </a:pPr>
            <a:r>
              <a:rPr lang="en-US" sz="3400" b="1" dirty="0">
                <a:solidFill>
                  <a:srgbClr val="FFFFFF"/>
                </a:solidFill>
                <a:latin typeface="Poppins" pitchFamily="34" charset="0"/>
                <a:ea typeface="Poppins" pitchFamily="34" charset="-122"/>
                <a:cs typeface="Poppins" pitchFamily="34" charset="-120"/>
              </a:rPr>
              <a:t>Systematic equity intelligence</a:t>
            </a:r>
            <a:endParaRPr lang="en-US" sz="3400" dirty="0"/>
          </a:p>
          <a:p>
            <a:pPr indent="0" marL="0">
              <a:buNone/>
            </a:pPr>
            <a:r>
              <a:rPr lang="en-US" sz="3400" b="1" dirty="0">
                <a:solidFill>
                  <a:srgbClr val="85D155"/>
                </a:solidFill>
                <a:latin typeface="Poppins" pitchFamily="34" charset="0"/>
                <a:ea typeface="Poppins" pitchFamily="34" charset="-122"/>
                <a:cs typeface="Poppins" pitchFamily="34" charset="-120"/>
              </a:rPr>
              <a:t>for serious portfolio managers.</a:t>
            </a:r>
            <a:endParaRPr lang="en-US" sz="3400" dirty="0"/>
          </a:p>
        </p:txBody>
      </p:sp>
      <p:sp>
        <p:nvSpPr>
          <p:cNvPr id="8" name="Text 5"/>
          <p:cNvSpPr/>
          <p:nvPr/>
        </p:nvSpPr>
        <p:spPr>
          <a:xfrm>
            <a:off x="457200" y="2999232"/>
            <a:ext cx="6217920" cy="868680"/>
          </a:xfrm>
          <a:prstGeom prst="rect">
            <a:avLst/>
          </a:prstGeom>
          <a:noFill/>
          <a:ln/>
        </p:spPr>
        <p:txBody>
          <a:bodyPr wrap="square" lIns="0" tIns="0" rIns="0" bIns="0" rtlCol="0" anchor="t"/>
          <a:lstStyle/>
          <a:p>
            <a:pPr indent="0" marL="0">
              <a:buNone/>
            </a:pPr>
            <a:r>
              <a:rPr lang="en-US" sz="1100" dirty="0">
                <a:solidFill>
                  <a:srgbClr val="888888"/>
                </a:solidFill>
                <a:latin typeface="Poppins" pitchFamily="34" charset="0"/>
                <a:ea typeface="Poppins" pitchFamily="34" charset="-122"/>
                <a:cs typeface="Poppins" pitchFamily="34" charset="-120"/>
              </a:rPr>
              <a:t>We are pre-revenue. The platform is built and runs in simulation mode. We are raising S$1–2M to make it live. This is the honest case for why that is interesting.</a:t>
            </a:r>
            <a:endParaRPr lang="en-US" sz="1100" dirty="0"/>
          </a:p>
        </p:txBody>
      </p:sp>
      <p:sp>
        <p:nvSpPr>
          <p:cNvPr id="9" name="Text 6"/>
          <p:cNvSpPr/>
          <p:nvPr/>
        </p:nvSpPr>
        <p:spPr>
          <a:xfrm>
            <a:off x="457200" y="4681728"/>
            <a:ext cx="4572000" cy="219456"/>
          </a:xfrm>
          <a:prstGeom prst="rect">
            <a:avLst/>
          </a:prstGeom>
          <a:noFill/>
          <a:ln/>
        </p:spPr>
        <p:txBody>
          <a:bodyPr wrap="square" lIns="0" tIns="0" rIns="0" bIns="0" rtlCol="0" anchor="ctr"/>
          <a:lstStyle/>
          <a:p>
            <a:pPr indent="0" marL="0">
              <a:buNone/>
            </a:pPr>
            <a:r>
              <a:rPr lang="en-US" sz="800" dirty="0">
                <a:solidFill>
                  <a:srgbClr val="555555"/>
                </a:solidFill>
                <a:latin typeface="Poppins" pitchFamily="34" charset="0"/>
                <a:ea typeface="Poppins" pitchFamily="34" charset="-122"/>
                <a:cs typeface="Poppins" pitchFamily="34" charset="-120"/>
              </a:rPr>
              <a:t>contact@investpuppy.com  ·  investpuppy.com</a:t>
            </a:r>
            <a:endParaRPr lang="en-US" sz="800" dirty="0"/>
          </a:p>
        </p:txBody>
      </p:sp>
      <p:sp>
        <p:nvSpPr>
          <p:cNvPr id="10" name="Text 7"/>
          <p:cNvSpPr/>
          <p:nvPr/>
        </p:nvSpPr>
        <p:spPr>
          <a:xfrm>
            <a:off x="6949440" y="4681728"/>
            <a:ext cx="1737360" cy="219456"/>
          </a:xfrm>
          <a:prstGeom prst="rect">
            <a:avLst/>
          </a:prstGeom>
          <a:noFill/>
          <a:ln/>
        </p:spPr>
        <p:txBody>
          <a:bodyPr wrap="square" lIns="0" tIns="0" rIns="0" bIns="0" rtlCol="0" anchor="ctr"/>
          <a:lstStyle/>
          <a:p>
            <a:pPr algn="r" indent="0" marL="0">
              <a:buNone/>
            </a:pPr>
            <a:r>
              <a:rPr lang="en-US" sz="700" b="1" spc="150" kern="0" dirty="0">
                <a:solidFill>
                  <a:srgbClr val="404040"/>
                </a:solidFill>
                <a:latin typeface="Poppins" pitchFamily="34" charset="0"/>
                <a:ea typeface="Poppins" pitchFamily="34" charset="-122"/>
                <a:cs typeface="Poppins" pitchFamily="34" charset="-120"/>
              </a:rPr>
              <a:t>CONFIDENTIAL</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
            <a:ext cx="5486400" cy="201168"/>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THE PROBLEM</a:t>
            </a:r>
            <a:endParaRPr lang="en-US" sz="700" dirty="0"/>
          </a:p>
        </p:txBody>
      </p:sp>
      <p:sp>
        <p:nvSpPr>
          <p:cNvPr id="3" name="Text 1"/>
          <p:cNvSpPr/>
          <p:nvPr/>
        </p:nvSpPr>
        <p:spPr>
          <a:xfrm>
            <a:off x="457200" y="50292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Poppins" pitchFamily="34" charset="0"/>
                <a:ea typeface="Poppins" pitchFamily="34" charset="-122"/>
                <a:cs typeface="Poppins" pitchFamily="34" charset="-120"/>
              </a:rPr>
              <a:t>Wealth managers are flying blind.</a:t>
            </a:r>
            <a:endParaRPr lang="en-US" sz="2600" dirty="0"/>
          </a:p>
        </p:txBody>
      </p:sp>
      <p:sp>
        <p:nvSpPr>
          <p:cNvPr id="4" name="Text 2"/>
          <p:cNvSpPr/>
          <p:nvPr/>
        </p:nvSpPr>
        <p:spPr>
          <a:xfrm>
            <a:off x="457200" y="1261872"/>
            <a:ext cx="3931920" cy="960120"/>
          </a:xfrm>
          <a:prstGeom prst="rect">
            <a:avLst/>
          </a:prstGeom>
          <a:noFill/>
          <a:ln/>
        </p:spPr>
        <p:txBody>
          <a:bodyPr wrap="square" lIns="0" tIns="0" rIns="0" bIns="0" rtlCol="0" anchor="t"/>
          <a:lstStyle/>
          <a:p>
            <a:pPr indent="0" marL="0">
              <a:buNone/>
            </a:pPr>
            <a:r>
              <a:rPr lang="en-US" sz="1050" dirty="0">
                <a:solidFill>
                  <a:srgbClr val="5A5A5A"/>
                </a:solidFill>
                <a:latin typeface="Poppins" pitchFamily="34" charset="0"/>
                <a:ea typeface="Poppins" pitchFamily="34" charset="-122"/>
                <a:cs typeface="Poppins" pitchFamily="34" charset="-120"/>
              </a:rPr>
              <a:t>Boutique DPMs, independent RIAs, and family offices manage real money for real clients. They know systematic portfolio construction matters. But institutional-grade quant tools are built — and priced — for institutions. The middle market is ignored.</a:t>
            </a:r>
            <a:endParaRPr lang="en-US" sz="1050" dirty="0"/>
          </a:p>
        </p:txBody>
      </p:sp>
      <p:sp>
        <p:nvSpPr>
          <p:cNvPr id="5" name="Text 3"/>
          <p:cNvSpPr/>
          <p:nvPr/>
        </p:nvSpPr>
        <p:spPr>
          <a:xfrm>
            <a:off x="457200" y="2331720"/>
            <a:ext cx="2926080" cy="749808"/>
          </a:xfrm>
          <a:prstGeom prst="rect">
            <a:avLst/>
          </a:prstGeom>
          <a:noFill/>
          <a:ln/>
        </p:spPr>
        <p:txBody>
          <a:bodyPr wrap="square" lIns="0" tIns="0" rIns="0" bIns="0" rtlCol="0" anchor="ctr"/>
          <a:lstStyle/>
          <a:p>
            <a:pPr indent="0" marL="0">
              <a:buNone/>
            </a:pPr>
            <a:r>
              <a:rPr lang="en-US" sz="4600" b="1" dirty="0">
                <a:solidFill>
                  <a:srgbClr val="1A1A1A"/>
                </a:solidFill>
                <a:latin typeface="Poppins" pitchFamily="34" charset="0"/>
                <a:ea typeface="Poppins" pitchFamily="34" charset="-122"/>
                <a:cs typeface="Poppins" pitchFamily="34" charset="-120"/>
              </a:rPr>
              <a:t>~$32,000</a:t>
            </a:r>
            <a:endParaRPr lang="en-US" sz="4600" dirty="0"/>
          </a:p>
        </p:txBody>
      </p:sp>
      <p:sp>
        <p:nvSpPr>
          <p:cNvPr id="6" name="Text 4"/>
          <p:cNvSpPr/>
          <p:nvPr/>
        </p:nvSpPr>
        <p:spPr>
          <a:xfrm>
            <a:off x="457200" y="3108960"/>
            <a:ext cx="3931920" cy="475488"/>
          </a:xfrm>
          <a:prstGeom prst="rect">
            <a:avLst/>
          </a:prstGeom>
          <a:noFill/>
          <a:ln/>
        </p:spPr>
        <p:txBody>
          <a:bodyPr wrap="square" lIns="0" tIns="0" rIns="0" bIns="0" rtlCol="0" anchor="t"/>
          <a:lstStyle/>
          <a:p>
            <a:pPr indent="0" marL="0">
              <a:buNone/>
            </a:pPr>
            <a:r>
              <a:rPr lang="en-US" sz="950" dirty="0">
                <a:solidFill>
                  <a:srgbClr val="5A5A5A"/>
                </a:solidFill>
                <a:latin typeface="Poppins" pitchFamily="34" charset="0"/>
                <a:ea typeface="Poppins" pitchFamily="34" charset="-122"/>
                <a:cs typeface="Poppins" pitchFamily="34" charset="-120"/>
              </a:rPr>
              <a:t>Bloomberg Terminal — per seat, per year (2026 verified).</a:t>
            </a:r>
            <a:endParaRPr lang="en-US" sz="950" dirty="0"/>
          </a:p>
          <a:p>
            <a:pPr indent="0" marL="0">
              <a:buNone/>
            </a:pPr>
            <a:r>
              <a:rPr lang="en-US" sz="950" dirty="0">
                <a:solidFill>
                  <a:srgbClr val="5A5A5A"/>
                </a:solidFill>
                <a:latin typeface="Poppins" pitchFamily="34" charset="0"/>
                <a:ea typeface="Poppins" pitchFamily="34" charset="-122"/>
                <a:cs typeface="Poppins" pitchFamily="34" charset="-120"/>
              </a:rPr>
              <a:t>Before Bloomberg PORT or any quant tooling is added.</a:t>
            </a:r>
            <a:endParaRPr lang="en-US" sz="950" dirty="0"/>
          </a:p>
        </p:txBody>
      </p:sp>
      <p:sp>
        <p:nvSpPr>
          <p:cNvPr id="7" name="Text 5"/>
          <p:cNvSpPr/>
          <p:nvPr/>
        </p:nvSpPr>
        <p:spPr>
          <a:xfrm>
            <a:off x="457200" y="3703320"/>
            <a:ext cx="3931920" cy="512064"/>
          </a:xfrm>
          <a:prstGeom prst="rect">
            <a:avLst/>
          </a:prstGeom>
          <a:noFill/>
          <a:ln/>
        </p:spPr>
        <p:txBody>
          <a:bodyPr wrap="square" lIns="0" tIns="0" rIns="0" bIns="0" rtlCol="0" anchor="t"/>
          <a:lstStyle/>
          <a:p>
            <a:pPr indent="0" marL="0">
              <a:buNone/>
            </a:pPr>
            <a:r>
              <a:rPr lang="en-US" sz="950" b="1" dirty="0">
                <a:solidFill>
                  <a:srgbClr val="1A1A1A"/>
                </a:solidFill>
                <a:latin typeface="Poppins" pitchFamily="34" charset="0"/>
                <a:ea typeface="Poppins" pitchFamily="34" charset="-122"/>
                <a:cs typeface="Poppins" pitchFamily="34" charset="-120"/>
              </a:rPr>
              <a:t>Enterprise platforms (Refinitiv, FactSet) run $24K–$50K+ per seat. The managers who need systematic tools most cannot access them.</a:t>
            </a:r>
            <a:endParaRPr lang="en-US" sz="950" dirty="0"/>
          </a:p>
        </p:txBody>
      </p:sp>
      <p:sp>
        <p:nvSpPr>
          <p:cNvPr id="8" name="Shape 6"/>
          <p:cNvSpPr/>
          <p:nvPr/>
        </p:nvSpPr>
        <p:spPr>
          <a:xfrm>
            <a:off x="4663440" y="1216152"/>
            <a:ext cx="4023360" cy="950976"/>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9" name="Shape 7"/>
          <p:cNvSpPr/>
          <p:nvPr/>
        </p:nvSpPr>
        <p:spPr>
          <a:xfrm>
            <a:off x="4663440" y="1216152"/>
            <a:ext cx="41148" cy="950976"/>
          </a:xfrm>
          <a:prstGeom prst="rect">
            <a:avLst/>
          </a:prstGeom>
          <a:solidFill>
            <a:srgbClr val="85D155"/>
          </a:solidFill>
          <a:ln w="12700">
            <a:solidFill>
              <a:srgbClr val="85D155"/>
            </a:solidFill>
            <a:prstDash val="solid"/>
          </a:ln>
        </p:spPr>
      </p:sp>
      <p:sp>
        <p:nvSpPr>
          <p:cNvPr id="10" name="Text 8"/>
          <p:cNvSpPr/>
          <p:nvPr/>
        </p:nvSpPr>
        <p:spPr>
          <a:xfrm>
            <a:off x="4800600" y="1307592"/>
            <a:ext cx="3749040" cy="23774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Priced for institutions</a:t>
            </a:r>
            <a:endParaRPr lang="en-US" sz="1050" dirty="0"/>
          </a:p>
        </p:txBody>
      </p:sp>
      <p:sp>
        <p:nvSpPr>
          <p:cNvPr id="11" name="Text 9"/>
          <p:cNvSpPr/>
          <p:nvPr/>
        </p:nvSpPr>
        <p:spPr>
          <a:xfrm>
            <a:off x="4800600" y="1563624"/>
            <a:ext cx="3749040" cy="530352"/>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Bloomberg and FactSet charge tens of thousands per seat. Bespoke quant builds take years. Boutique managers face a bill designed for large buy-side desks.</a:t>
            </a:r>
            <a:endParaRPr lang="en-US" sz="880" dirty="0"/>
          </a:p>
        </p:txBody>
      </p:sp>
      <p:sp>
        <p:nvSpPr>
          <p:cNvPr id="12" name="Shape 10"/>
          <p:cNvSpPr/>
          <p:nvPr/>
        </p:nvSpPr>
        <p:spPr>
          <a:xfrm>
            <a:off x="4663440" y="2286000"/>
            <a:ext cx="4023360" cy="950976"/>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13" name="Shape 11"/>
          <p:cNvSpPr/>
          <p:nvPr/>
        </p:nvSpPr>
        <p:spPr>
          <a:xfrm>
            <a:off x="4663440" y="2286000"/>
            <a:ext cx="41148" cy="950976"/>
          </a:xfrm>
          <a:prstGeom prst="rect">
            <a:avLst/>
          </a:prstGeom>
          <a:solidFill>
            <a:srgbClr val="85D155"/>
          </a:solidFill>
          <a:ln w="12700">
            <a:solidFill>
              <a:srgbClr val="85D155"/>
            </a:solidFill>
            <a:prstDash val="solid"/>
          </a:ln>
        </p:spPr>
      </p:sp>
      <p:sp>
        <p:nvSpPr>
          <p:cNvPr id="14" name="Text 12"/>
          <p:cNvSpPr/>
          <p:nvPr/>
        </p:nvSpPr>
        <p:spPr>
          <a:xfrm>
            <a:off x="4800600" y="2377440"/>
            <a:ext cx="3749040" cy="23774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Built for institutions</a:t>
            </a:r>
            <a:endParaRPr lang="en-US" sz="1050" dirty="0"/>
          </a:p>
        </p:txBody>
      </p:sp>
      <p:sp>
        <p:nvSpPr>
          <p:cNvPr id="15" name="Text 13"/>
          <p:cNvSpPr/>
          <p:nvPr/>
        </p:nvSpPr>
        <p:spPr>
          <a:xfrm>
            <a:off x="4800600" y="2633472"/>
            <a:ext cx="3749040" cy="530352"/>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Existing platforms assume large quant teams and complex infrastructure. Boutique managers get the wrong product even when they can afford the price tag.</a:t>
            </a:r>
            <a:endParaRPr lang="en-US" sz="880" dirty="0"/>
          </a:p>
        </p:txBody>
      </p:sp>
      <p:sp>
        <p:nvSpPr>
          <p:cNvPr id="16" name="Shape 14"/>
          <p:cNvSpPr/>
          <p:nvPr/>
        </p:nvSpPr>
        <p:spPr>
          <a:xfrm>
            <a:off x="4663440" y="3355848"/>
            <a:ext cx="4023360" cy="950976"/>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17" name="Shape 15"/>
          <p:cNvSpPr/>
          <p:nvPr/>
        </p:nvSpPr>
        <p:spPr>
          <a:xfrm>
            <a:off x="4663440" y="3355848"/>
            <a:ext cx="41148" cy="950976"/>
          </a:xfrm>
          <a:prstGeom prst="rect">
            <a:avLst/>
          </a:prstGeom>
          <a:solidFill>
            <a:srgbClr val="85D155"/>
          </a:solidFill>
          <a:ln w="12700">
            <a:solidFill>
              <a:srgbClr val="85D155"/>
            </a:solidFill>
            <a:prstDash val="solid"/>
          </a:ln>
        </p:spPr>
      </p:sp>
      <p:sp>
        <p:nvSpPr>
          <p:cNvPr id="18" name="Text 16"/>
          <p:cNvSpPr/>
          <p:nvPr/>
        </p:nvSpPr>
        <p:spPr>
          <a:xfrm>
            <a:off x="4800600" y="3447288"/>
            <a:ext cx="3749040" cy="237744"/>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No credible middle-market option</a:t>
            </a:r>
            <a:endParaRPr lang="en-US" sz="1050" dirty="0"/>
          </a:p>
        </p:txBody>
      </p:sp>
      <p:sp>
        <p:nvSpPr>
          <p:cNvPr id="19" name="Text 17"/>
          <p:cNvSpPr/>
          <p:nvPr/>
        </p:nvSpPr>
        <p:spPr>
          <a:xfrm>
            <a:off x="4800600" y="3703320"/>
            <a:ext cx="3749040" cy="530352"/>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Spreadsheets and gut feel fill the gap. Portfolio construction decisions lack rigour — not from lack of ambition, but lack of accessible tools.</a:t>
            </a:r>
            <a:endParaRPr lang="en-US" sz="880" dirty="0"/>
          </a:p>
        </p:txBody>
      </p:sp>
      <p:sp>
        <p:nvSpPr>
          <p:cNvPr id="20" name="Text 18"/>
          <p:cNvSpPr/>
          <p:nvPr/>
        </p:nvSpPr>
        <p:spPr>
          <a:xfrm>
            <a:off x="365760" y="4974336"/>
            <a:ext cx="7589520" cy="146304"/>
          </a:xfrm>
          <a:prstGeom prst="rect">
            <a:avLst/>
          </a:prstGeom>
          <a:noFill/>
          <a:ln/>
        </p:spPr>
        <p:txBody>
          <a:bodyPr wrap="square" lIns="0" tIns="0" rIns="0" bIns="0" rtlCol="0" anchor="ctr"/>
          <a:lstStyle/>
          <a:p>
            <a:pPr indent="0" marL="0">
              <a:buNone/>
            </a:pPr>
            <a:r>
              <a:rPr lang="en-US" sz="650" dirty="0">
                <a:solidFill>
                  <a:srgbClr val="CCCCCC"/>
                </a:solidFill>
                <a:latin typeface="Poppins" pitchFamily="34" charset="0"/>
                <a:ea typeface="Poppins" pitchFamily="34" charset="-122"/>
                <a:cs typeface="Poppins" pitchFamily="34" charset="-120"/>
              </a:rPr>
              <a:t>InvestPuppy · investpuppy.com · contact@investpuppy.com · CONFIDENTIAL</a:t>
            </a:r>
            <a:endParaRPr lang="en-US" sz="650" dirty="0"/>
          </a:p>
        </p:txBody>
      </p:sp>
      <p:pic>
        <p:nvPicPr>
          <p:cNvPr id="21" name="Image 0" descr="/home/claude/investpuppy/_shared/logos/ip_logo_light_bg.png">    </p:cNvPr>
          <p:cNvPicPr>
            <a:picLocks noChangeAspect="1"/>
          </p:cNvPicPr>
          <p:nvPr/>
        </p:nvPicPr>
        <p:blipFill>
          <a:blip r:embed="rId1"/>
          <a:stretch>
            <a:fillRect/>
          </a:stretch>
        </p:blipFill>
        <p:spPr>
          <a:xfrm>
            <a:off x="8463686" y="4919472"/>
            <a:ext cx="223114" cy="1828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
            <a:ext cx="5486400" cy="201168"/>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WHY NOW</a:t>
            </a:r>
            <a:endParaRPr lang="en-US" sz="700" dirty="0"/>
          </a:p>
        </p:txBody>
      </p:sp>
      <p:sp>
        <p:nvSpPr>
          <p:cNvPr id="3" name="Text 1"/>
          <p:cNvSpPr/>
          <p:nvPr/>
        </p:nvSpPr>
        <p:spPr>
          <a:xfrm>
            <a:off x="457200" y="50292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Poppins" pitchFamily="34" charset="0"/>
                <a:ea typeface="Poppins" pitchFamily="34" charset="-122"/>
                <a:cs typeface="Poppins" pitchFamily="34" charset="-120"/>
              </a:rPr>
              <a:t>Three forces converging — right now.</a:t>
            </a:r>
            <a:endParaRPr lang="en-US" sz="2600" dirty="0"/>
          </a:p>
        </p:txBody>
      </p:sp>
      <p:sp>
        <p:nvSpPr>
          <p:cNvPr id="4" name="Shape 2"/>
          <p:cNvSpPr/>
          <p:nvPr/>
        </p:nvSpPr>
        <p:spPr>
          <a:xfrm>
            <a:off x="457200" y="1234440"/>
            <a:ext cx="2606040" cy="3456432"/>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5" name="Text 3"/>
          <p:cNvSpPr/>
          <p:nvPr/>
        </p:nvSpPr>
        <p:spPr>
          <a:xfrm>
            <a:off x="640080" y="1353312"/>
            <a:ext cx="822960" cy="475488"/>
          </a:xfrm>
          <a:prstGeom prst="rect">
            <a:avLst/>
          </a:prstGeom>
          <a:noFill/>
          <a:ln/>
        </p:spPr>
        <p:txBody>
          <a:bodyPr wrap="square" lIns="0" tIns="0" rIns="0" bIns="0" rtlCol="0" anchor="ctr"/>
          <a:lstStyle/>
          <a:p>
            <a:pPr indent="0" marL="0">
              <a:buNone/>
            </a:pPr>
            <a:r>
              <a:rPr lang="en-US" sz="2800" b="1" dirty="0">
                <a:solidFill>
                  <a:srgbClr val="85D155"/>
                </a:solidFill>
                <a:latin typeface="Poppins" pitchFamily="34" charset="0"/>
                <a:ea typeface="Poppins" pitchFamily="34" charset="-122"/>
                <a:cs typeface="Poppins" pitchFamily="34" charset="-120"/>
              </a:rPr>
              <a:t>01</a:t>
            </a:r>
            <a:endParaRPr lang="en-US" sz="2800" dirty="0"/>
          </a:p>
        </p:txBody>
      </p:sp>
      <p:sp>
        <p:nvSpPr>
          <p:cNvPr id="6" name="Text 4"/>
          <p:cNvSpPr/>
          <p:nvPr/>
        </p:nvSpPr>
        <p:spPr>
          <a:xfrm>
            <a:off x="640080" y="1883664"/>
            <a:ext cx="2240280" cy="566928"/>
          </a:xfrm>
          <a:prstGeom prst="rect">
            <a:avLst/>
          </a:prstGeom>
          <a:noFill/>
          <a:ln/>
        </p:spPr>
        <p:txBody>
          <a:bodyPr wrap="square" lIns="0" tIns="0" rIns="0" bIns="0" rtlCol="0" anchor="t"/>
          <a:lstStyle/>
          <a:p>
            <a:pPr indent="0" marL="0">
              <a:buNone/>
            </a:pPr>
            <a:r>
              <a:rPr lang="en-US" sz="1100" b="1" dirty="0">
                <a:solidFill>
                  <a:srgbClr val="1A1A1A"/>
                </a:solidFill>
                <a:latin typeface="Poppins" pitchFamily="34" charset="0"/>
                <a:ea typeface="Poppins" pitchFamily="34" charset="-122"/>
                <a:cs typeface="Poppins" pitchFamily="34" charset="-120"/>
              </a:rPr>
              <a:t>Singapore's wealth</a:t>
            </a:r>
            <a:endParaRPr lang="en-US" sz="1100" dirty="0"/>
          </a:p>
          <a:p>
            <a:pPr indent="0" marL="0">
              <a:buNone/>
            </a:pPr>
            <a:r>
              <a:rPr lang="en-US" sz="1100" b="1" dirty="0">
                <a:solidFill>
                  <a:srgbClr val="1A1A1A"/>
                </a:solidFill>
                <a:latin typeface="Poppins" pitchFamily="34" charset="0"/>
                <a:ea typeface="Poppins" pitchFamily="34" charset="-122"/>
                <a:cs typeface="Poppins" pitchFamily="34" charset="-120"/>
              </a:rPr>
              <a:t>management moment</a:t>
            </a:r>
            <a:endParaRPr lang="en-US" sz="1100" dirty="0"/>
          </a:p>
        </p:txBody>
      </p:sp>
      <p:sp>
        <p:nvSpPr>
          <p:cNvPr id="7" name="Text 5"/>
          <p:cNvSpPr/>
          <p:nvPr/>
        </p:nvSpPr>
        <p:spPr>
          <a:xfrm>
            <a:off x="640080" y="2505456"/>
            <a:ext cx="2240280" cy="2011680"/>
          </a:xfrm>
          <a:prstGeom prst="rect">
            <a:avLst/>
          </a:prstGeom>
          <a:noFill/>
          <a:ln/>
        </p:spPr>
        <p:txBody>
          <a:bodyPr wrap="square" lIns="0" tIns="0" rIns="0" bIns="0" rtlCol="0" anchor="t"/>
          <a:lstStyle/>
          <a:p>
            <a:pPr indent="0" marL="0">
              <a:buNone/>
            </a:pPr>
            <a:r>
              <a:rPr lang="en-US" sz="900" dirty="0">
                <a:solidFill>
                  <a:srgbClr val="5A5A5A"/>
                </a:solidFill>
                <a:latin typeface="Poppins" pitchFamily="34" charset="0"/>
                <a:ea typeface="Poppins" pitchFamily="34" charset="-122"/>
                <a:cs typeface="Poppins" pitchFamily="34" charset="-120"/>
              </a:rPr>
              <a:t>MAS-regulated clarity, a dense independent advisor community, and record family office formation make Singapore the world's cleanest entry point. 2,000+ single family offices (MAS, 2024). 500+ independent wealth managers. The regulatory framework is settled. The clients are here. The timing is precise.</a:t>
            </a:r>
            <a:endParaRPr lang="en-US" sz="900" dirty="0"/>
          </a:p>
        </p:txBody>
      </p:sp>
      <p:sp>
        <p:nvSpPr>
          <p:cNvPr id="8" name="Shape 6"/>
          <p:cNvSpPr/>
          <p:nvPr/>
        </p:nvSpPr>
        <p:spPr>
          <a:xfrm>
            <a:off x="3246120" y="1234440"/>
            <a:ext cx="2606040" cy="3456432"/>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9" name="Text 7"/>
          <p:cNvSpPr/>
          <p:nvPr/>
        </p:nvSpPr>
        <p:spPr>
          <a:xfrm>
            <a:off x="3429000" y="1353312"/>
            <a:ext cx="822960" cy="475488"/>
          </a:xfrm>
          <a:prstGeom prst="rect">
            <a:avLst/>
          </a:prstGeom>
          <a:noFill/>
          <a:ln/>
        </p:spPr>
        <p:txBody>
          <a:bodyPr wrap="square" lIns="0" tIns="0" rIns="0" bIns="0" rtlCol="0" anchor="ctr"/>
          <a:lstStyle/>
          <a:p>
            <a:pPr indent="0" marL="0">
              <a:buNone/>
            </a:pPr>
            <a:r>
              <a:rPr lang="en-US" sz="2800" b="1" dirty="0">
                <a:solidFill>
                  <a:srgbClr val="85D155"/>
                </a:solidFill>
                <a:latin typeface="Poppins" pitchFamily="34" charset="0"/>
                <a:ea typeface="Poppins" pitchFamily="34" charset="-122"/>
                <a:cs typeface="Poppins" pitchFamily="34" charset="-120"/>
              </a:rPr>
              <a:t>02</a:t>
            </a:r>
            <a:endParaRPr lang="en-US" sz="2800" dirty="0"/>
          </a:p>
        </p:txBody>
      </p:sp>
      <p:sp>
        <p:nvSpPr>
          <p:cNvPr id="10" name="Text 8"/>
          <p:cNvSpPr/>
          <p:nvPr/>
        </p:nvSpPr>
        <p:spPr>
          <a:xfrm>
            <a:off x="3429000" y="1883664"/>
            <a:ext cx="2240280" cy="566928"/>
          </a:xfrm>
          <a:prstGeom prst="rect">
            <a:avLst/>
          </a:prstGeom>
          <a:noFill/>
          <a:ln/>
        </p:spPr>
        <p:txBody>
          <a:bodyPr wrap="square" lIns="0" tIns="0" rIns="0" bIns="0" rtlCol="0" anchor="t"/>
          <a:lstStyle/>
          <a:p>
            <a:pPr indent="0" marL="0">
              <a:buNone/>
            </a:pPr>
            <a:r>
              <a:rPr lang="en-US" sz="1100" b="1" dirty="0">
                <a:solidFill>
                  <a:srgbClr val="1A1A1A"/>
                </a:solidFill>
                <a:latin typeface="Poppins" pitchFamily="34" charset="0"/>
                <a:ea typeface="Poppins" pitchFamily="34" charset="-122"/>
                <a:cs typeface="Poppins" pitchFamily="34" charset="-120"/>
              </a:rPr>
              <a:t>The cost of systematic</a:t>
            </a:r>
            <a:endParaRPr lang="en-US" sz="1100" dirty="0"/>
          </a:p>
          <a:p>
            <a:pPr indent="0" marL="0">
              <a:buNone/>
            </a:pPr>
            <a:r>
              <a:rPr lang="en-US" sz="1100" b="1" dirty="0">
                <a:solidFill>
                  <a:srgbClr val="1A1A1A"/>
                </a:solidFill>
                <a:latin typeface="Poppins" pitchFamily="34" charset="0"/>
                <a:ea typeface="Poppins" pitchFamily="34" charset="-122"/>
                <a:cs typeface="Poppins" pitchFamily="34" charset="-120"/>
              </a:rPr>
              <a:t>analysis has collapsed</a:t>
            </a:r>
            <a:endParaRPr lang="en-US" sz="1100" dirty="0"/>
          </a:p>
        </p:txBody>
      </p:sp>
      <p:sp>
        <p:nvSpPr>
          <p:cNvPr id="11" name="Text 9"/>
          <p:cNvSpPr/>
          <p:nvPr/>
        </p:nvSpPr>
        <p:spPr>
          <a:xfrm>
            <a:off x="3429000" y="2505456"/>
            <a:ext cx="2240280" cy="2011680"/>
          </a:xfrm>
          <a:prstGeom prst="rect">
            <a:avLst/>
          </a:prstGeom>
          <a:noFill/>
          <a:ln/>
        </p:spPr>
        <p:txBody>
          <a:bodyPr wrap="square" lIns="0" tIns="0" rIns="0" bIns="0" rtlCol="0" anchor="t"/>
          <a:lstStyle/>
          <a:p>
            <a:pPr indent="0" marL="0">
              <a:buNone/>
            </a:pPr>
            <a:r>
              <a:rPr lang="en-US" sz="900" dirty="0">
                <a:solidFill>
                  <a:srgbClr val="5A5A5A"/>
                </a:solidFill>
                <a:latin typeface="Poppins" pitchFamily="34" charset="0"/>
                <a:ea typeface="Poppins" pitchFamily="34" charset="-122"/>
                <a:cs typeface="Poppins" pitchFamily="34" charset="-120"/>
              </a:rPr>
              <a:t>Running 10,000 portfolio configurations was computationally expensive a decade ago. Today it is not. The infrastructure exists to deliver institutional-grade systematic analysis at a fraction of historical cost. No one has productised this for the wealth management middle market.</a:t>
            </a:r>
            <a:endParaRPr lang="en-US" sz="900" dirty="0"/>
          </a:p>
        </p:txBody>
      </p:sp>
      <p:sp>
        <p:nvSpPr>
          <p:cNvPr id="12" name="Shape 10"/>
          <p:cNvSpPr/>
          <p:nvPr/>
        </p:nvSpPr>
        <p:spPr>
          <a:xfrm>
            <a:off x="6035040" y="1234440"/>
            <a:ext cx="2606040" cy="3456432"/>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13" name="Text 11"/>
          <p:cNvSpPr/>
          <p:nvPr/>
        </p:nvSpPr>
        <p:spPr>
          <a:xfrm>
            <a:off x="6217920" y="1353312"/>
            <a:ext cx="822960" cy="475488"/>
          </a:xfrm>
          <a:prstGeom prst="rect">
            <a:avLst/>
          </a:prstGeom>
          <a:noFill/>
          <a:ln/>
        </p:spPr>
        <p:txBody>
          <a:bodyPr wrap="square" lIns="0" tIns="0" rIns="0" bIns="0" rtlCol="0" anchor="ctr"/>
          <a:lstStyle/>
          <a:p>
            <a:pPr indent="0" marL="0">
              <a:buNone/>
            </a:pPr>
            <a:r>
              <a:rPr lang="en-US" sz="2800" b="1" dirty="0">
                <a:solidFill>
                  <a:srgbClr val="85D155"/>
                </a:solidFill>
                <a:latin typeface="Poppins" pitchFamily="34" charset="0"/>
                <a:ea typeface="Poppins" pitchFamily="34" charset="-122"/>
                <a:cs typeface="Poppins" pitchFamily="34" charset="-120"/>
              </a:rPr>
              <a:t>03</a:t>
            </a:r>
            <a:endParaRPr lang="en-US" sz="2800" dirty="0"/>
          </a:p>
        </p:txBody>
      </p:sp>
      <p:sp>
        <p:nvSpPr>
          <p:cNvPr id="14" name="Text 12"/>
          <p:cNvSpPr/>
          <p:nvPr/>
        </p:nvSpPr>
        <p:spPr>
          <a:xfrm>
            <a:off x="6217920" y="1883664"/>
            <a:ext cx="2240280" cy="566928"/>
          </a:xfrm>
          <a:prstGeom prst="rect">
            <a:avLst/>
          </a:prstGeom>
          <a:noFill/>
          <a:ln/>
        </p:spPr>
        <p:txBody>
          <a:bodyPr wrap="square" lIns="0" tIns="0" rIns="0" bIns="0" rtlCol="0" anchor="t"/>
          <a:lstStyle/>
          <a:p>
            <a:pPr indent="0" marL="0">
              <a:buNone/>
            </a:pPr>
            <a:r>
              <a:rPr lang="en-US" sz="1100" b="1" dirty="0">
                <a:solidFill>
                  <a:srgbClr val="1A1A1A"/>
                </a:solidFill>
                <a:latin typeface="Poppins" pitchFamily="34" charset="0"/>
                <a:ea typeface="Poppins" pitchFamily="34" charset="-122"/>
                <a:cs typeface="Poppins" pitchFamily="34" charset="-120"/>
              </a:rPr>
              <a:t>Incumbents have no</a:t>
            </a:r>
            <a:endParaRPr lang="en-US" sz="1100" dirty="0"/>
          </a:p>
          <a:p>
            <a:pPr indent="0" marL="0">
              <a:buNone/>
            </a:pPr>
            <a:r>
              <a:rPr lang="en-US" sz="1100" b="1" dirty="0">
                <a:solidFill>
                  <a:srgbClr val="1A1A1A"/>
                </a:solidFill>
                <a:latin typeface="Poppins" pitchFamily="34" charset="0"/>
                <a:ea typeface="Poppins" pitchFamily="34" charset="-122"/>
                <a:cs typeface="Poppins" pitchFamily="34" charset="-120"/>
              </a:rPr>
              <a:t>incentive to move</a:t>
            </a:r>
            <a:endParaRPr lang="en-US" sz="1100" dirty="0"/>
          </a:p>
        </p:txBody>
      </p:sp>
      <p:sp>
        <p:nvSpPr>
          <p:cNvPr id="15" name="Text 13"/>
          <p:cNvSpPr/>
          <p:nvPr/>
        </p:nvSpPr>
        <p:spPr>
          <a:xfrm>
            <a:off x="6217920" y="2505456"/>
            <a:ext cx="2240280" cy="2011680"/>
          </a:xfrm>
          <a:prstGeom prst="rect">
            <a:avLst/>
          </a:prstGeom>
          <a:noFill/>
          <a:ln/>
        </p:spPr>
        <p:txBody>
          <a:bodyPr wrap="square" lIns="0" tIns="0" rIns="0" bIns="0" rtlCol="0" anchor="t"/>
          <a:lstStyle/>
          <a:p>
            <a:pPr indent="0" marL="0">
              <a:buNone/>
            </a:pPr>
            <a:r>
              <a:rPr lang="en-US" sz="900" dirty="0">
                <a:solidFill>
                  <a:srgbClr val="5A5A5A"/>
                </a:solidFill>
                <a:latin typeface="Poppins" pitchFamily="34" charset="0"/>
                <a:ea typeface="Poppins" pitchFamily="34" charset="-122"/>
                <a:cs typeface="Poppins" pitchFamily="34" charset="-120"/>
              </a:rPr>
              <a:t>Bloomberg and FactSet price for large institutions — their economics depend on it. The boutique wealth manager segment is too fragmented for them to serve directly. This gap is structural, not temporary. It will not be closed by the incumbents.</a:t>
            </a:r>
            <a:endParaRPr lang="en-US" sz="900" dirty="0"/>
          </a:p>
        </p:txBody>
      </p:sp>
      <p:sp>
        <p:nvSpPr>
          <p:cNvPr id="16" name="Text 14"/>
          <p:cNvSpPr/>
          <p:nvPr/>
        </p:nvSpPr>
        <p:spPr>
          <a:xfrm>
            <a:off x="365760" y="4974336"/>
            <a:ext cx="7589520" cy="146304"/>
          </a:xfrm>
          <a:prstGeom prst="rect">
            <a:avLst/>
          </a:prstGeom>
          <a:noFill/>
          <a:ln/>
        </p:spPr>
        <p:txBody>
          <a:bodyPr wrap="square" lIns="0" tIns="0" rIns="0" bIns="0" rtlCol="0" anchor="ctr"/>
          <a:lstStyle/>
          <a:p>
            <a:pPr indent="0" marL="0">
              <a:buNone/>
            </a:pPr>
            <a:r>
              <a:rPr lang="en-US" sz="650" dirty="0">
                <a:solidFill>
                  <a:srgbClr val="CCCCCC"/>
                </a:solidFill>
                <a:latin typeface="Poppins" pitchFamily="34" charset="0"/>
                <a:ea typeface="Poppins" pitchFamily="34" charset="-122"/>
                <a:cs typeface="Poppins" pitchFamily="34" charset="-120"/>
              </a:rPr>
              <a:t>InvestPuppy · investpuppy.com · contact@investpuppy.com · CONFIDENTIAL</a:t>
            </a:r>
            <a:endParaRPr lang="en-US" sz="650" dirty="0"/>
          </a:p>
        </p:txBody>
      </p:sp>
      <p:pic>
        <p:nvPicPr>
          <p:cNvPr id="17" name="Image 0" descr="/home/claude/investpuppy/_shared/logos/ip_logo_light_bg.png">    </p:cNvPr>
          <p:cNvPicPr>
            <a:picLocks noChangeAspect="1"/>
          </p:cNvPicPr>
          <p:nvPr/>
        </p:nvPicPr>
        <p:blipFill>
          <a:blip r:embed="rId1"/>
          <a:stretch>
            <a:fillRect/>
          </a:stretch>
        </p:blipFill>
        <p:spPr>
          <a:xfrm>
            <a:off x="8463686" y="4919472"/>
            <a:ext cx="223114" cy="1828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
            <a:ext cx="5486400" cy="201168"/>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THE PLATFORM</a:t>
            </a:r>
            <a:endParaRPr lang="en-US" sz="700" dirty="0"/>
          </a:p>
        </p:txBody>
      </p:sp>
      <p:sp>
        <p:nvSpPr>
          <p:cNvPr id="3" name="Text 1"/>
          <p:cNvSpPr/>
          <p:nvPr/>
        </p:nvSpPr>
        <p:spPr>
          <a:xfrm>
            <a:off x="457200" y="50292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Poppins" pitchFamily="34" charset="0"/>
                <a:ea typeface="Poppins" pitchFamily="34" charset="-122"/>
                <a:cs typeface="Poppins" pitchFamily="34" charset="-120"/>
              </a:rPr>
              <a:t>Vektor.</a:t>
            </a:r>
            <a:endParaRPr lang="en-US" sz="2600" dirty="0"/>
          </a:p>
        </p:txBody>
      </p:sp>
      <p:sp>
        <p:nvSpPr>
          <p:cNvPr id="4" name="Text 2"/>
          <p:cNvSpPr/>
          <p:nvPr/>
        </p:nvSpPr>
        <p:spPr>
          <a:xfrm>
            <a:off x="457200" y="1261872"/>
            <a:ext cx="4114800" cy="804672"/>
          </a:xfrm>
          <a:prstGeom prst="rect">
            <a:avLst/>
          </a:prstGeom>
          <a:noFill/>
          <a:ln/>
        </p:spPr>
        <p:txBody>
          <a:bodyPr wrap="square" lIns="0" tIns="0" rIns="0" bIns="0" rtlCol="0" anchor="t"/>
          <a:lstStyle/>
          <a:p>
            <a:pPr indent="0" marL="0">
              <a:buNone/>
            </a:pPr>
            <a:r>
              <a:rPr lang="en-US" sz="1050" dirty="0">
                <a:solidFill>
                  <a:srgbClr val="5A5A5A"/>
                </a:solidFill>
                <a:latin typeface="Poppins" pitchFamily="34" charset="0"/>
                <a:ea typeface="Poppins" pitchFamily="34" charset="-122"/>
                <a:cs typeface="Poppins" pitchFamily="34" charset="-120"/>
              </a:rPr>
              <a:t>Vektor is a systematic listed equity portfolio management platform built specifically for boutique wealth managers, family offices, and independent RIAs. It delivers institutional-grade rigour — without the institutional price tag, team size, or infrastructure requirement.</a:t>
            </a:r>
            <a:endParaRPr lang="en-US" sz="1050" dirty="0"/>
          </a:p>
        </p:txBody>
      </p:sp>
      <p:sp>
        <p:nvSpPr>
          <p:cNvPr id="5" name="Shape 3"/>
          <p:cNvSpPr/>
          <p:nvPr/>
        </p:nvSpPr>
        <p:spPr>
          <a:xfrm>
            <a:off x="484632" y="2194560"/>
            <a:ext cx="91440" cy="91440"/>
          </a:xfrm>
          <a:prstGeom prst="ellipse">
            <a:avLst/>
          </a:prstGeom>
          <a:solidFill>
            <a:srgbClr val="85D155"/>
          </a:solidFill>
          <a:ln w="12700">
            <a:solidFill>
              <a:srgbClr val="85D155"/>
            </a:solidFill>
            <a:prstDash val="solid"/>
          </a:ln>
        </p:spPr>
      </p:sp>
      <p:sp>
        <p:nvSpPr>
          <p:cNvPr id="6" name="Text 4"/>
          <p:cNvSpPr/>
          <p:nvPr/>
        </p:nvSpPr>
        <p:spPr>
          <a:xfrm>
            <a:off x="685800" y="2139696"/>
            <a:ext cx="3886200" cy="219456"/>
          </a:xfrm>
          <a:prstGeom prst="rect">
            <a:avLst/>
          </a:prstGeom>
          <a:noFill/>
          <a:ln/>
        </p:spPr>
        <p:txBody>
          <a:bodyPr wrap="square" lIns="0" tIns="0" rIns="0" bIns="0" rtlCol="0" anchor="ctr"/>
          <a:lstStyle/>
          <a:p>
            <a:pPr indent="0" marL="0">
              <a:buNone/>
            </a:pPr>
            <a:r>
              <a:rPr lang="en-US" sz="950" b="1" dirty="0">
                <a:solidFill>
                  <a:srgbClr val="1A1A1A"/>
                </a:solidFill>
                <a:latin typeface="Poppins" pitchFamily="34" charset="0"/>
                <a:ea typeface="Poppins" pitchFamily="34" charset="-122"/>
                <a:cs typeface="Poppins" pitchFamily="34" charset="-120"/>
              </a:rPr>
              <a:t>10,000 portfolio configurations per strategy</a:t>
            </a:r>
            <a:endParaRPr lang="en-US" sz="950" dirty="0"/>
          </a:p>
        </p:txBody>
      </p:sp>
      <p:sp>
        <p:nvSpPr>
          <p:cNvPr id="7" name="Text 5"/>
          <p:cNvSpPr/>
          <p:nvPr/>
        </p:nvSpPr>
        <p:spPr>
          <a:xfrm>
            <a:off x="685800" y="2377440"/>
            <a:ext cx="3886200" cy="237744"/>
          </a:xfrm>
          <a:prstGeom prst="rect">
            <a:avLst/>
          </a:prstGeom>
          <a:noFill/>
          <a:ln/>
        </p:spPr>
        <p:txBody>
          <a:bodyPr wrap="square" lIns="0" tIns="0" rIns="0" bIns="0" rtlCol="0" anchor="t"/>
          <a:lstStyle/>
          <a:p>
            <a:pPr indent="0" marL="0">
              <a:buNone/>
            </a:pPr>
            <a:r>
              <a:rPr lang="en-US" sz="820" dirty="0">
                <a:solidFill>
                  <a:srgbClr val="5A5A5A"/>
                </a:solidFill>
                <a:latin typeface="Poppins" pitchFamily="34" charset="0"/>
                <a:ea typeface="Poppins" pitchFamily="34" charset="-122"/>
                <a:cs typeface="Poppins" pitchFamily="34" charset="-120"/>
              </a:rPr>
              <a:t>Systematic construction at scale. Not guesswork. Not intuition.</a:t>
            </a:r>
            <a:endParaRPr lang="en-US" sz="820" dirty="0"/>
          </a:p>
        </p:txBody>
      </p:sp>
      <p:sp>
        <p:nvSpPr>
          <p:cNvPr id="8" name="Shape 6"/>
          <p:cNvSpPr/>
          <p:nvPr/>
        </p:nvSpPr>
        <p:spPr>
          <a:xfrm>
            <a:off x="484632" y="2715768"/>
            <a:ext cx="91440" cy="91440"/>
          </a:xfrm>
          <a:prstGeom prst="ellipse">
            <a:avLst/>
          </a:prstGeom>
          <a:solidFill>
            <a:srgbClr val="85D155"/>
          </a:solidFill>
          <a:ln w="12700">
            <a:solidFill>
              <a:srgbClr val="85D155"/>
            </a:solidFill>
            <a:prstDash val="solid"/>
          </a:ln>
        </p:spPr>
      </p:sp>
      <p:sp>
        <p:nvSpPr>
          <p:cNvPr id="9" name="Text 7"/>
          <p:cNvSpPr/>
          <p:nvPr/>
        </p:nvSpPr>
        <p:spPr>
          <a:xfrm>
            <a:off x="685800" y="2660904"/>
            <a:ext cx="3886200" cy="219456"/>
          </a:xfrm>
          <a:prstGeom prst="rect">
            <a:avLst/>
          </a:prstGeom>
          <a:noFill/>
          <a:ln/>
        </p:spPr>
        <p:txBody>
          <a:bodyPr wrap="square" lIns="0" tIns="0" rIns="0" bIns="0" rtlCol="0" anchor="ctr"/>
          <a:lstStyle/>
          <a:p>
            <a:pPr indent="0" marL="0">
              <a:buNone/>
            </a:pPr>
            <a:r>
              <a:rPr lang="en-US" sz="950" b="1" dirty="0">
                <a:solidFill>
                  <a:srgbClr val="1A1A1A"/>
                </a:solidFill>
                <a:latin typeface="Poppins" pitchFamily="34" charset="0"/>
                <a:ea typeface="Poppins" pitchFamily="34" charset="-122"/>
                <a:cs typeface="Poppins" pitchFamily="34" charset="-120"/>
              </a:rPr>
              <a:t>Market-agnostic architecture</a:t>
            </a:r>
            <a:endParaRPr lang="en-US" sz="950" dirty="0"/>
          </a:p>
        </p:txBody>
      </p:sp>
      <p:sp>
        <p:nvSpPr>
          <p:cNvPr id="10" name="Text 8"/>
          <p:cNvSpPr/>
          <p:nvPr/>
        </p:nvSpPr>
        <p:spPr>
          <a:xfrm>
            <a:off x="685800" y="2898648"/>
            <a:ext cx="3886200" cy="237744"/>
          </a:xfrm>
          <a:prstGeom prst="rect">
            <a:avLst/>
          </a:prstGeom>
          <a:noFill/>
          <a:ln/>
        </p:spPr>
        <p:txBody>
          <a:bodyPr wrap="square" lIns="0" tIns="0" rIns="0" bIns="0" rtlCol="0" anchor="t"/>
          <a:lstStyle/>
          <a:p>
            <a:pPr indent="0" marL="0">
              <a:buNone/>
            </a:pPr>
            <a:r>
              <a:rPr lang="en-US" sz="820" dirty="0">
                <a:solidFill>
                  <a:srgbClr val="5A5A5A"/>
                </a:solidFill>
                <a:latin typeface="Poppins" pitchFamily="34" charset="0"/>
                <a:ea typeface="Poppins" pitchFamily="34" charset="-122"/>
                <a:cs typeface="Poppins" pitchFamily="34" charset="-120"/>
              </a:rPr>
              <a:t>Any listed equity exchange, any currency. SGX is the primary use case.</a:t>
            </a:r>
            <a:endParaRPr lang="en-US" sz="820" dirty="0"/>
          </a:p>
        </p:txBody>
      </p:sp>
      <p:sp>
        <p:nvSpPr>
          <p:cNvPr id="11" name="Shape 9"/>
          <p:cNvSpPr/>
          <p:nvPr/>
        </p:nvSpPr>
        <p:spPr>
          <a:xfrm>
            <a:off x="484632" y="3236976"/>
            <a:ext cx="91440" cy="91440"/>
          </a:xfrm>
          <a:prstGeom prst="ellipse">
            <a:avLst/>
          </a:prstGeom>
          <a:solidFill>
            <a:srgbClr val="85D155"/>
          </a:solidFill>
          <a:ln w="12700">
            <a:solidFill>
              <a:srgbClr val="85D155"/>
            </a:solidFill>
            <a:prstDash val="solid"/>
          </a:ln>
        </p:spPr>
      </p:sp>
      <p:sp>
        <p:nvSpPr>
          <p:cNvPr id="12" name="Text 10"/>
          <p:cNvSpPr/>
          <p:nvPr/>
        </p:nvSpPr>
        <p:spPr>
          <a:xfrm>
            <a:off x="685800" y="3182112"/>
            <a:ext cx="3886200" cy="219456"/>
          </a:xfrm>
          <a:prstGeom prst="rect">
            <a:avLst/>
          </a:prstGeom>
          <a:noFill/>
          <a:ln/>
        </p:spPr>
        <p:txBody>
          <a:bodyPr wrap="square" lIns="0" tIns="0" rIns="0" bIns="0" rtlCol="0" anchor="ctr"/>
          <a:lstStyle/>
          <a:p>
            <a:pPr indent="0" marL="0">
              <a:buNone/>
            </a:pPr>
            <a:r>
              <a:rPr lang="en-US" sz="950" b="1" dirty="0">
                <a:solidFill>
                  <a:srgbClr val="1A1A1A"/>
                </a:solidFill>
                <a:latin typeface="Poppins" pitchFamily="34" charset="0"/>
                <a:ea typeface="Poppins" pitchFamily="34" charset="-122"/>
                <a:cs typeface="Poppins" pitchFamily="34" charset="-120"/>
              </a:rPr>
              <a:t>Workflow-native integration</a:t>
            </a:r>
            <a:endParaRPr lang="en-US" sz="950" dirty="0"/>
          </a:p>
        </p:txBody>
      </p:sp>
      <p:sp>
        <p:nvSpPr>
          <p:cNvPr id="13" name="Text 11"/>
          <p:cNvSpPr/>
          <p:nvPr/>
        </p:nvSpPr>
        <p:spPr>
          <a:xfrm>
            <a:off x="685800" y="3419856"/>
            <a:ext cx="3886200" cy="237744"/>
          </a:xfrm>
          <a:prstGeom prst="rect">
            <a:avLst/>
          </a:prstGeom>
          <a:noFill/>
          <a:ln/>
        </p:spPr>
        <p:txBody>
          <a:bodyPr wrap="square" lIns="0" tIns="0" rIns="0" bIns="0" rtlCol="0" anchor="t"/>
          <a:lstStyle/>
          <a:p>
            <a:pPr indent="0" marL="0">
              <a:buNone/>
            </a:pPr>
            <a:r>
              <a:rPr lang="en-US" sz="820" dirty="0">
                <a:solidFill>
                  <a:srgbClr val="5A5A5A"/>
                </a:solidFill>
                <a:latin typeface="Poppins" pitchFamily="34" charset="0"/>
                <a:ea typeface="Poppins" pitchFamily="34" charset="-122"/>
                <a:cs typeface="Poppins" pitchFamily="34" charset="-120"/>
              </a:rPr>
              <a:t>Sits alongside existing custody and reporting infrastructure.</a:t>
            </a:r>
            <a:endParaRPr lang="en-US" sz="820" dirty="0"/>
          </a:p>
        </p:txBody>
      </p:sp>
      <p:sp>
        <p:nvSpPr>
          <p:cNvPr id="14" name="Shape 12"/>
          <p:cNvSpPr/>
          <p:nvPr/>
        </p:nvSpPr>
        <p:spPr>
          <a:xfrm>
            <a:off x="484632" y="3758184"/>
            <a:ext cx="91440" cy="91440"/>
          </a:xfrm>
          <a:prstGeom prst="ellipse">
            <a:avLst/>
          </a:prstGeom>
          <a:solidFill>
            <a:srgbClr val="85D155"/>
          </a:solidFill>
          <a:ln w="12700">
            <a:solidFill>
              <a:srgbClr val="85D155"/>
            </a:solidFill>
            <a:prstDash val="solid"/>
          </a:ln>
        </p:spPr>
      </p:sp>
      <p:sp>
        <p:nvSpPr>
          <p:cNvPr id="15" name="Text 13"/>
          <p:cNvSpPr/>
          <p:nvPr/>
        </p:nvSpPr>
        <p:spPr>
          <a:xfrm>
            <a:off x="685800" y="3703320"/>
            <a:ext cx="3886200" cy="219456"/>
          </a:xfrm>
          <a:prstGeom prst="rect">
            <a:avLst/>
          </a:prstGeom>
          <a:noFill/>
          <a:ln/>
        </p:spPr>
        <p:txBody>
          <a:bodyPr wrap="square" lIns="0" tIns="0" rIns="0" bIns="0" rtlCol="0" anchor="ctr"/>
          <a:lstStyle/>
          <a:p>
            <a:pPr indent="0" marL="0">
              <a:buNone/>
            </a:pPr>
            <a:r>
              <a:rPr lang="en-US" sz="950" b="1" dirty="0">
                <a:solidFill>
                  <a:srgbClr val="1A1A1A"/>
                </a:solidFill>
                <a:latin typeface="Poppins" pitchFamily="34" charset="0"/>
                <a:ea typeface="Poppins" pitchFamily="34" charset="-122"/>
                <a:cs typeface="Poppins" pitchFamily="34" charset="-120"/>
              </a:rPr>
              <a:t>Data-layer independent</a:t>
            </a:r>
            <a:endParaRPr lang="en-US" sz="950" dirty="0"/>
          </a:p>
        </p:txBody>
      </p:sp>
      <p:sp>
        <p:nvSpPr>
          <p:cNvPr id="16" name="Text 14"/>
          <p:cNvSpPr/>
          <p:nvPr/>
        </p:nvSpPr>
        <p:spPr>
          <a:xfrm>
            <a:off x="685800" y="3941064"/>
            <a:ext cx="3886200" cy="237744"/>
          </a:xfrm>
          <a:prstGeom prst="rect">
            <a:avLst/>
          </a:prstGeom>
          <a:noFill/>
          <a:ln/>
        </p:spPr>
        <p:txBody>
          <a:bodyPr wrap="square" lIns="0" tIns="0" rIns="0" bIns="0" rtlCol="0" anchor="t"/>
          <a:lstStyle/>
          <a:p>
            <a:pPr indent="0" marL="0">
              <a:buNone/>
            </a:pPr>
            <a:r>
              <a:rPr lang="en-US" sz="820" dirty="0">
                <a:solidFill>
                  <a:srgbClr val="5A5A5A"/>
                </a:solidFill>
                <a:latin typeface="Poppins" pitchFamily="34" charset="0"/>
                <a:ea typeface="Poppins" pitchFamily="34" charset="-122"/>
                <a:cs typeface="Poppins" pitchFamily="34" charset="-120"/>
              </a:rPr>
              <a:t>Runs on IBKR market data as standard. Does not require Bloomberg feeds. Custom data connections available.</a:t>
            </a:r>
            <a:endParaRPr lang="en-US" sz="820" dirty="0"/>
          </a:p>
        </p:txBody>
      </p:sp>
      <p:sp>
        <p:nvSpPr>
          <p:cNvPr id="17" name="Shape 15"/>
          <p:cNvSpPr/>
          <p:nvPr/>
        </p:nvSpPr>
        <p:spPr>
          <a:xfrm>
            <a:off x="484632" y="4279392"/>
            <a:ext cx="91440" cy="91440"/>
          </a:xfrm>
          <a:prstGeom prst="ellipse">
            <a:avLst/>
          </a:prstGeom>
          <a:solidFill>
            <a:srgbClr val="85D155"/>
          </a:solidFill>
          <a:ln w="12700">
            <a:solidFill>
              <a:srgbClr val="85D155"/>
            </a:solidFill>
            <a:prstDash val="solid"/>
          </a:ln>
        </p:spPr>
      </p:sp>
      <p:sp>
        <p:nvSpPr>
          <p:cNvPr id="18" name="Text 16"/>
          <p:cNvSpPr/>
          <p:nvPr/>
        </p:nvSpPr>
        <p:spPr>
          <a:xfrm>
            <a:off x="685800" y="4224528"/>
            <a:ext cx="3886200" cy="219456"/>
          </a:xfrm>
          <a:prstGeom prst="rect">
            <a:avLst/>
          </a:prstGeom>
          <a:noFill/>
          <a:ln/>
        </p:spPr>
        <p:txBody>
          <a:bodyPr wrap="square" lIns="0" tIns="0" rIns="0" bIns="0" rtlCol="0" anchor="ctr"/>
          <a:lstStyle/>
          <a:p>
            <a:pPr indent="0" marL="0">
              <a:buNone/>
            </a:pPr>
            <a:r>
              <a:rPr lang="en-US" sz="950" b="1" dirty="0">
                <a:solidFill>
                  <a:srgbClr val="1A1A1A"/>
                </a:solidFill>
                <a:latin typeface="Poppins" pitchFamily="34" charset="0"/>
                <a:ea typeface="Poppins" pitchFamily="34" charset="-122"/>
                <a:cs typeface="Poppins" pitchFamily="34" charset="-120"/>
              </a:rPr>
              <a:t>Audit-ready output</a:t>
            </a:r>
            <a:endParaRPr lang="en-US" sz="950" dirty="0"/>
          </a:p>
        </p:txBody>
      </p:sp>
      <p:sp>
        <p:nvSpPr>
          <p:cNvPr id="19" name="Text 17"/>
          <p:cNvSpPr/>
          <p:nvPr/>
        </p:nvSpPr>
        <p:spPr>
          <a:xfrm>
            <a:off x="685800" y="4462272"/>
            <a:ext cx="3886200" cy="237744"/>
          </a:xfrm>
          <a:prstGeom prst="rect">
            <a:avLst/>
          </a:prstGeom>
          <a:noFill/>
          <a:ln/>
        </p:spPr>
        <p:txBody>
          <a:bodyPr wrap="square" lIns="0" tIns="0" rIns="0" bIns="0" rtlCol="0" anchor="t"/>
          <a:lstStyle/>
          <a:p>
            <a:pPr indent="0" marL="0">
              <a:buNone/>
            </a:pPr>
            <a:r>
              <a:rPr lang="en-US" sz="820" dirty="0">
                <a:solidFill>
                  <a:srgbClr val="5A5A5A"/>
                </a:solidFill>
                <a:latin typeface="Poppins" pitchFamily="34" charset="0"/>
                <a:ea typeface="Poppins" pitchFamily="34" charset="-122"/>
                <a:cs typeface="Poppins" pitchFamily="34" charset="-120"/>
              </a:rPr>
              <a:t>99.94% availability target. Every decision documented from day one.</a:t>
            </a:r>
            <a:endParaRPr lang="en-US" sz="820" dirty="0"/>
          </a:p>
        </p:txBody>
      </p:sp>
      <p:sp>
        <p:nvSpPr>
          <p:cNvPr id="20" name="Shape 18"/>
          <p:cNvSpPr/>
          <p:nvPr/>
        </p:nvSpPr>
        <p:spPr>
          <a:xfrm>
            <a:off x="4663440" y="1188720"/>
            <a:ext cx="4023360" cy="3520440"/>
          </a:xfrm>
          <a:prstGeom prst="rect">
            <a:avLst/>
          </a:prstGeom>
          <a:solidFill>
            <a:srgbClr val="0A0A0F"/>
          </a:solidFill>
          <a:ln w="12700">
            <a:solidFill>
              <a:srgbClr val="0A0A0F"/>
            </a:solidFill>
            <a:prstDash val="solid"/>
          </a:ln>
        </p:spPr>
      </p:sp>
      <p:sp>
        <p:nvSpPr>
          <p:cNvPr id="21" name="Shape 19"/>
          <p:cNvSpPr/>
          <p:nvPr/>
        </p:nvSpPr>
        <p:spPr>
          <a:xfrm>
            <a:off x="4663440" y="1188720"/>
            <a:ext cx="4023360" cy="36576"/>
          </a:xfrm>
          <a:prstGeom prst="rect">
            <a:avLst/>
          </a:prstGeom>
          <a:solidFill>
            <a:srgbClr val="C8A96E"/>
          </a:solidFill>
          <a:ln w="12700">
            <a:solidFill>
              <a:srgbClr val="C8A96E"/>
            </a:solidFill>
            <a:prstDash val="solid"/>
          </a:ln>
        </p:spPr>
      </p:sp>
      <p:pic>
        <p:nvPicPr>
          <p:cNvPr id="22" name="Image 0" descr="/home/claude/investpuppy/_shared/logos/VEKTOR-transparent-v3.png">    </p:cNvPr>
          <p:cNvPicPr>
            <a:picLocks noChangeAspect="1"/>
          </p:cNvPicPr>
          <p:nvPr/>
        </p:nvPicPr>
        <p:blipFill>
          <a:blip r:embed="rId1"/>
          <a:stretch>
            <a:fillRect/>
          </a:stretch>
        </p:blipFill>
        <p:spPr>
          <a:xfrm>
            <a:off x="4828032" y="1371600"/>
            <a:ext cx="759866" cy="365760"/>
          </a:xfrm>
          <a:prstGeom prst="rect">
            <a:avLst/>
          </a:prstGeom>
        </p:spPr>
      </p:pic>
      <p:sp>
        <p:nvSpPr>
          <p:cNvPr id="23" name="Text 20"/>
          <p:cNvSpPr/>
          <p:nvPr/>
        </p:nvSpPr>
        <p:spPr>
          <a:xfrm>
            <a:off x="4828032" y="1901952"/>
            <a:ext cx="3657600" cy="182880"/>
          </a:xfrm>
          <a:prstGeom prst="rect">
            <a:avLst/>
          </a:prstGeom>
          <a:noFill/>
          <a:ln/>
        </p:spPr>
        <p:txBody>
          <a:bodyPr wrap="square" lIns="0" tIns="0" rIns="0" bIns="0" rtlCol="0" anchor="ctr"/>
          <a:lstStyle/>
          <a:p>
            <a:pPr indent="0" marL="0">
              <a:buNone/>
            </a:pPr>
            <a:r>
              <a:rPr lang="en-US" sz="700" b="1" spc="150" kern="0" dirty="0">
                <a:solidFill>
                  <a:srgbClr val="C8A96E"/>
                </a:solidFill>
                <a:latin typeface="Poppins" pitchFamily="34" charset="0"/>
                <a:ea typeface="Poppins" pitchFamily="34" charset="-122"/>
                <a:cs typeface="Poppins" pitchFamily="34" charset="-120"/>
              </a:rPr>
              <a:t>METHODOLOGY</a:t>
            </a:r>
            <a:endParaRPr lang="en-US" sz="700" dirty="0"/>
          </a:p>
        </p:txBody>
      </p:sp>
      <p:sp>
        <p:nvSpPr>
          <p:cNvPr id="24" name="Text 21"/>
          <p:cNvSpPr/>
          <p:nvPr/>
        </p:nvSpPr>
        <p:spPr>
          <a:xfrm>
            <a:off x="4828032" y="2103120"/>
            <a:ext cx="3657600" cy="658368"/>
          </a:xfrm>
          <a:prstGeom prst="rect">
            <a:avLst/>
          </a:prstGeom>
          <a:noFill/>
          <a:ln/>
        </p:spPr>
        <p:txBody>
          <a:bodyPr wrap="square" lIns="0" tIns="0" rIns="0" bIns="0" rtlCol="0" anchor="t"/>
          <a:lstStyle/>
          <a:p>
            <a:pPr indent="0" marL="0">
              <a:buNone/>
            </a:pPr>
            <a:r>
              <a:rPr lang="en-US" sz="880" dirty="0">
                <a:solidFill>
                  <a:srgbClr val="AAAAAA"/>
                </a:solidFill>
                <a:latin typeface="Poppins" pitchFamily="34" charset="0"/>
                <a:ea typeface="Poppins" pitchFamily="34" charset="-122"/>
                <a:cs typeface="Poppins" pitchFamily="34" charset="-120"/>
              </a:rPr>
              <a:t>The quantitative methodology behind Vektor is documented across 11 research papers — WP-00 through WP-10 — covering systematic construction, risk management, and portfolio analysis. Available on request.</a:t>
            </a:r>
            <a:endParaRPr lang="en-US" sz="880" dirty="0"/>
          </a:p>
        </p:txBody>
      </p:sp>
      <p:sp>
        <p:nvSpPr>
          <p:cNvPr id="25" name="Text 22"/>
          <p:cNvSpPr/>
          <p:nvPr/>
        </p:nvSpPr>
        <p:spPr>
          <a:xfrm>
            <a:off x="4828032" y="2871216"/>
            <a:ext cx="3657600" cy="182880"/>
          </a:xfrm>
          <a:prstGeom prst="rect">
            <a:avLst/>
          </a:prstGeom>
          <a:noFill/>
          <a:ln/>
        </p:spPr>
        <p:txBody>
          <a:bodyPr wrap="square" lIns="0" tIns="0" rIns="0" bIns="0" rtlCol="0" anchor="ctr"/>
          <a:lstStyle/>
          <a:p>
            <a:pPr indent="0" marL="0">
              <a:buNone/>
            </a:pPr>
            <a:r>
              <a:rPr lang="en-US" sz="700" b="1" spc="150" kern="0" dirty="0">
                <a:solidFill>
                  <a:srgbClr val="C8A96E"/>
                </a:solidFill>
                <a:latin typeface="Poppins" pitchFamily="34" charset="0"/>
                <a:ea typeface="Poppins" pitchFamily="34" charset="-122"/>
                <a:cs typeface="Poppins" pitchFamily="34" charset="-120"/>
              </a:rPr>
              <a:t>THOUGHT LEADERSHIP</a:t>
            </a:r>
            <a:endParaRPr lang="en-US" sz="700" dirty="0"/>
          </a:p>
        </p:txBody>
      </p:sp>
      <p:sp>
        <p:nvSpPr>
          <p:cNvPr id="26" name="Text 23"/>
          <p:cNvSpPr/>
          <p:nvPr/>
        </p:nvSpPr>
        <p:spPr>
          <a:xfrm>
            <a:off x="4828032" y="3072384"/>
            <a:ext cx="3657600" cy="658368"/>
          </a:xfrm>
          <a:prstGeom prst="rect">
            <a:avLst/>
          </a:prstGeom>
          <a:noFill/>
          <a:ln/>
        </p:spPr>
        <p:txBody>
          <a:bodyPr wrap="square" lIns="0" tIns="0" rIns="0" bIns="0" rtlCol="0" anchor="t"/>
          <a:lstStyle/>
          <a:p>
            <a:pPr indent="0" marL="0">
              <a:buNone/>
            </a:pPr>
            <a:r>
              <a:rPr lang="en-US" sz="880" dirty="0">
                <a:solidFill>
                  <a:srgbClr val="AAAAAA"/>
                </a:solidFill>
                <a:latin typeface="Poppins" pitchFamily="34" charset="0"/>
                <a:ea typeface="Poppins" pitchFamily="34" charset="-122"/>
                <a:cs typeface="Poppins" pitchFamily="34" charset="-120"/>
              </a:rPr>
              <a:t>InvestPuppy: Unvarnished — 9 papers, 38 pages on financial software implementation failure. Panel-reviewed by 20 independent professionals. Already in circulation. Strapline: field notes from decades of bad projects.</a:t>
            </a:r>
            <a:endParaRPr lang="en-US" sz="880" dirty="0"/>
          </a:p>
        </p:txBody>
      </p:sp>
      <p:sp>
        <p:nvSpPr>
          <p:cNvPr id="27" name="Text 24"/>
          <p:cNvSpPr/>
          <p:nvPr/>
        </p:nvSpPr>
        <p:spPr>
          <a:xfrm>
            <a:off x="4828032" y="4462272"/>
            <a:ext cx="3657600" cy="182880"/>
          </a:xfrm>
          <a:prstGeom prst="rect">
            <a:avLst/>
          </a:prstGeom>
          <a:noFill/>
          <a:ln/>
        </p:spPr>
        <p:txBody>
          <a:bodyPr wrap="square" lIns="0" tIns="0" rIns="0" bIns="0" rtlCol="0" anchor="ctr"/>
          <a:lstStyle/>
          <a:p>
            <a:pPr indent="0" marL="0">
              <a:buNone/>
            </a:pPr>
            <a:r>
              <a:rPr lang="en-US" sz="700" b="1" spc="150" kern="0" dirty="0">
                <a:solidFill>
                  <a:srgbClr val="444444"/>
                </a:solidFill>
                <a:latin typeface="Poppins" pitchFamily="34" charset="0"/>
                <a:ea typeface="Poppins" pitchFamily="34" charset="-122"/>
                <a:cs typeface="Poppins" pitchFamily="34" charset="-120"/>
              </a:rPr>
              <a:t>VEKTOR BY INVESTPUPPY</a:t>
            </a:r>
            <a:endParaRPr lang="en-US" sz="700" dirty="0"/>
          </a:p>
        </p:txBody>
      </p:sp>
      <p:sp>
        <p:nvSpPr>
          <p:cNvPr id="28" name="Text 25"/>
          <p:cNvSpPr/>
          <p:nvPr/>
        </p:nvSpPr>
        <p:spPr>
          <a:xfrm>
            <a:off x="365760" y="4974336"/>
            <a:ext cx="7589520" cy="146304"/>
          </a:xfrm>
          <a:prstGeom prst="rect">
            <a:avLst/>
          </a:prstGeom>
          <a:noFill/>
          <a:ln/>
        </p:spPr>
        <p:txBody>
          <a:bodyPr wrap="square" lIns="0" tIns="0" rIns="0" bIns="0" rtlCol="0" anchor="ctr"/>
          <a:lstStyle/>
          <a:p>
            <a:pPr indent="0" marL="0">
              <a:buNone/>
            </a:pPr>
            <a:r>
              <a:rPr lang="en-US" sz="650" dirty="0">
                <a:solidFill>
                  <a:srgbClr val="CCCCCC"/>
                </a:solidFill>
                <a:latin typeface="Poppins" pitchFamily="34" charset="0"/>
                <a:ea typeface="Poppins" pitchFamily="34" charset="-122"/>
                <a:cs typeface="Poppins" pitchFamily="34" charset="-120"/>
              </a:rPr>
              <a:t>InvestPuppy · investpuppy.com · contact@investpuppy.com · CONFIDENTIAL</a:t>
            </a:r>
            <a:endParaRPr lang="en-US" sz="650" dirty="0"/>
          </a:p>
        </p:txBody>
      </p:sp>
      <p:pic>
        <p:nvPicPr>
          <p:cNvPr id="29" name="Image 1" descr="/home/claude/investpuppy/_shared/logos/ip_logo_light_bg.png">    </p:cNvPr>
          <p:cNvPicPr>
            <a:picLocks noChangeAspect="1"/>
          </p:cNvPicPr>
          <p:nvPr/>
        </p:nvPicPr>
        <p:blipFill>
          <a:blip r:embed="rId2"/>
          <a:stretch>
            <a:fillRect/>
          </a:stretch>
        </p:blipFill>
        <p:spPr>
          <a:xfrm>
            <a:off x="8463686" y="4919472"/>
            <a:ext cx="223114" cy="1828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
            <a:ext cx="5486400" cy="201168"/>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POSITIONING</a:t>
            </a:r>
            <a:endParaRPr lang="en-US" sz="700" dirty="0"/>
          </a:p>
        </p:txBody>
      </p:sp>
      <p:sp>
        <p:nvSpPr>
          <p:cNvPr id="3" name="Text 1"/>
          <p:cNvSpPr/>
          <p:nvPr/>
        </p:nvSpPr>
        <p:spPr>
          <a:xfrm>
            <a:off x="457200" y="50292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Poppins" pitchFamily="34" charset="0"/>
                <a:ea typeface="Poppins" pitchFamily="34" charset="-122"/>
                <a:cs typeface="Poppins" pitchFamily="34" charset="-120"/>
              </a:rPr>
              <a:t>What Vektor is not.</a:t>
            </a:r>
            <a:endParaRPr lang="en-US" sz="2600" dirty="0"/>
          </a:p>
        </p:txBody>
      </p:sp>
      <p:sp>
        <p:nvSpPr>
          <p:cNvPr id="4" name="Text 2"/>
          <p:cNvSpPr/>
          <p:nvPr/>
        </p:nvSpPr>
        <p:spPr>
          <a:xfrm>
            <a:off x="457200" y="1234440"/>
            <a:ext cx="8229600" cy="347472"/>
          </a:xfrm>
          <a:prstGeom prst="rect">
            <a:avLst/>
          </a:prstGeom>
          <a:noFill/>
          <a:ln/>
        </p:spPr>
        <p:txBody>
          <a:bodyPr wrap="square" lIns="0" tIns="0" rIns="0" bIns="0" rtlCol="0" anchor="ctr"/>
          <a:lstStyle/>
          <a:p>
            <a:pPr indent="0" marL="0">
              <a:buNone/>
            </a:pPr>
            <a:r>
              <a:rPr lang="en-US" sz="1000" i="1" dirty="0">
                <a:solidFill>
                  <a:srgbClr val="5A5A5A"/>
                </a:solidFill>
                <a:latin typeface="Poppins" pitchFamily="34" charset="0"/>
                <a:ea typeface="Poppins" pitchFamily="34" charset="-122"/>
                <a:cs typeface="Poppins" pitchFamily="34" charset="-120"/>
              </a:rPr>
              <a:t>Precision about what a product is not is rarer than precision about what it is. Both matter to a serious buyer — and a serious investor.</a:t>
            </a:r>
            <a:endParaRPr lang="en-US" sz="1000" dirty="0"/>
          </a:p>
        </p:txBody>
      </p:sp>
      <p:sp>
        <p:nvSpPr>
          <p:cNvPr id="5" name="Shape 3"/>
          <p:cNvSpPr/>
          <p:nvPr/>
        </p:nvSpPr>
        <p:spPr>
          <a:xfrm>
            <a:off x="457200" y="1737360"/>
            <a:ext cx="4023360" cy="1444752"/>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6" name="Shape 4"/>
          <p:cNvSpPr/>
          <p:nvPr/>
        </p:nvSpPr>
        <p:spPr>
          <a:xfrm>
            <a:off x="621792" y="1865376"/>
            <a:ext cx="530352" cy="219456"/>
          </a:xfrm>
          <a:prstGeom prst="rect">
            <a:avLst/>
          </a:prstGeom>
          <a:solidFill>
            <a:srgbClr val="0F0F14"/>
          </a:solidFill>
          <a:ln w="12700">
            <a:solidFill>
              <a:srgbClr val="0F0F14"/>
            </a:solidFill>
            <a:prstDash val="solid"/>
          </a:ln>
        </p:spPr>
      </p:sp>
      <p:sp>
        <p:nvSpPr>
          <p:cNvPr id="7" name="Text 5"/>
          <p:cNvSpPr/>
          <p:nvPr/>
        </p:nvSpPr>
        <p:spPr>
          <a:xfrm>
            <a:off x="621792" y="1865376"/>
            <a:ext cx="530352" cy="219456"/>
          </a:xfrm>
          <a:prstGeom prst="rect">
            <a:avLst/>
          </a:prstGeom>
          <a:noFill/>
          <a:ln/>
        </p:spPr>
        <p:txBody>
          <a:bodyPr wrap="square" lIns="0" tIns="0" rIns="0" bIns="0" rtlCol="0" anchor="ctr"/>
          <a:lstStyle/>
          <a:p>
            <a:pPr algn="ctr" indent="0" marL="0">
              <a:buNone/>
            </a:pPr>
            <a:r>
              <a:rPr lang="en-US" sz="750" b="1" spc="100" kern="0" dirty="0">
                <a:solidFill>
                  <a:srgbClr val="85D155"/>
                </a:solidFill>
                <a:latin typeface="Poppins" pitchFamily="34" charset="0"/>
                <a:ea typeface="Poppins" pitchFamily="34" charset="-122"/>
                <a:cs typeface="Poppins" pitchFamily="34" charset="-120"/>
              </a:rPr>
              <a:t>NOT</a:t>
            </a:r>
            <a:endParaRPr lang="en-US" sz="750" dirty="0"/>
          </a:p>
        </p:txBody>
      </p:sp>
      <p:sp>
        <p:nvSpPr>
          <p:cNvPr id="8" name="Text 6"/>
          <p:cNvSpPr/>
          <p:nvPr/>
        </p:nvSpPr>
        <p:spPr>
          <a:xfrm>
            <a:off x="1261872" y="1847088"/>
            <a:ext cx="3054096" cy="256032"/>
          </a:xfrm>
          <a:prstGeom prst="rect">
            <a:avLst/>
          </a:prstGeom>
          <a:noFill/>
          <a:ln/>
        </p:spPr>
        <p:txBody>
          <a:bodyPr wrap="square" lIns="0" tIns="0" rIns="0" bIns="0" rtlCol="0" anchor="ctr"/>
          <a:lstStyle/>
          <a:p>
            <a:pPr indent="0" marL="0">
              <a:buNone/>
            </a:pPr>
            <a:r>
              <a:rPr lang="en-US" sz="1000" b="1" dirty="0">
                <a:solidFill>
                  <a:srgbClr val="1A1A1A"/>
                </a:solidFill>
                <a:latin typeface="Poppins" pitchFamily="34" charset="0"/>
                <a:ea typeface="Poppins" pitchFamily="34" charset="-122"/>
                <a:cs typeface="Poppins" pitchFamily="34" charset="-120"/>
              </a:rPr>
              <a:t>Not a data terminal</a:t>
            </a:r>
            <a:endParaRPr lang="en-US" sz="1000" dirty="0"/>
          </a:p>
        </p:txBody>
      </p:sp>
      <p:sp>
        <p:nvSpPr>
          <p:cNvPr id="9" name="Text 7"/>
          <p:cNvSpPr/>
          <p:nvPr/>
        </p:nvSpPr>
        <p:spPr>
          <a:xfrm>
            <a:off x="621792" y="2176272"/>
            <a:ext cx="3694176" cy="914400"/>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Vektor does not compete with Bloomberg or Refinitiv. It uses the data infrastructure the client already has and builds a systematic construction layer on top of it.</a:t>
            </a:r>
            <a:endParaRPr lang="en-US" sz="880" dirty="0"/>
          </a:p>
        </p:txBody>
      </p:sp>
      <p:sp>
        <p:nvSpPr>
          <p:cNvPr id="10" name="Shape 8"/>
          <p:cNvSpPr/>
          <p:nvPr/>
        </p:nvSpPr>
        <p:spPr>
          <a:xfrm>
            <a:off x="4663440" y="1737360"/>
            <a:ext cx="4023360" cy="1444752"/>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11" name="Shape 9"/>
          <p:cNvSpPr/>
          <p:nvPr/>
        </p:nvSpPr>
        <p:spPr>
          <a:xfrm>
            <a:off x="4828032" y="1865376"/>
            <a:ext cx="530352" cy="219456"/>
          </a:xfrm>
          <a:prstGeom prst="rect">
            <a:avLst/>
          </a:prstGeom>
          <a:solidFill>
            <a:srgbClr val="0F0F14"/>
          </a:solidFill>
          <a:ln w="12700">
            <a:solidFill>
              <a:srgbClr val="0F0F14"/>
            </a:solidFill>
            <a:prstDash val="solid"/>
          </a:ln>
        </p:spPr>
      </p:sp>
      <p:sp>
        <p:nvSpPr>
          <p:cNvPr id="12" name="Text 10"/>
          <p:cNvSpPr/>
          <p:nvPr/>
        </p:nvSpPr>
        <p:spPr>
          <a:xfrm>
            <a:off x="4828032" y="1865376"/>
            <a:ext cx="530352" cy="219456"/>
          </a:xfrm>
          <a:prstGeom prst="rect">
            <a:avLst/>
          </a:prstGeom>
          <a:noFill/>
          <a:ln/>
        </p:spPr>
        <p:txBody>
          <a:bodyPr wrap="square" lIns="0" tIns="0" rIns="0" bIns="0" rtlCol="0" anchor="ctr"/>
          <a:lstStyle/>
          <a:p>
            <a:pPr algn="ctr" indent="0" marL="0">
              <a:buNone/>
            </a:pPr>
            <a:r>
              <a:rPr lang="en-US" sz="750" b="1" spc="100" kern="0" dirty="0">
                <a:solidFill>
                  <a:srgbClr val="85D155"/>
                </a:solidFill>
                <a:latin typeface="Poppins" pitchFamily="34" charset="0"/>
                <a:ea typeface="Poppins" pitchFamily="34" charset="-122"/>
                <a:cs typeface="Poppins" pitchFamily="34" charset="-120"/>
              </a:rPr>
              <a:t>NOT</a:t>
            </a:r>
            <a:endParaRPr lang="en-US" sz="750" dirty="0"/>
          </a:p>
        </p:txBody>
      </p:sp>
      <p:sp>
        <p:nvSpPr>
          <p:cNvPr id="13" name="Text 11"/>
          <p:cNvSpPr/>
          <p:nvPr/>
        </p:nvSpPr>
        <p:spPr>
          <a:xfrm>
            <a:off x="5468112" y="1847088"/>
            <a:ext cx="3054096" cy="256032"/>
          </a:xfrm>
          <a:prstGeom prst="rect">
            <a:avLst/>
          </a:prstGeom>
          <a:noFill/>
          <a:ln/>
        </p:spPr>
        <p:txBody>
          <a:bodyPr wrap="square" lIns="0" tIns="0" rIns="0" bIns="0" rtlCol="0" anchor="ctr"/>
          <a:lstStyle/>
          <a:p>
            <a:pPr indent="0" marL="0">
              <a:buNone/>
            </a:pPr>
            <a:r>
              <a:rPr lang="en-US" sz="1000" b="1" dirty="0">
                <a:solidFill>
                  <a:srgbClr val="1A1A1A"/>
                </a:solidFill>
                <a:latin typeface="Poppins" pitchFamily="34" charset="0"/>
                <a:ea typeface="Poppins" pitchFamily="34" charset="-122"/>
                <a:cs typeface="Poppins" pitchFamily="34" charset="-120"/>
              </a:rPr>
              <a:t>Not a replacement project</a:t>
            </a:r>
            <a:endParaRPr lang="en-US" sz="1000" dirty="0"/>
          </a:p>
        </p:txBody>
      </p:sp>
      <p:sp>
        <p:nvSpPr>
          <p:cNvPr id="14" name="Text 12"/>
          <p:cNvSpPr/>
          <p:nvPr/>
        </p:nvSpPr>
        <p:spPr>
          <a:xfrm>
            <a:off x="4828032" y="2176272"/>
            <a:ext cx="3694176" cy="914400"/>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For most clients, nothing disappears — Vektor sits alongside existing custody, reporting, and CRM in days, not months. Exception: for Bloomberg PORT users, Vektor directly replaces the portfolio construction module. That is a replacement worth making.</a:t>
            </a:r>
            <a:endParaRPr lang="en-US" sz="880" dirty="0"/>
          </a:p>
        </p:txBody>
      </p:sp>
      <p:sp>
        <p:nvSpPr>
          <p:cNvPr id="15" name="Shape 13"/>
          <p:cNvSpPr/>
          <p:nvPr/>
        </p:nvSpPr>
        <p:spPr>
          <a:xfrm>
            <a:off x="457200" y="3310128"/>
            <a:ext cx="4023360" cy="1444752"/>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16" name="Shape 14"/>
          <p:cNvSpPr/>
          <p:nvPr/>
        </p:nvSpPr>
        <p:spPr>
          <a:xfrm>
            <a:off x="621792" y="3438144"/>
            <a:ext cx="530352" cy="219456"/>
          </a:xfrm>
          <a:prstGeom prst="rect">
            <a:avLst/>
          </a:prstGeom>
          <a:solidFill>
            <a:srgbClr val="0F0F14"/>
          </a:solidFill>
          <a:ln w="12700">
            <a:solidFill>
              <a:srgbClr val="0F0F14"/>
            </a:solidFill>
            <a:prstDash val="solid"/>
          </a:ln>
        </p:spPr>
      </p:sp>
      <p:sp>
        <p:nvSpPr>
          <p:cNvPr id="17" name="Text 15"/>
          <p:cNvSpPr/>
          <p:nvPr/>
        </p:nvSpPr>
        <p:spPr>
          <a:xfrm>
            <a:off x="621792" y="3438144"/>
            <a:ext cx="530352" cy="219456"/>
          </a:xfrm>
          <a:prstGeom prst="rect">
            <a:avLst/>
          </a:prstGeom>
          <a:noFill/>
          <a:ln/>
        </p:spPr>
        <p:txBody>
          <a:bodyPr wrap="square" lIns="0" tIns="0" rIns="0" bIns="0" rtlCol="0" anchor="ctr"/>
          <a:lstStyle/>
          <a:p>
            <a:pPr algn="ctr" indent="0" marL="0">
              <a:buNone/>
            </a:pPr>
            <a:r>
              <a:rPr lang="en-US" sz="750" b="1" spc="100" kern="0" dirty="0">
                <a:solidFill>
                  <a:srgbClr val="85D155"/>
                </a:solidFill>
                <a:latin typeface="Poppins" pitchFamily="34" charset="0"/>
                <a:ea typeface="Poppins" pitchFamily="34" charset="-122"/>
                <a:cs typeface="Poppins" pitchFamily="34" charset="-120"/>
              </a:rPr>
              <a:t>NOT</a:t>
            </a:r>
            <a:endParaRPr lang="en-US" sz="750" dirty="0"/>
          </a:p>
        </p:txBody>
      </p:sp>
      <p:sp>
        <p:nvSpPr>
          <p:cNvPr id="18" name="Text 16"/>
          <p:cNvSpPr/>
          <p:nvPr/>
        </p:nvSpPr>
        <p:spPr>
          <a:xfrm>
            <a:off x="1261872" y="3419856"/>
            <a:ext cx="3054096" cy="256032"/>
          </a:xfrm>
          <a:prstGeom prst="rect">
            <a:avLst/>
          </a:prstGeom>
          <a:noFill/>
          <a:ln/>
        </p:spPr>
        <p:txBody>
          <a:bodyPr wrap="square" lIns="0" tIns="0" rIns="0" bIns="0" rtlCol="0" anchor="ctr"/>
          <a:lstStyle/>
          <a:p>
            <a:pPr indent="0" marL="0">
              <a:buNone/>
            </a:pPr>
            <a:r>
              <a:rPr lang="en-US" sz="1000" b="1" dirty="0">
                <a:solidFill>
                  <a:srgbClr val="1A1A1A"/>
                </a:solidFill>
                <a:latin typeface="Poppins" pitchFamily="34" charset="0"/>
                <a:ea typeface="Poppins" pitchFamily="34" charset="-122"/>
                <a:cs typeface="Poppins" pitchFamily="34" charset="-120"/>
              </a:rPr>
              <a:t>Not algorithmic trading</a:t>
            </a:r>
            <a:endParaRPr lang="en-US" sz="1000" dirty="0"/>
          </a:p>
        </p:txBody>
      </p:sp>
      <p:sp>
        <p:nvSpPr>
          <p:cNvPr id="19" name="Text 17"/>
          <p:cNvSpPr/>
          <p:nvPr/>
        </p:nvSpPr>
        <p:spPr>
          <a:xfrm>
            <a:off x="621792" y="3749040"/>
            <a:ext cx="3694176" cy="914400"/>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Vektor is systematic portfolio management — construction, analysis, documentation. It is not a prop desk tool, not high-frequency, not speculative. It is what regulated wealth managers need.</a:t>
            </a:r>
            <a:endParaRPr lang="en-US" sz="880" dirty="0"/>
          </a:p>
        </p:txBody>
      </p:sp>
      <p:sp>
        <p:nvSpPr>
          <p:cNvPr id="20" name="Shape 18"/>
          <p:cNvSpPr/>
          <p:nvPr/>
        </p:nvSpPr>
        <p:spPr>
          <a:xfrm>
            <a:off x="4663440" y="3310128"/>
            <a:ext cx="4023360" cy="1444752"/>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21" name="Shape 19"/>
          <p:cNvSpPr/>
          <p:nvPr/>
        </p:nvSpPr>
        <p:spPr>
          <a:xfrm>
            <a:off x="4828032" y="3438144"/>
            <a:ext cx="530352" cy="219456"/>
          </a:xfrm>
          <a:prstGeom prst="rect">
            <a:avLst/>
          </a:prstGeom>
          <a:solidFill>
            <a:srgbClr val="0F0F14"/>
          </a:solidFill>
          <a:ln w="12700">
            <a:solidFill>
              <a:srgbClr val="0F0F14"/>
            </a:solidFill>
            <a:prstDash val="solid"/>
          </a:ln>
        </p:spPr>
      </p:sp>
      <p:sp>
        <p:nvSpPr>
          <p:cNvPr id="22" name="Text 20"/>
          <p:cNvSpPr/>
          <p:nvPr/>
        </p:nvSpPr>
        <p:spPr>
          <a:xfrm>
            <a:off x="4828032" y="3438144"/>
            <a:ext cx="530352" cy="219456"/>
          </a:xfrm>
          <a:prstGeom prst="rect">
            <a:avLst/>
          </a:prstGeom>
          <a:noFill/>
          <a:ln/>
        </p:spPr>
        <p:txBody>
          <a:bodyPr wrap="square" lIns="0" tIns="0" rIns="0" bIns="0" rtlCol="0" anchor="ctr"/>
          <a:lstStyle/>
          <a:p>
            <a:pPr algn="ctr" indent="0" marL="0">
              <a:buNone/>
            </a:pPr>
            <a:r>
              <a:rPr lang="en-US" sz="750" b="1" spc="100" kern="0" dirty="0">
                <a:solidFill>
                  <a:srgbClr val="85D155"/>
                </a:solidFill>
                <a:latin typeface="Poppins" pitchFamily="34" charset="0"/>
                <a:ea typeface="Poppins" pitchFamily="34" charset="-122"/>
                <a:cs typeface="Poppins" pitchFamily="34" charset="-120"/>
              </a:rPr>
              <a:t>NOT</a:t>
            </a:r>
            <a:endParaRPr lang="en-US" sz="750" dirty="0"/>
          </a:p>
        </p:txBody>
      </p:sp>
      <p:sp>
        <p:nvSpPr>
          <p:cNvPr id="23" name="Text 21"/>
          <p:cNvSpPr/>
          <p:nvPr/>
        </p:nvSpPr>
        <p:spPr>
          <a:xfrm>
            <a:off x="5468112" y="3419856"/>
            <a:ext cx="3054096" cy="256032"/>
          </a:xfrm>
          <a:prstGeom prst="rect">
            <a:avLst/>
          </a:prstGeom>
          <a:noFill/>
          <a:ln/>
        </p:spPr>
        <p:txBody>
          <a:bodyPr wrap="square" lIns="0" tIns="0" rIns="0" bIns="0" rtlCol="0" anchor="ctr"/>
          <a:lstStyle/>
          <a:p>
            <a:pPr indent="0" marL="0">
              <a:buNone/>
            </a:pPr>
            <a:r>
              <a:rPr lang="en-US" sz="1000" b="1" dirty="0">
                <a:solidFill>
                  <a:srgbClr val="1A1A1A"/>
                </a:solidFill>
                <a:latin typeface="Poppins" pitchFamily="34" charset="0"/>
                <a:ea typeface="Poppins" pitchFamily="34" charset="-122"/>
                <a:cs typeface="Poppins" pitchFamily="34" charset="-120"/>
              </a:rPr>
              <a:t>Not priced for institutions</a:t>
            </a:r>
            <a:endParaRPr lang="en-US" sz="1000" dirty="0"/>
          </a:p>
        </p:txBody>
      </p:sp>
      <p:sp>
        <p:nvSpPr>
          <p:cNvPr id="24" name="Text 22"/>
          <p:cNvSpPr/>
          <p:nvPr/>
        </p:nvSpPr>
        <p:spPr>
          <a:xfrm>
            <a:off x="4828032" y="3749040"/>
            <a:ext cx="3694176" cy="914400"/>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The middle market is the market. Boutique DPMs, independent RIAs, and family offices cannot justify enterprise pricing. Vektor is designed from the ground up for the segment every incumbent has ignored.</a:t>
            </a:r>
            <a:endParaRPr lang="en-US" sz="880" dirty="0"/>
          </a:p>
        </p:txBody>
      </p:sp>
      <p:sp>
        <p:nvSpPr>
          <p:cNvPr id="25" name="Text 23"/>
          <p:cNvSpPr/>
          <p:nvPr/>
        </p:nvSpPr>
        <p:spPr>
          <a:xfrm>
            <a:off x="365760" y="4974336"/>
            <a:ext cx="7589520" cy="146304"/>
          </a:xfrm>
          <a:prstGeom prst="rect">
            <a:avLst/>
          </a:prstGeom>
          <a:noFill/>
          <a:ln/>
        </p:spPr>
        <p:txBody>
          <a:bodyPr wrap="square" lIns="0" tIns="0" rIns="0" bIns="0" rtlCol="0" anchor="ctr"/>
          <a:lstStyle/>
          <a:p>
            <a:pPr indent="0" marL="0">
              <a:buNone/>
            </a:pPr>
            <a:r>
              <a:rPr lang="en-US" sz="650" dirty="0">
                <a:solidFill>
                  <a:srgbClr val="CCCCCC"/>
                </a:solidFill>
                <a:latin typeface="Poppins" pitchFamily="34" charset="0"/>
                <a:ea typeface="Poppins" pitchFamily="34" charset="-122"/>
                <a:cs typeface="Poppins" pitchFamily="34" charset="-120"/>
              </a:rPr>
              <a:t>InvestPuppy · investpuppy.com · contact@investpuppy.com · CONFIDENTIAL</a:t>
            </a:r>
            <a:endParaRPr lang="en-US" sz="650" dirty="0"/>
          </a:p>
        </p:txBody>
      </p:sp>
      <p:pic>
        <p:nvPicPr>
          <p:cNvPr id="26" name="Image 0" descr="/home/claude/investpuppy/_shared/logos/ip_logo_light_bg.png">    </p:cNvPr>
          <p:cNvPicPr>
            <a:picLocks noChangeAspect="1"/>
          </p:cNvPicPr>
          <p:nvPr/>
        </p:nvPicPr>
        <p:blipFill>
          <a:blip r:embed="rId1"/>
          <a:stretch>
            <a:fillRect/>
          </a:stretch>
        </p:blipFill>
        <p:spPr>
          <a:xfrm>
            <a:off x="8463686" y="4919472"/>
            <a:ext cx="223114" cy="182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
            <a:ext cx="5486400" cy="201168"/>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MARKET OPPORTUNITY</a:t>
            </a:r>
            <a:endParaRPr lang="en-US" sz="700" dirty="0"/>
          </a:p>
        </p:txBody>
      </p:sp>
      <p:sp>
        <p:nvSpPr>
          <p:cNvPr id="3" name="Text 1"/>
          <p:cNvSpPr/>
          <p:nvPr/>
        </p:nvSpPr>
        <p:spPr>
          <a:xfrm>
            <a:off x="457200" y="50292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Poppins" pitchFamily="34" charset="0"/>
                <a:ea typeface="Poppins" pitchFamily="34" charset="-122"/>
                <a:cs typeface="Poppins" pitchFamily="34" charset="-120"/>
              </a:rPr>
              <a:t>A clear market. A clear entry point.</a:t>
            </a:r>
            <a:endParaRPr lang="en-US" sz="2600" dirty="0"/>
          </a:p>
        </p:txBody>
      </p:sp>
      <p:sp>
        <p:nvSpPr>
          <p:cNvPr id="4" name="Shape 2"/>
          <p:cNvSpPr/>
          <p:nvPr/>
        </p:nvSpPr>
        <p:spPr>
          <a:xfrm>
            <a:off x="493776" y="1335024"/>
            <a:ext cx="164592" cy="164592"/>
          </a:xfrm>
          <a:prstGeom prst="ellipse">
            <a:avLst/>
          </a:prstGeom>
          <a:solidFill>
            <a:srgbClr val="85D155"/>
          </a:solidFill>
          <a:ln w="12700">
            <a:solidFill>
              <a:srgbClr val="85D155"/>
            </a:solidFill>
            <a:prstDash val="solid"/>
          </a:ln>
        </p:spPr>
      </p:sp>
      <p:sp>
        <p:nvSpPr>
          <p:cNvPr id="5" name="Shape 3"/>
          <p:cNvSpPr/>
          <p:nvPr/>
        </p:nvSpPr>
        <p:spPr>
          <a:xfrm>
            <a:off x="576072" y="1508760"/>
            <a:ext cx="0" cy="713232"/>
          </a:xfrm>
          <a:prstGeom prst="line">
            <a:avLst/>
          </a:prstGeom>
          <a:noFill/>
          <a:ln w="12700">
            <a:solidFill>
              <a:srgbClr val="E2E2E2"/>
            </a:solidFill>
            <a:prstDash val="dash"/>
          </a:ln>
        </p:spPr>
      </p:sp>
      <p:sp>
        <p:nvSpPr>
          <p:cNvPr id="6" name="Text 4"/>
          <p:cNvSpPr/>
          <p:nvPr/>
        </p:nvSpPr>
        <p:spPr>
          <a:xfrm>
            <a:off x="822960" y="1234440"/>
            <a:ext cx="3383280" cy="201168"/>
          </a:xfrm>
          <a:prstGeom prst="rect">
            <a:avLst/>
          </a:prstGeom>
          <a:noFill/>
          <a:ln/>
        </p:spPr>
        <p:txBody>
          <a:bodyPr wrap="square" lIns="0" tIns="0" rIns="0" bIns="0" rtlCol="0" anchor="ctr"/>
          <a:lstStyle/>
          <a:p>
            <a:pPr indent="0" marL="0">
              <a:buNone/>
            </a:pPr>
            <a:r>
              <a:rPr lang="en-US" sz="750" b="1" spc="80" kern="0" dirty="0">
                <a:solidFill>
                  <a:srgbClr val="85D155"/>
                </a:solidFill>
                <a:latin typeface="Poppins" pitchFamily="34" charset="0"/>
                <a:ea typeface="Poppins" pitchFamily="34" charset="-122"/>
                <a:cs typeface="Poppins" pitchFamily="34" charset="-120"/>
              </a:rPr>
              <a:t>Now</a:t>
            </a:r>
            <a:endParaRPr lang="en-US" sz="750" dirty="0"/>
          </a:p>
        </p:txBody>
      </p:sp>
      <p:sp>
        <p:nvSpPr>
          <p:cNvPr id="7" name="Text 5"/>
          <p:cNvSpPr/>
          <p:nvPr/>
        </p:nvSpPr>
        <p:spPr>
          <a:xfrm>
            <a:off x="822960" y="1417320"/>
            <a:ext cx="3383280" cy="292608"/>
          </a:xfrm>
          <a:prstGeom prst="rect">
            <a:avLst/>
          </a:prstGeom>
          <a:noFill/>
          <a:ln/>
        </p:spPr>
        <p:txBody>
          <a:bodyPr wrap="square" lIns="0" tIns="0" rIns="0" bIns="0" rtlCol="0" anchor="ctr"/>
          <a:lstStyle/>
          <a:p>
            <a:pPr indent="0" marL="0">
              <a:buNone/>
            </a:pPr>
            <a:r>
              <a:rPr lang="en-US" sz="1300" b="1" dirty="0">
                <a:solidFill>
                  <a:srgbClr val="1A1A1A"/>
                </a:solidFill>
                <a:latin typeface="Poppins" pitchFamily="34" charset="0"/>
                <a:ea typeface="Poppins" pitchFamily="34" charset="-122"/>
                <a:cs typeface="Poppins" pitchFamily="34" charset="-120"/>
              </a:rPr>
              <a:t>Singapore</a:t>
            </a:r>
            <a:endParaRPr lang="en-US" sz="1300" dirty="0"/>
          </a:p>
        </p:txBody>
      </p:sp>
      <p:sp>
        <p:nvSpPr>
          <p:cNvPr id="8" name="Text 6"/>
          <p:cNvSpPr/>
          <p:nvPr/>
        </p:nvSpPr>
        <p:spPr>
          <a:xfrm>
            <a:off x="822960" y="1728216"/>
            <a:ext cx="3383280" cy="493776"/>
          </a:xfrm>
          <a:prstGeom prst="rect">
            <a:avLst/>
          </a:prstGeom>
          <a:noFill/>
          <a:ln/>
        </p:spPr>
        <p:txBody>
          <a:bodyPr wrap="square" lIns="0" tIns="0" rIns="0" bIns="0" rtlCol="0" anchor="t"/>
          <a:lstStyle/>
          <a:p>
            <a:pPr indent="0" marL="0">
              <a:buNone/>
            </a:pPr>
            <a:r>
              <a:rPr lang="en-US" sz="900" dirty="0">
                <a:solidFill>
                  <a:srgbClr val="5A5A5A"/>
                </a:solidFill>
                <a:latin typeface="Poppins" pitchFamily="34" charset="0"/>
                <a:ea typeface="Poppins" pitchFamily="34" charset="-122"/>
                <a:cs typeface="Poppins" pitchFamily="34" charset="-120"/>
              </a:rPr>
              <a:t>2,000+ single family offices (MAS, 2024) — up from 400 in 2020. 500+ independent wealth managers. MAS regulatory clarity. Vektor is distribution-ready for this market today.</a:t>
            </a:r>
            <a:endParaRPr lang="en-US" sz="900" dirty="0"/>
          </a:p>
        </p:txBody>
      </p:sp>
      <p:sp>
        <p:nvSpPr>
          <p:cNvPr id="9" name="Shape 7"/>
          <p:cNvSpPr/>
          <p:nvPr/>
        </p:nvSpPr>
        <p:spPr>
          <a:xfrm>
            <a:off x="493776" y="2523744"/>
            <a:ext cx="164592" cy="164592"/>
          </a:xfrm>
          <a:prstGeom prst="ellipse">
            <a:avLst/>
          </a:prstGeom>
          <a:solidFill>
            <a:srgbClr val="85D155"/>
          </a:solidFill>
          <a:ln w="12700">
            <a:solidFill>
              <a:srgbClr val="85D155"/>
            </a:solidFill>
            <a:prstDash val="solid"/>
          </a:ln>
        </p:spPr>
      </p:sp>
      <p:sp>
        <p:nvSpPr>
          <p:cNvPr id="10" name="Shape 8"/>
          <p:cNvSpPr/>
          <p:nvPr/>
        </p:nvSpPr>
        <p:spPr>
          <a:xfrm>
            <a:off x="576072" y="2697480"/>
            <a:ext cx="0" cy="713232"/>
          </a:xfrm>
          <a:prstGeom prst="line">
            <a:avLst/>
          </a:prstGeom>
          <a:noFill/>
          <a:ln w="12700">
            <a:solidFill>
              <a:srgbClr val="E2E2E2"/>
            </a:solidFill>
            <a:prstDash val="dash"/>
          </a:ln>
        </p:spPr>
      </p:sp>
      <p:sp>
        <p:nvSpPr>
          <p:cNvPr id="11" name="Text 9"/>
          <p:cNvSpPr/>
          <p:nvPr/>
        </p:nvSpPr>
        <p:spPr>
          <a:xfrm>
            <a:off x="822960" y="2423160"/>
            <a:ext cx="3383280" cy="201168"/>
          </a:xfrm>
          <a:prstGeom prst="rect">
            <a:avLst/>
          </a:prstGeom>
          <a:noFill/>
          <a:ln/>
        </p:spPr>
        <p:txBody>
          <a:bodyPr wrap="square" lIns="0" tIns="0" rIns="0" bIns="0" rtlCol="0" anchor="ctr"/>
          <a:lstStyle/>
          <a:p>
            <a:pPr indent="0" marL="0">
              <a:buNone/>
            </a:pPr>
            <a:r>
              <a:rPr lang="en-US" sz="750" b="1" spc="80" kern="0" dirty="0">
                <a:solidFill>
                  <a:srgbClr val="85D155"/>
                </a:solidFill>
                <a:latin typeface="Poppins" pitchFamily="34" charset="0"/>
                <a:ea typeface="Poppins" pitchFamily="34" charset="-122"/>
                <a:cs typeface="Poppins" pitchFamily="34" charset="-120"/>
              </a:rPr>
              <a:t>12–24 months</a:t>
            </a:r>
            <a:endParaRPr lang="en-US" sz="750" dirty="0"/>
          </a:p>
        </p:txBody>
      </p:sp>
      <p:sp>
        <p:nvSpPr>
          <p:cNvPr id="12" name="Text 10"/>
          <p:cNvSpPr/>
          <p:nvPr/>
        </p:nvSpPr>
        <p:spPr>
          <a:xfrm>
            <a:off x="822960" y="2606040"/>
            <a:ext cx="3383280" cy="292608"/>
          </a:xfrm>
          <a:prstGeom prst="rect">
            <a:avLst/>
          </a:prstGeom>
          <a:noFill/>
          <a:ln/>
        </p:spPr>
        <p:txBody>
          <a:bodyPr wrap="square" lIns="0" tIns="0" rIns="0" bIns="0" rtlCol="0" anchor="ctr"/>
          <a:lstStyle/>
          <a:p>
            <a:pPr indent="0" marL="0">
              <a:buNone/>
            </a:pPr>
            <a:r>
              <a:rPr lang="en-US" sz="1300" b="1" dirty="0">
                <a:solidFill>
                  <a:srgbClr val="1A1A1A"/>
                </a:solidFill>
                <a:latin typeface="Poppins" pitchFamily="34" charset="0"/>
                <a:ea typeface="Poppins" pitchFamily="34" charset="-122"/>
                <a:cs typeface="Poppins" pitchFamily="34" charset="-120"/>
              </a:rPr>
              <a:t>Southeast Asia</a:t>
            </a:r>
            <a:endParaRPr lang="en-US" sz="1300" dirty="0"/>
          </a:p>
        </p:txBody>
      </p:sp>
      <p:sp>
        <p:nvSpPr>
          <p:cNvPr id="13" name="Text 11"/>
          <p:cNvSpPr/>
          <p:nvPr/>
        </p:nvSpPr>
        <p:spPr>
          <a:xfrm>
            <a:off x="822960" y="2916936"/>
            <a:ext cx="3383280" cy="493776"/>
          </a:xfrm>
          <a:prstGeom prst="rect">
            <a:avLst/>
          </a:prstGeom>
          <a:noFill/>
          <a:ln/>
        </p:spPr>
        <p:txBody>
          <a:bodyPr wrap="square" lIns="0" tIns="0" rIns="0" bIns="0" rtlCol="0" anchor="t"/>
          <a:lstStyle/>
          <a:p>
            <a:pPr indent="0" marL="0">
              <a:buNone/>
            </a:pPr>
            <a:r>
              <a:rPr lang="en-US" sz="900" dirty="0">
                <a:solidFill>
                  <a:srgbClr val="5A5A5A"/>
                </a:solidFill>
                <a:latin typeface="Poppins" pitchFamily="34" charset="0"/>
                <a:ea typeface="Poppins" pitchFamily="34" charset="-122"/>
                <a:cs typeface="Poppins" pitchFamily="34" charset="-120"/>
              </a:rPr>
              <a:t>Hong Kong, Malaysia, Thailand. Similar regulatory profiles. Existing InvestPuppy professional network extends here.</a:t>
            </a:r>
            <a:endParaRPr lang="en-US" sz="900" dirty="0"/>
          </a:p>
        </p:txBody>
      </p:sp>
      <p:sp>
        <p:nvSpPr>
          <p:cNvPr id="14" name="Shape 12"/>
          <p:cNvSpPr/>
          <p:nvPr/>
        </p:nvSpPr>
        <p:spPr>
          <a:xfrm>
            <a:off x="493776" y="3712464"/>
            <a:ext cx="164592" cy="164592"/>
          </a:xfrm>
          <a:prstGeom prst="ellipse">
            <a:avLst/>
          </a:prstGeom>
          <a:solidFill>
            <a:srgbClr val="85D155"/>
          </a:solidFill>
          <a:ln w="12700">
            <a:solidFill>
              <a:srgbClr val="85D155"/>
            </a:solidFill>
            <a:prstDash val="solid"/>
          </a:ln>
        </p:spPr>
      </p:sp>
      <p:sp>
        <p:nvSpPr>
          <p:cNvPr id="15" name="Text 13"/>
          <p:cNvSpPr/>
          <p:nvPr/>
        </p:nvSpPr>
        <p:spPr>
          <a:xfrm>
            <a:off x="822960" y="3611880"/>
            <a:ext cx="3383280" cy="201168"/>
          </a:xfrm>
          <a:prstGeom prst="rect">
            <a:avLst/>
          </a:prstGeom>
          <a:noFill/>
          <a:ln/>
        </p:spPr>
        <p:txBody>
          <a:bodyPr wrap="square" lIns="0" tIns="0" rIns="0" bIns="0" rtlCol="0" anchor="ctr"/>
          <a:lstStyle/>
          <a:p>
            <a:pPr indent="0" marL="0">
              <a:buNone/>
            </a:pPr>
            <a:r>
              <a:rPr lang="en-US" sz="750" b="1" spc="80" kern="0" dirty="0">
                <a:solidFill>
                  <a:srgbClr val="85D155"/>
                </a:solidFill>
                <a:latin typeface="Poppins" pitchFamily="34" charset="0"/>
                <a:ea typeface="Poppins" pitchFamily="34" charset="-122"/>
                <a:cs typeface="Poppins" pitchFamily="34" charset="-120"/>
              </a:rPr>
              <a:t>24–36 months</a:t>
            </a:r>
            <a:endParaRPr lang="en-US" sz="750" dirty="0"/>
          </a:p>
        </p:txBody>
      </p:sp>
      <p:sp>
        <p:nvSpPr>
          <p:cNvPr id="16" name="Text 14"/>
          <p:cNvSpPr/>
          <p:nvPr/>
        </p:nvSpPr>
        <p:spPr>
          <a:xfrm>
            <a:off x="822960" y="3794760"/>
            <a:ext cx="3383280" cy="292608"/>
          </a:xfrm>
          <a:prstGeom prst="rect">
            <a:avLst/>
          </a:prstGeom>
          <a:noFill/>
          <a:ln/>
        </p:spPr>
        <p:txBody>
          <a:bodyPr wrap="square" lIns="0" tIns="0" rIns="0" bIns="0" rtlCol="0" anchor="ctr"/>
          <a:lstStyle/>
          <a:p>
            <a:pPr indent="0" marL="0">
              <a:buNone/>
            </a:pPr>
            <a:r>
              <a:rPr lang="en-US" sz="1300" b="1" dirty="0">
                <a:solidFill>
                  <a:srgbClr val="1A1A1A"/>
                </a:solidFill>
                <a:latin typeface="Poppins" pitchFamily="34" charset="0"/>
                <a:ea typeface="Poppins" pitchFamily="34" charset="-122"/>
                <a:cs typeface="Poppins" pitchFamily="34" charset="-120"/>
              </a:rPr>
              <a:t>Established markets</a:t>
            </a:r>
            <a:endParaRPr lang="en-US" sz="1300" dirty="0"/>
          </a:p>
        </p:txBody>
      </p:sp>
      <p:sp>
        <p:nvSpPr>
          <p:cNvPr id="17" name="Text 15"/>
          <p:cNvSpPr/>
          <p:nvPr/>
        </p:nvSpPr>
        <p:spPr>
          <a:xfrm>
            <a:off x="822960" y="4105656"/>
            <a:ext cx="3383280" cy="493776"/>
          </a:xfrm>
          <a:prstGeom prst="rect">
            <a:avLst/>
          </a:prstGeom>
          <a:noFill/>
          <a:ln/>
        </p:spPr>
        <p:txBody>
          <a:bodyPr wrap="square" lIns="0" tIns="0" rIns="0" bIns="0" rtlCol="0" anchor="t"/>
          <a:lstStyle/>
          <a:p>
            <a:pPr indent="0" marL="0">
              <a:buNone/>
            </a:pPr>
            <a:r>
              <a:rPr lang="en-US" sz="900" dirty="0">
                <a:solidFill>
                  <a:srgbClr val="5A5A5A"/>
                </a:solidFill>
                <a:latin typeface="Poppins" pitchFamily="34" charset="0"/>
                <a:ea typeface="Poppins" pitchFamily="34" charset="-122"/>
                <a:cs typeface="Poppins" pitchFamily="34" charset="-120"/>
              </a:rPr>
              <a:t>UK (FCA — regulatory content in development). Australia. Middle East. Platform requires no structural change to enter.</a:t>
            </a:r>
            <a:endParaRPr lang="en-US" sz="900" dirty="0"/>
          </a:p>
        </p:txBody>
      </p:sp>
      <p:sp>
        <p:nvSpPr>
          <p:cNvPr id="18" name="Shape 16"/>
          <p:cNvSpPr/>
          <p:nvPr/>
        </p:nvSpPr>
        <p:spPr>
          <a:xfrm>
            <a:off x="4663440" y="1216152"/>
            <a:ext cx="4023360" cy="987552"/>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19" name="Shape 17"/>
          <p:cNvSpPr/>
          <p:nvPr/>
        </p:nvSpPr>
        <p:spPr>
          <a:xfrm>
            <a:off x="4663440" y="1216152"/>
            <a:ext cx="41148" cy="987552"/>
          </a:xfrm>
          <a:prstGeom prst="rect">
            <a:avLst/>
          </a:prstGeom>
          <a:solidFill>
            <a:srgbClr val="85D155"/>
          </a:solidFill>
          <a:ln w="12700">
            <a:solidFill>
              <a:srgbClr val="85D155"/>
            </a:solidFill>
            <a:prstDash val="solid"/>
          </a:ln>
        </p:spPr>
      </p:sp>
      <p:sp>
        <p:nvSpPr>
          <p:cNvPr id="20" name="Text 18"/>
          <p:cNvSpPr/>
          <p:nvPr/>
        </p:nvSpPr>
        <p:spPr>
          <a:xfrm>
            <a:off x="4828032" y="1307592"/>
            <a:ext cx="3657600" cy="256032"/>
          </a:xfrm>
          <a:prstGeom prst="rect">
            <a:avLst/>
          </a:prstGeom>
          <a:noFill/>
          <a:ln/>
        </p:spPr>
        <p:txBody>
          <a:bodyPr wrap="square" lIns="0" tIns="0" rIns="0" bIns="0" rtlCol="0" anchor="ctr"/>
          <a:lstStyle/>
          <a:p>
            <a:pPr indent="0" marL="0">
              <a:buNone/>
            </a:pPr>
            <a:r>
              <a:rPr lang="en-US" sz="1100" b="1" dirty="0">
                <a:solidFill>
                  <a:srgbClr val="1A1A1A"/>
                </a:solidFill>
                <a:latin typeface="Poppins" pitchFamily="34" charset="0"/>
                <a:ea typeface="Poppins" pitchFamily="34" charset="-122"/>
                <a:cs typeface="Poppins" pitchFamily="34" charset="-120"/>
              </a:rPr>
              <a:t>No PORT — capability provision</a:t>
            </a:r>
            <a:endParaRPr lang="en-US" sz="1100" dirty="0"/>
          </a:p>
        </p:txBody>
      </p:sp>
      <p:sp>
        <p:nvSpPr>
          <p:cNvPr id="21" name="Text 19"/>
          <p:cNvSpPr/>
          <p:nvPr/>
        </p:nvSpPr>
        <p:spPr>
          <a:xfrm>
            <a:off x="4828032" y="1581912"/>
            <a:ext cx="3657600" cy="530352"/>
          </a:xfrm>
          <a:prstGeom prst="rect">
            <a:avLst/>
          </a:prstGeom>
          <a:noFill/>
          <a:ln/>
        </p:spPr>
        <p:txBody>
          <a:bodyPr wrap="square" lIns="0" tIns="0" rIns="0" bIns="0" rtlCol="0" anchor="t"/>
          <a:lstStyle/>
          <a:p>
            <a:pPr indent="0" marL="0">
              <a:buNone/>
            </a:pPr>
            <a:r>
              <a:rPr lang="en-US" sz="900" dirty="0">
                <a:solidFill>
                  <a:srgbClr val="5A5A5A"/>
                </a:solidFill>
                <a:latin typeface="Poppins" pitchFamily="34" charset="0"/>
                <a:ea typeface="Poppins" pitchFamily="34" charset="-122"/>
                <a:cs typeface="Poppins" pitchFamily="34" charset="-120"/>
              </a:rPr>
              <a:t>Bloomberg Terminal without PORT. Add systematic construction for 56% of what one Terminal seat costs. Longer conversion path — value must be demonstrated, not compared.</a:t>
            </a:r>
            <a:endParaRPr lang="en-US" sz="900" dirty="0"/>
          </a:p>
        </p:txBody>
      </p:sp>
      <p:sp>
        <p:nvSpPr>
          <p:cNvPr id="22" name="Shape 20"/>
          <p:cNvSpPr/>
          <p:nvPr/>
        </p:nvSpPr>
        <p:spPr>
          <a:xfrm>
            <a:off x="4663440" y="2331720"/>
            <a:ext cx="4023360" cy="987552"/>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23" name="Shape 21"/>
          <p:cNvSpPr/>
          <p:nvPr/>
        </p:nvSpPr>
        <p:spPr>
          <a:xfrm>
            <a:off x="4663440" y="2331720"/>
            <a:ext cx="41148" cy="987552"/>
          </a:xfrm>
          <a:prstGeom prst="rect">
            <a:avLst/>
          </a:prstGeom>
          <a:solidFill>
            <a:srgbClr val="85D155"/>
          </a:solidFill>
          <a:ln w="12700">
            <a:solidFill>
              <a:srgbClr val="85D155"/>
            </a:solidFill>
            <a:prstDash val="solid"/>
          </a:ln>
        </p:spPr>
      </p:sp>
      <p:sp>
        <p:nvSpPr>
          <p:cNvPr id="24" name="Text 22"/>
          <p:cNvSpPr/>
          <p:nvPr/>
        </p:nvSpPr>
        <p:spPr>
          <a:xfrm>
            <a:off x="4828032" y="2423160"/>
            <a:ext cx="3657600" cy="256032"/>
          </a:xfrm>
          <a:prstGeom prst="rect">
            <a:avLst/>
          </a:prstGeom>
          <a:noFill/>
          <a:ln/>
        </p:spPr>
        <p:txBody>
          <a:bodyPr wrap="square" lIns="0" tIns="0" rIns="0" bIns="0" rtlCol="0" anchor="ctr"/>
          <a:lstStyle/>
          <a:p>
            <a:pPr indent="0" marL="0">
              <a:buNone/>
            </a:pPr>
            <a:r>
              <a:rPr lang="en-US" sz="1100" b="1" dirty="0">
                <a:solidFill>
                  <a:srgbClr val="1A1A1A"/>
                </a:solidFill>
                <a:latin typeface="Poppins" pitchFamily="34" charset="0"/>
                <a:ea typeface="Poppins" pitchFamily="34" charset="-122"/>
                <a:cs typeface="Poppins" pitchFamily="34" charset="-120"/>
              </a:rPr>
              <a:t>Bloomberg PORT users — replacement</a:t>
            </a:r>
            <a:endParaRPr lang="en-US" sz="1100" dirty="0"/>
          </a:p>
        </p:txBody>
      </p:sp>
      <p:sp>
        <p:nvSpPr>
          <p:cNvPr id="25" name="Text 23"/>
          <p:cNvSpPr/>
          <p:nvPr/>
        </p:nvSpPr>
        <p:spPr>
          <a:xfrm>
            <a:off x="4828032" y="2697480"/>
            <a:ext cx="3657600" cy="530352"/>
          </a:xfrm>
          <a:prstGeom prst="rect">
            <a:avLst/>
          </a:prstGeom>
          <a:noFill/>
          <a:ln/>
        </p:spPr>
        <p:txBody>
          <a:bodyPr wrap="square" lIns="0" tIns="0" rIns="0" bIns="0" rtlCol="0" anchor="t"/>
          <a:lstStyle/>
          <a:p>
            <a:pPr indent="0" marL="0">
              <a:buNone/>
            </a:pPr>
            <a:r>
              <a:rPr lang="en-US" sz="900" dirty="0">
                <a:solidFill>
                  <a:srgbClr val="5A5A5A"/>
                </a:solidFill>
                <a:latin typeface="Poppins" pitchFamily="34" charset="0"/>
                <a:ea typeface="Poppins" pitchFamily="34" charset="-122"/>
                <a:cs typeface="Poppins" pitchFamily="34" charset="-120"/>
              </a:rPr>
              <a:t>PORT stays for risk reporting. Vektor replaces PORT's equity construction function. Total Bloomberg spend falls. Construction capability improves. Fastest to close.</a:t>
            </a:r>
            <a:endParaRPr lang="en-US" sz="900" dirty="0"/>
          </a:p>
        </p:txBody>
      </p:sp>
      <p:sp>
        <p:nvSpPr>
          <p:cNvPr id="26" name="Shape 24"/>
          <p:cNvSpPr/>
          <p:nvPr/>
        </p:nvSpPr>
        <p:spPr>
          <a:xfrm>
            <a:off x="4663440" y="3447288"/>
            <a:ext cx="4023360" cy="987552"/>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27" name="Shape 25"/>
          <p:cNvSpPr/>
          <p:nvPr/>
        </p:nvSpPr>
        <p:spPr>
          <a:xfrm>
            <a:off x="4663440" y="3447288"/>
            <a:ext cx="41148" cy="987552"/>
          </a:xfrm>
          <a:prstGeom prst="rect">
            <a:avLst/>
          </a:prstGeom>
          <a:solidFill>
            <a:srgbClr val="85D155"/>
          </a:solidFill>
          <a:ln w="12700">
            <a:solidFill>
              <a:srgbClr val="85D155"/>
            </a:solidFill>
            <a:prstDash val="solid"/>
          </a:ln>
        </p:spPr>
      </p:sp>
      <p:sp>
        <p:nvSpPr>
          <p:cNvPr id="28" name="Text 26"/>
          <p:cNvSpPr/>
          <p:nvPr/>
        </p:nvSpPr>
        <p:spPr>
          <a:xfrm>
            <a:off x="4828032" y="3538728"/>
            <a:ext cx="3657600" cy="256032"/>
          </a:xfrm>
          <a:prstGeom prst="rect">
            <a:avLst/>
          </a:prstGeom>
          <a:noFill/>
          <a:ln/>
        </p:spPr>
        <p:txBody>
          <a:bodyPr wrap="square" lIns="0" tIns="0" rIns="0" bIns="0" rtlCol="0" anchor="ctr"/>
          <a:lstStyle/>
          <a:p>
            <a:pPr indent="0" marL="0">
              <a:buNone/>
            </a:pPr>
            <a:r>
              <a:rPr lang="en-US" sz="1100" b="1" dirty="0">
                <a:solidFill>
                  <a:srgbClr val="1A1A1A"/>
                </a:solidFill>
                <a:latin typeface="Poppins" pitchFamily="34" charset="0"/>
                <a:ea typeface="Poppins" pitchFamily="34" charset="-122"/>
                <a:cs typeface="Poppins" pitchFamily="34" charset="-120"/>
              </a:rPr>
              <a:t>Data feed clients — development termination</a:t>
            </a:r>
            <a:endParaRPr lang="en-US" sz="1100" dirty="0"/>
          </a:p>
        </p:txBody>
      </p:sp>
      <p:sp>
        <p:nvSpPr>
          <p:cNvPr id="29" name="Text 27"/>
          <p:cNvSpPr/>
          <p:nvPr/>
        </p:nvSpPr>
        <p:spPr>
          <a:xfrm>
            <a:off x="4828032" y="3813048"/>
            <a:ext cx="3657600" cy="530352"/>
          </a:xfrm>
          <a:prstGeom prst="rect">
            <a:avLst/>
          </a:prstGeom>
          <a:noFill/>
          <a:ln/>
        </p:spPr>
        <p:txBody>
          <a:bodyPr wrap="square" lIns="0" tIns="0" rIns="0" bIns="0" rtlCol="0" anchor="t"/>
          <a:lstStyle/>
          <a:p>
            <a:pPr indent="0" marL="0">
              <a:buNone/>
            </a:pPr>
            <a:r>
              <a:rPr lang="en-US" sz="900" dirty="0">
                <a:solidFill>
                  <a:srgbClr val="5A5A5A"/>
                </a:solidFill>
                <a:latin typeface="Poppins" pitchFamily="34" charset="0"/>
                <a:ea typeface="Poppins" pitchFamily="34" charset="-122"/>
                <a:cs typeface="Poppins" pitchFamily="34" charset="-120"/>
              </a:rPr>
              <a:t>Running Bloomberg feeds for in-house quant work. Vektor ends the build. Note: sunk cost psychology requires quantifying continued build cost vs switching.</a:t>
            </a:r>
            <a:endParaRPr lang="en-US" sz="900" dirty="0"/>
          </a:p>
        </p:txBody>
      </p:sp>
      <p:sp>
        <p:nvSpPr>
          <p:cNvPr id="30" name="Text 28"/>
          <p:cNvSpPr/>
          <p:nvPr/>
        </p:nvSpPr>
        <p:spPr>
          <a:xfrm>
            <a:off x="365760" y="4974336"/>
            <a:ext cx="7589520" cy="146304"/>
          </a:xfrm>
          <a:prstGeom prst="rect">
            <a:avLst/>
          </a:prstGeom>
          <a:noFill/>
          <a:ln/>
        </p:spPr>
        <p:txBody>
          <a:bodyPr wrap="square" lIns="0" tIns="0" rIns="0" bIns="0" rtlCol="0" anchor="ctr"/>
          <a:lstStyle/>
          <a:p>
            <a:pPr indent="0" marL="0">
              <a:buNone/>
            </a:pPr>
            <a:r>
              <a:rPr lang="en-US" sz="650" dirty="0">
                <a:solidFill>
                  <a:srgbClr val="CCCCCC"/>
                </a:solidFill>
                <a:latin typeface="Poppins" pitchFamily="34" charset="0"/>
                <a:ea typeface="Poppins" pitchFamily="34" charset="-122"/>
                <a:cs typeface="Poppins" pitchFamily="34" charset="-120"/>
              </a:rPr>
              <a:t>InvestPuppy · investpuppy.com · contact@investpuppy.com · CONFIDENTIAL</a:t>
            </a:r>
            <a:endParaRPr lang="en-US" sz="650" dirty="0"/>
          </a:p>
        </p:txBody>
      </p:sp>
      <p:pic>
        <p:nvPicPr>
          <p:cNvPr id="31" name="Image 0" descr="/home/claude/investpuppy/_shared/logos/ip_logo_light_bg.png">    </p:cNvPr>
          <p:cNvPicPr>
            <a:picLocks noChangeAspect="1"/>
          </p:cNvPicPr>
          <p:nvPr/>
        </p:nvPicPr>
        <p:blipFill>
          <a:blip r:embed="rId1"/>
          <a:stretch>
            <a:fillRect/>
          </a:stretch>
        </p:blipFill>
        <p:spPr>
          <a:xfrm>
            <a:off x="8463686" y="4919472"/>
            <a:ext cx="223114" cy="182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
            <a:ext cx="5486400" cy="201168"/>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BUSINESS MODEL</a:t>
            </a:r>
            <a:endParaRPr lang="en-US" sz="700" dirty="0"/>
          </a:p>
        </p:txBody>
      </p:sp>
      <p:sp>
        <p:nvSpPr>
          <p:cNvPr id="3" name="Text 1"/>
          <p:cNvSpPr/>
          <p:nvPr/>
        </p:nvSpPr>
        <p:spPr>
          <a:xfrm>
            <a:off x="457200" y="50292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Poppins" pitchFamily="34" charset="0"/>
                <a:ea typeface="Poppins" pitchFamily="34" charset="-122"/>
                <a:cs typeface="Poppins" pitchFamily="34" charset="-120"/>
              </a:rPr>
              <a:t>AUM-tiered annual subscription.</a:t>
            </a:r>
            <a:endParaRPr lang="en-US" sz="2600" dirty="0"/>
          </a:p>
        </p:txBody>
      </p:sp>
      <p:sp>
        <p:nvSpPr>
          <p:cNvPr id="4" name="Text 2"/>
          <p:cNvSpPr/>
          <p:nvPr/>
        </p:nvSpPr>
        <p:spPr>
          <a:xfrm>
            <a:off x="457200" y="1252728"/>
            <a:ext cx="8229600" cy="384048"/>
          </a:xfrm>
          <a:prstGeom prst="rect">
            <a:avLst/>
          </a:prstGeom>
          <a:noFill/>
          <a:ln/>
        </p:spPr>
        <p:txBody>
          <a:bodyPr wrap="square" lIns="0" tIns="0" rIns="0" bIns="0" rtlCol="0" anchor="t"/>
          <a:lstStyle/>
          <a:p>
            <a:pPr indent="0" marL="0">
              <a:buNone/>
            </a:pPr>
            <a:r>
              <a:rPr lang="en-US" sz="950" i="1" dirty="0">
                <a:solidFill>
                  <a:srgbClr val="5A5A5A"/>
                </a:solidFill>
                <a:latin typeface="Poppins" pitchFamily="34" charset="0"/>
                <a:ea typeface="Poppins" pitchFamily="34" charset="-122"/>
                <a:cs typeface="Poppins" pitchFamily="34" charset="-120"/>
              </a:rPr>
              <a:t>Pricing is set. The model is AUM-tiered subscription — predictable SaaS revenue that grows as clients grow. Indicative pricing below, subject to Founding Mandate validation.</a:t>
            </a:r>
            <a:endParaRPr lang="en-US" sz="950" dirty="0"/>
          </a:p>
        </p:txBody>
      </p:sp>
      <p:sp>
        <p:nvSpPr>
          <p:cNvPr id="5" name="Shape 3"/>
          <p:cNvSpPr/>
          <p:nvPr/>
        </p:nvSpPr>
        <p:spPr>
          <a:xfrm>
            <a:off x="457200" y="1737360"/>
            <a:ext cx="1097280" cy="237744"/>
          </a:xfrm>
          <a:prstGeom prst="rect">
            <a:avLst/>
          </a:prstGeom>
          <a:solidFill>
            <a:srgbClr val="0F0F14"/>
          </a:solidFill>
          <a:ln w="12700">
            <a:solidFill>
              <a:srgbClr val="0F0F14"/>
            </a:solidFill>
            <a:prstDash val="solid"/>
          </a:ln>
        </p:spPr>
      </p:sp>
      <p:sp>
        <p:nvSpPr>
          <p:cNvPr id="6" name="Text 4"/>
          <p:cNvSpPr/>
          <p:nvPr/>
        </p:nvSpPr>
        <p:spPr>
          <a:xfrm>
            <a:off x="502920" y="1737360"/>
            <a:ext cx="1005840" cy="237744"/>
          </a:xfrm>
          <a:prstGeom prst="rect">
            <a:avLst/>
          </a:prstGeom>
          <a:noFill/>
          <a:ln/>
        </p:spPr>
        <p:txBody>
          <a:bodyPr wrap="square" lIns="0" tIns="0" rIns="0" bIns="0" rtlCol="0" anchor="ctr"/>
          <a:lstStyle/>
          <a:p>
            <a:pPr indent="0" marL="0">
              <a:buNone/>
            </a:pPr>
            <a:r>
              <a:rPr lang="en-US" sz="750" b="1" dirty="0">
                <a:solidFill>
                  <a:srgbClr val="FFFFFF"/>
                </a:solidFill>
                <a:latin typeface="Poppins" pitchFamily="34" charset="0"/>
                <a:ea typeface="Poppins" pitchFamily="34" charset="-122"/>
                <a:cs typeface="Poppins" pitchFamily="34" charset="-120"/>
              </a:rPr>
              <a:t>Tier</a:t>
            </a:r>
            <a:endParaRPr lang="en-US" sz="750" dirty="0"/>
          </a:p>
        </p:txBody>
      </p:sp>
      <p:sp>
        <p:nvSpPr>
          <p:cNvPr id="7" name="Shape 5"/>
          <p:cNvSpPr/>
          <p:nvPr/>
        </p:nvSpPr>
        <p:spPr>
          <a:xfrm>
            <a:off x="1591056" y="1737360"/>
            <a:ext cx="1920240" cy="237744"/>
          </a:xfrm>
          <a:prstGeom prst="rect">
            <a:avLst/>
          </a:prstGeom>
          <a:solidFill>
            <a:srgbClr val="0F0F14"/>
          </a:solidFill>
          <a:ln w="12700">
            <a:solidFill>
              <a:srgbClr val="0F0F14"/>
            </a:solidFill>
            <a:prstDash val="solid"/>
          </a:ln>
        </p:spPr>
      </p:sp>
      <p:sp>
        <p:nvSpPr>
          <p:cNvPr id="8" name="Text 6"/>
          <p:cNvSpPr/>
          <p:nvPr/>
        </p:nvSpPr>
        <p:spPr>
          <a:xfrm>
            <a:off x="1636776" y="1737360"/>
            <a:ext cx="1828800" cy="237744"/>
          </a:xfrm>
          <a:prstGeom prst="rect">
            <a:avLst/>
          </a:prstGeom>
          <a:noFill/>
          <a:ln/>
        </p:spPr>
        <p:txBody>
          <a:bodyPr wrap="square" lIns="0" tIns="0" rIns="0" bIns="0" rtlCol="0" anchor="ctr"/>
          <a:lstStyle/>
          <a:p>
            <a:pPr indent="0" marL="0">
              <a:buNone/>
            </a:pPr>
            <a:r>
              <a:rPr lang="en-US" sz="750" b="1" dirty="0">
                <a:solidFill>
                  <a:srgbClr val="FFFFFF"/>
                </a:solidFill>
                <a:latin typeface="Poppins" pitchFamily="34" charset="0"/>
                <a:ea typeface="Poppins" pitchFamily="34" charset="-122"/>
                <a:cs typeface="Poppins" pitchFamily="34" charset="-120"/>
              </a:rPr>
              <a:t>AUM</a:t>
            </a:r>
            <a:endParaRPr lang="en-US" sz="750" dirty="0"/>
          </a:p>
        </p:txBody>
      </p:sp>
      <p:sp>
        <p:nvSpPr>
          <p:cNvPr id="9" name="Shape 7"/>
          <p:cNvSpPr/>
          <p:nvPr/>
        </p:nvSpPr>
        <p:spPr>
          <a:xfrm>
            <a:off x="3547872" y="1737360"/>
            <a:ext cx="1280160" cy="237744"/>
          </a:xfrm>
          <a:prstGeom prst="rect">
            <a:avLst/>
          </a:prstGeom>
          <a:solidFill>
            <a:srgbClr val="0F0F14"/>
          </a:solidFill>
          <a:ln w="12700">
            <a:solidFill>
              <a:srgbClr val="0F0F14"/>
            </a:solidFill>
            <a:prstDash val="solid"/>
          </a:ln>
        </p:spPr>
      </p:sp>
      <p:sp>
        <p:nvSpPr>
          <p:cNvPr id="10" name="Text 8"/>
          <p:cNvSpPr/>
          <p:nvPr/>
        </p:nvSpPr>
        <p:spPr>
          <a:xfrm>
            <a:off x="3593592" y="1737360"/>
            <a:ext cx="1188720" cy="237744"/>
          </a:xfrm>
          <a:prstGeom prst="rect">
            <a:avLst/>
          </a:prstGeom>
          <a:noFill/>
          <a:ln/>
        </p:spPr>
        <p:txBody>
          <a:bodyPr wrap="square" lIns="0" tIns="0" rIns="0" bIns="0" rtlCol="0" anchor="ctr"/>
          <a:lstStyle/>
          <a:p>
            <a:pPr indent="0" marL="0">
              <a:buNone/>
            </a:pPr>
            <a:r>
              <a:rPr lang="en-US" sz="750" b="1" dirty="0">
                <a:solidFill>
                  <a:srgbClr val="FFFFFF"/>
                </a:solidFill>
                <a:latin typeface="Poppins" pitchFamily="34" charset="0"/>
                <a:ea typeface="Poppins" pitchFamily="34" charset="-122"/>
                <a:cs typeface="Poppins" pitchFamily="34" charset="-120"/>
              </a:rPr>
              <a:t>Annual price</a:t>
            </a:r>
            <a:endParaRPr lang="en-US" sz="750" dirty="0"/>
          </a:p>
        </p:txBody>
      </p:sp>
      <p:sp>
        <p:nvSpPr>
          <p:cNvPr id="11" name="Shape 9"/>
          <p:cNvSpPr/>
          <p:nvPr/>
        </p:nvSpPr>
        <p:spPr>
          <a:xfrm>
            <a:off x="4864608" y="1737360"/>
            <a:ext cx="2286000" cy="237744"/>
          </a:xfrm>
          <a:prstGeom prst="rect">
            <a:avLst/>
          </a:prstGeom>
          <a:solidFill>
            <a:srgbClr val="0F0F14"/>
          </a:solidFill>
          <a:ln w="12700">
            <a:solidFill>
              <a:srgbClr val="0F0F14"/>
            </a:solidFill>
            <a:prstDash val="solid"/>
          </a:ln>
        </p:spPr>
      </p:sp>
      <p:sp>
        <p:nvSpPr>
          <p:cNvPr id="12" name="Text 10"/>
          <p:cNvSpPr/>
          <p:nvPr/>
        </p:nvSpPr>
        <p:spPr>
          <a:xfrm>
            <a:off x="4910328" y="1737360"/>
            <a:ext cx="2194560" cy="237744"/>
          </a:xfrm>
          <a:prstGeom prst="rect">
            <a:avLst/>
          </a:prstGeom>
          <a:noFill/>
          <a:ln/>
        </p:spPr>
        <p:txBody>
          <a:bodyPr wrap="square" lIns="0" tIns="0" rIns="0" bIns="0" rtlCol="0" anchor="ctr"/>
          <a:lstStyle/>
          <a:p>
            <a:pPr indent="0" marL="0">
              <a:buNone/>
            </a:pPr>
            <a:r>
              <a:rPr lang="en-US" sz="750" b="1" dirty="0">
                <a:solidFill>
                  <a:srgbClr val="FFFFFF"/>
                </a:solidFill>
                <a:latin typeface="Poppins" pitchFamily="34" charset="0"/>
                <a:ea typeface="Poppins" pitchFamily="34" charset="-122"/>
                <a:cs typeface="Poppins" pitchFamily="34" charset="-120"/>
              </a:rPr>
              <a:t>Bloomberg context</a:t>
            </a:r>
            <a:endParaRPr lang="en-US" sz="750" dirty="0"/>
          </a:p>
        </p:txBody>
      </p:sp>
      <p:sp>
        <p:nvSpPr>
          <p:cNvPr id="13" name="Shape 11"/>
          <p:cNvSpPr/>
          <p:nvPr/>
        </p:nvSpPr>
        <p:spPr>
          <a:xfrm>
            <a:off x="457200" y="2011680"/>
            <a:ext cx="1097280" cy="384048"/>
          </a:xfrm>
          <a:prstGeom prst="rect">
            <a:avLst/>
          </a:prstGeom>
          <a:solidFill>
            <a:srgbClr val="F3F4F3"/>
          </a:solidFill>
          <a:ln w="3810">
            <a:solidFill>
              <a:srgbClr val="E2E2E2"/>
            </a:solidFill>
            <a:prstDash val="solid"/>
          </a:ln>
        </p:spPr>
      </p:sp>
      <p:sp>
        <p:nvSpPr>
          <p:cNvPr id="14" name="Text 12"/>
          <p:cNvSpPr/>
          <p:nvPr/>
        </p:nvSpPr>
        <p:spPr>
          <a:xfrm>
            <a:off x="530352" y="2011680"/>
            <a:ext cx="950976" cy="384048"/>
          </a:xfrm>
          <a:prstGeom prst="rect">
            <a:avLst/>
          </a:prstGeom>
          <a:noFill/>
          <a:ln/>
        </p:spPr>
        <p:txBody>
          <a:bodyPr wrap="square" lIns="0" tIns="0" rIns="0" bIns="0" rtlCol="0" anchor="ctr"/>
          <a:lstStyle/>
          <a:p>
            <a:pPr indent="0" marL="0">
              <a:buNone/>
            </a:pPr>
            <a:r>
              <a:rPr lang="en-US" sz="820" b="1" dirty="0">
                <a:solidFill>
                  <a:srgbClr val="1A1A1A"/>
                </a:solidFill>
                <a:latin typeface="Poppins" pitchFamily="34" charset="0"/>
                <a:ea typeface="Poppins" pitchFamily="34" charset="-122"/>
                <a:cs typeface="Poppins" pitchFamily="34" charset="-120"/>
              </a:rPr>
              <a:t>Entry</a:t>
            </a:r>
            <a:endParaRPr lang="en-US" sz="820" dirty="0"/>
          </a:p>
        </p:txBody>
      </p:sp>
      <p:sp>
        <p:nvSpPr>
          <p:cNvPr id="15" name="Shape 13"/>
          <p:cNvSpPr/>
          <p:nvPr/>
        </p:nvSpPr>
        <p:spPr>
          <a:xfrm>
            <a:off x="1591056" y="2011680"/>
            <a:ext cx="1920240" cy="384048"/>
          </a:xfrm>
          <a:prstGeom prst="rect">
            <a:avLst/>
          </a:prstGeom>
          <a:solidFill>
            <a:srgbClr val="F3F4F3"/>
          </a:solidFill>
          <a:ln w="3810">
            <a:solidFill>
              <a:srgbClr val="E2E2E2"/>
            </a:solidFill>
            <a:prstDash val="solid"/>
          </a:ln>
        </p:spPr>
      </p:sp>
      <p:sp>
        <p:nvSpPr>
          <p:cNvPr id="16" name="Text 14"/>
          <p:cNvSpPr/>
          <p:nvPr/>
        </p:nvSpPr>
        <p:spPr>
          <a:xfrm>
            <a:off x="1664208" y="2011680"/>
            <a:ext cx="1773936" cy="384048"/>
          </a:xfrm>
          <a:prstGeom prst="rect">
            <a:avLst/>
          </a:prstGeom>
          <a:noFill/>
          <a:ln/>
        </p:spPr>
        <p:txBody>
          <a:bodyPr wrap="square" lIns="0" tIns="0" rIns="0" bIns="0" rtlCol="0" anchor="ctr"/>
          <a:lstStyle/>
          <a:p>
            <a:pPr indent="0" marL="0">
              <a:buNone/>
            </a:pPr>
            <a:r>
              <a:rPr lang="en-US" sz="820" dirty="0">
                <a:solidFill>
                  <a:srgbClr val="5A5A5A"/>
                </a:solidFill>
                <a:latin typeface="Poppins" pitchFamily="34" charset="0"/>
                <a:ea typeface="Poppins" pitchFamily="34" charset="-122"/>
                <a:cs typeface="Poppins" pitchFamily="34" charset="-120"/>
              </a:rPr>
              <a:t>Up to S$75M AUM</a:t>
            </a:r>
            <a:endParaRPr lang="en-US" sz="820" dirty="0"/>
          </a:p>
        </p:txBody>
      </p:sp>
      <p:sp>
        <p:nvSpPr>
          <p:cNvPr id="17" name="Shape 15"/>
          <p:cNvSpPr/>
          <p:nvPr/>
        </p:nvSpPr>
        <p:spPr>
          <a:xfrm>
            <a:off x="3547872" y="2011680"/>
            <a:ext cx="1280160" cy="384048"/>
          </a:xfrm>
          <a:prstGeom prst="rect">
            <a:avLst/>
          </a:prstGeom>
          <a:solidFill>
            <a:srgbClr val="F3F4F3"/>
          </a:solidFill>
          <a:ln w="3810">
            <a:solidFill>
              <a:srgbClr val="E2E2E2"/>
            </a:solidFill>
            <a:prstDash val="solid"/>
          </a:ln>
        </p:spPr>
      </p:sp>
      <p:sp>
        <p:nvSpPr>
          <p:cNvPr id="18" name="Text 16"/>
          <p:cNvSpPr/>
          <p:nvPr/>
        </p:nvSpPr>
        <p:spPr>
          <a:xfrm>
            <a:off x="3621024" y="2011680"/>
            <a:ext cx="1133856" cy="384048"/>
          </a:xfrm>
          <a:prstGeom prst="rect">
            <a:avLst/>
          </a:prstGeom>
          <a:noFill/>
          <a:ln/>
        </p:spPr>
        <p:txBody>
          <a:bodyPr wrap="square" lIns="0" tIns="0" rIns="0" bIns="0" rtlCol="0" anchor="ctr"/>
          <a:lstStyle/>
          <a:p>
            <a:pPr indent="0" marL="0">
              <a:buNone/>
            </a:pPr>
            <a:r>
              <a:rPr lang="en-US" sz="950" b="1" dirty="0">
                <a:solidFill>
                  <a:srgbClr val="85D155"/>
                </a:solidFill>
                <a:latin typeface="Poppins" pitchFamily="34" charset="0"/>
                <a:ea typeface="Poppins" pitchFamily="34" charset="-122"/>
                <a:cs typeface="Poppins" pitchFamily="34" charset="-120"/>
              </a:rPr>
              <a:t>S$24,000/yr</a:t>
            </a:r>
            <a:endParaRPr lang="en-US" sz="950" dirty="0"/>
          </a:p>
        </p:txBody>
      </p:sp>
      <p:sp>
        <p:nvSpPr>
          <p:cNvPr id="19" name="Shape 17"/>
          <p:cNvSpPr/>
          <p:nvPr/>
        </p:nvSpPr>
        <p:spPr>
          <a:xfrm>
            <a:off x="4864608" y="2011680"/>
            <a:ext cx="2286000" cy="384048"/>
          </a:xfrm>
          <a:prstGeom prst="rect">
            <a:avLst/>
          </a:prstGeom>
          <a:solidFill>
            <a:srgbClr val="F3F4F3"/>
          </a:solidFill>
          <a:ln w="3810">
            <a:solidFill>
              <a:srgbClr val="E2E2E2"/>
            </a:solidFill>
            <a:prstDash val="solid"/>
          </a:ln>
        </p:spPr>
      </p:sp>
      <p:sp>
        <p:nvSpPr>
          <p:cNvPr id="20" name="Text 18"/>
          <p:cNvSpPr/>
          <p:nvPr/>
        </p:nvSpPr>
        <p:spPr>
          <a:xfrm>
            <a:off x="4937760" y="2011680"/>
            <a:ext cx="2139696" cy="384048"/>
          </a:xfrm>
          <a:prstGeom prst="rect">
            <a:avLst/>
          </a:prstGeom>
          <a:noFill/>
          <a:ln/>
        </p:spPr>
        <p:txBody>
          <a:bodyPr wrap="square" lIns="0" tIns="0" rIns="0" bIns="0" rtlCol="0" anchor="ctr"/>
          <a:lstStyle/>
          <a:p>
            <a:pPr indent="0" marL="0">
              <a:buNone/>
            </a:pPr>
            <a:r>
              <a:rPr lang="en-US" sz="820" dirty="0">
                <a:solidFill>
                  <a:srgbClr val="5A5A5A"/>
                </a:solidFill>
                <a:latin typeface="Poppins" pitchFamily="34" charset="0"/>
                <a:ea typeface="Poppins" pitchFamily="34" charset="-122"/>
                <a:cs typeface="Poppins" pitchFamily="34" charset="-120"/>
              </a:rPr>
              <a:t>&lt; 1 Bloomberg seat (S$43K+)</a:t>
            </a:r>
            <a:endParaRPr lang="en-US" sz="820" dirty="0"/>
          </a:p>
        </p:txBody>
      </p:sp>
      <p:sp>
        <p:nvSpPr>
          <p:cNvPr id="21" name="Shape 19"/>
          <p:cNvSpPr/>
          <p:nvPr/>
        </p:nvSpPr>
        <p:spPr>
          <a:xfrm>
            <a:off x="457200" y="2432304"/>
            <a:ext cx="1097280" cy="384048"/>
          </a:xfrm>
          <a:prstGeom prst="rect">
            <a:avLst/>
          </a:prstGeom>
          <a:solidFill>
            <a:srgbClr val="FAFAFA"/>
          </a:solidFill>
          <a:ln w="3810">
            <a:solidFill>
              <a:srgbClr val="E2E2E2"/>
            </a:solidFill>
            <a:prstDash val="solid"/>
          </a:ln>
        </p:spPr>
      </p:sp>
      <p:sp>
        <p:nvSpPr>
          <p:cNvPr id="22" name="Text 20"/>
          <p:cNvSpPr/>
          <p:nvPr/>
        </p:nvSpPr>
        <p:spPr>
          <a:xfrm>
            <a:off x="530352" y="2432304"/>
            <a:ext cx="950976" cy="384048"/>
          </a:xfrm>
          <a:prstGeom prst="rect">
            <a:avLst/>
          </a:prstGeom>
          <a:noFill/>
          <a:ln/>
        </p:spPr>
        <p:txBody>
          <a:bodyPr wrap="square" lIns="0" tIns="0" rIns="0" bIns="0" rtlCol="0" anchor="ctr"/>
          <a:lstStyle/>
          <a:p>
            <a:pPr indent="0" marL="0">
              <a:buNone/>
            </a:pPr>
            <a:r>
              <a:rPr lang="en-US" sz="820" b="1" dirty="0">
                <a:solidFill>
                  <a:srgbClr val="1A1A1A"/>
                </a:solidFill>
                <a:latin typeface="Poppins" pitchFamily="34" charset="0"/>
                <a:ea typeface="Poppins" pitchFamily="34" charset="-122"/>
                <a:cs typeface="Poppins" pitchFamily="34" charset="-120"/>
              </a:rPr>
              <a:t>Growth</a:t>
            </a:r>
            <a:endParaRPr lang="en-US" sz="820" dirty="0"/>
          </a:p>
        </p:txBody>
      </p:sp>
      <p:sp>
        <p:nvSpPr>
          <p:cNvPr id="23" name="Shape 21"/>
          <p:cNvSpPr/>
          <p:nvPr/>
        </p:nvSpPr>
        <p:spPr>
          <a:xfrm>
            <a:off x="1591056" y="2432304"/>
            <a:ext cx="1920240" cy="384048"/>
          </a:xfrm>
          <a:prstGeom prst="rect">
            <a:avLst/>
          </a:prstGeom>
          <a:solidFill>
            <a:srgbClr val="FAFAFA"/>
          </a:solidFill>
          <a:ln w="3810">
            <a:solidFill>
              <a:srgbClr val="E2E2E2"/>
            </a:solidFill>
            <a:prstDash val="solid"/>
          </a:ln>
        </p:spPr>
      </p:sp>
      <p:sp>
        <p:nvSpPr>
          <p:cNvPr id="24" name="Text 22"/>
          <p:cNvSpPr/>
          <p:nvPr/>
        </p:nvSpPr>
        <p:spPr>
          <a:xfrm>
            <a:off x="1664208" y="2432304"/>
            <a:ext cx="1773936" cy="384048"/>
          </a:xfrm>
          <a:prstGeom prst="rect">
            <a:avLst/>
          </a:prstGeom>
          <a:noFill/>
          <a:ln/>
        </p:spPr>
        <p:txBody>
          <a:bodyPr wrap="square" lIns="0" tIns="0" rIns="0" bIns="0" rtlCol="0" anchor="ctr"/>
          <a:lstStyle/>
          <a:p>
            <a:pPr indent="0" marL="0">
              <a:buNone/>
            </a:pPr>
            <a:r>
              <a:rPr lang="en-US" sz="820" dirty="0">
                <a:solidFill>
                  <a:srgbClr val="5A5A5A"/>
                </a:solidFill>
                <a:latin typeface="Poppins" pitchFamily="34" charset="0"/>
                <a:ea typeface="Poppins" pitchFamily="34" charset="-122"/>
                <a:cs typeface="Poppins" pitchFamily="34" charset="-120"/>
              </a:rPr>
              <a:t>S$75M – S$250M AUM</a:t>
            </a:r>
            <a:endParaRPr lang="en-US" sz="820" dirty="0"/>
          </a:p>
        </p:txBody>
      </p:sp>
      <p:sp>
        <p:nvSpPr>
          <p:cNvPr id="25" name="Shape 23"/>
          <p:cNvSpPr/>
          <p:nvPr/>
        </p:nvSpPr>
        <p:spPr>
          <a:xfrm>
            <a:off x="3547872" y="2432304"/>
            <a:ext cx="1280160" cy="384048"/>
          </a:xfrm>
          <a:prstGeom prst="rect">
            <a:avLst/>
          </a:prstGeom>
          <a:solidFill>
            <a:srgbClr val="FAFAFA"/>
          </a:solidFill>
          <a:ln w="3810">
            <a:solidFill>
              <a:srgbClr val="E2E2E2"/>
            </a:solidFill>
            <a:prstDash val="solid"/>
          </a:ln>
        </p:spPr>
      </p:sp>
      <p:sp>
        <p:nvSpPr>
          <p:cNvPr id="26" name="Text 24"/>
          <p:cNvSpPr/>
          <p:nvPr/>
        </p:nvSpPr>
        <p:spPr>
          <a:xfrm>
            <a:off x="3621024" y="2432304"/>
            <a:ext cx="1133856" cy="384048"/>
          </a:xfrm>
          <a:prstGeom prst="rect">
            <a:avLst/>
          </a:prstGeom>
          <a:noFill/>
          <a:ln/>
        </p:spPr>
        <p:txBody>
          <a:bodyPr wrap="square" lIns="0" tIns="0" rIns="0" bIns="0" rtlCol="0" anchor="ctr"/>
          <a:lstStyle/>
          <a:p>
            <a:pPr indent="0" marL="0">
              <a:buNone/>
            </a:pPr>
            <a:r>
              <a:rPr lang="en-US" sz="950" b="1" dirty="0">
                <a:solidFill>
                  <a:srgbClr val="85D155"/>
                </a:solidFill>
                <a:latin typeface="Poppins" pitchFamily="34" charset="0"/>
                <a:ea typeface="Poppins" pitchFamily="34" charset="-122"/>
                <a:cs typeface="Poppins" pitchFamily="34" charset="-120"/>
              </a:rPr>
              <a:t>S$48,000/yr</a:t>
            </a:r>
            <a:endParaRPr lang="en-US" sz="950" dirty="0"/>
          </a:p>
        </p:txBody>
      </p:sp>
      <p:sp>
        <p:nvSpPr>
          <p:cNvPr id="27" name="Shape 25"/>
          <p:cNvSpPr/>
          <p:nvPr/>
        </p:nvSpPr>
        <p:spPr>
          <a:xfrm>
            <a:off x="4864608" y="2432304"/>
            <a:ext cx="2286000" cy="384048"/>
          </a:xfrm>
          <a:prstGeom prst="rect">
            <a:avLst/>
          </a:prstGeom>
          <a:solidFill>
            <a:srgbClr val="FAFAFA"/>
          </a:solidFill>
          <a:ln w="3810">
            <a:solidFill>
              <a:srgbClr val="E2E2E2"/>
            </a:solidFill>
            <a:prstDash val="solid"/>
          </a:ln>
        </p:spPr>
      </p:sp>
      <p:sp>
        <p:nvSpPr>
          <p:cNvPr id="28" name="Text 26"/>
          <p:cNvSpPr/>
          <p:nvPr/>
        </p:nvSpPr>
        <p:spPr>
          <a:xfrm>
            <a:off x="4937760" y="2432304"/>
            <a:ext cx="2139696" cy="384048"/>
          </a:xfrm>
          <a:prstGeom prst="rect">
            <a:avLst/>
          </a:prstGeom>
          <a:noFill/>
          <a:ln/>
        </p:spPr>
        <p:txBody>
          <a:bodyPr wrap="square" lIns="0" tIns="0" rIns="0" bIns="0" rtlCol="0" anchor="ctr"/>
          <a:lstStyle/>
          <a:p>
            <a:pPr indent="0" marL="0">
              <a:buNone/>
            </a:pPr>
            <a:r>
              <a:rPr lang="en-US" sz="820" dirty="0">
                <a:solidFill>
                  <a:srgbClr val="5A5A5A"/>
                </a:solidFill>
                <a:latin typeface="Poppins" pitchFamily="34" charset="0"/>
                <a:ea typeface="Poppins" pitchFamily="34" charset="-122"/>
                <a:cs typeface="Poppins" pitchFamily="34" charset="-120"/>
              </a:rPr>
              <a:t>32–63% of 2–4 seat Bloomberg bill</a:t>
            </a:r>
            <a:endParaRPr lang="en-US" sz="820" dirty="0"/>
          </a:p>
        </p:txBody>
      </p:sp>
      <p:sp>
        <p:nvSpPr>
          <p:cNvPr id="29" name="Shape 27"/>
          <p:cNvSpPr/>
          <p:nvPr/>
        </p:nvSpPr>
        <p:spPr>
          <a:xfrm>
            <a:off x="457200" y="2852928"/>
            <a:ext cx="1097280" cy="384048"/>
          </a:xfrm>
          <a:prstGeom prst="rect">
            <a:avLst/>
          </a:prstGeom>
          <a:solidFill>
            <a:srgbClr val="F3F4F3"/>
          </a:solidFill>
          <a:ln w="3810">
            <a:solidFill>
              <a:srgbClr val="E2E2E2"/>
            </a:solidFill>
            <a:prstDash val="solid"/>
          </a:ln>
        </p:spPr>
      </p:sp>
      <p:sp>
        <p:nvSpPr>
          <p:cNvPr id="30" name="Text 28"/>
          <p:cNvSpPr/>
          <p:nvPr/>
        </p:nvSpPr>
        <p:spPr>
          <a:xfrm>
            <a:off x="530352" y="2852928"/>
            <a:ext cx="950976" cy="384048"/>
          </a:xfrm>
          <a:prstGeom prst="rect">
            <a:avLst/>
          </a:prstGeom>
          <a:noFill/>
          <a:ln/>
        </p:spPr>
        <p:txBody>
          <a:bodyPr wrap="square" lIns="0" tIns="0" rIns="0" bIns="0" rtlCol="0" anchor="ctr"/>
          <a:lstStyle/>
          <a:p>
            <a:pPr indent="0" marL="0">
              <a:buNone/>
            </a:pPr>
            <a:r>
              <a:rPr lang="en-US" sz="820" b="1" dirty="0">
                <a:solidFill>
                  <a:srgbClr val="1A1A1A"/>
                </a:solidFill>
                <a:latin typeface="Poppins" pitchFamily="34" charset="0"/>
                <a:ea typeface="Poppins" pitchFamily="34" charset="-122"/>
                <a:cs typeface="Poppins" pitchFamily="34" charset="-120"/>
              </a:rPr>
              <a:t>Institutional</a:t>
            </a:r>
            <a:endParaRPr lang="en-US" sz="820" dirty="0"/>
          </a:p>
        </p:txBody>
      </p:sp>
      <p:sp>
        <p:nvSpPr>
          <p:cNvPr id="31" name="Shape 29"/>
          <p:cNvSpPr/>
          <p:nvPr/>
        </p:nvSpPr>
        <p:spPr>
          <a:xfrm>
            <a:off x="1591056" y="2852928"/>
            <a:ext cx="1920240" cy="384048"/>
          </a:xfrm>
          <a:prstGeom prst="rect">
            <a:avLst/>
          </a:prstGeom>
          <a:solidFill>
            <a:srgbClr val="F3F4F3"/>
          </a:solidFill>
          <a:ln w="3810">
            <a:solidFill>
              <a:srgbClr val="E2E2E2"/>
            </a:solidFill>
            <a:prstDash val="solid"/>
          </a:ln>
        </p:spPr>
      </p:sp>
      <p:sp>
        <p:nvSpPr>
          <p:cNvPr id="32" name="Text 30"/>
          <p:cNvSpPr/>
          <p:nvPr/>
        </p:nvSpPr>
        <p:spPr>
          <a:xfrm>
            <a:off x="1664208" y="2852928"/>
            <a:ext cx="1773936" cy="384048"/>
          </a:xfrm>
          <a:prstGeom prst="rect">
            <a:avLst/>
          </a:prstGeom>
          <a:noFill/>
          <a:ln/>
        </p:spPr>
        <p:txBody>
          <a:bodyPr wrap="square" lIns="0" tIns="0" rIns="0" bIns="0" rtlCol="0" anchor="ctr"/>
          <a:lstStyle/>
          <a:p>
            <a:pPr indent="0" marL="0">
              <a:buNone/>
            </a:pPr>
            <a:r>
              <a:rPr lang="en-US" sz="820" dirty="0">
                <a:solidFill>
                  <a:srgbClr val="5A5A5A"/>
                </a:solidFill>
                <a:latin typeface="Poppins" pitchFamily="34" charset="0"/>
                <a:ea typeface="Poppins" pitchFamily="34" charset="-122"/>
                <a:cs typeface="Poppins" pitchFamily="34" charset="-120"/>
              </a:rPr>
              <a:t>S$250M – S$750M AUM</a:t>
            </a:r>
            <a:endParaRPr lang="en-US" sz="820" dirty="0"/>
          </a:p>
        </p:txBody>
      </p:sp>
      <p:sp>
        <p:nvSpPr>
          <p:cNvPr id="33" name="Shape 31"/>
          <p:cNvSpPr/>
          <p:nvPr/>
        </p:nvSpPr>
        <p:spPr>
          <a:xfrm>
            <a:off x="3547872" y="2852928"/>
            <a:ext cx="1280160" cy="384048"/>
          </a:xfrm>
          <a:prstGeom prst="rect">
            <a:avLst/>
          </a:prstGeom>
          <a:solidFill>
            <a:srgbClr val="F3F4F3"/>
          </a:solidFill>
          <a:ln w="3810">
            <a:solidFill>
              <a:srgbClr val="E2E2E2"/>
            </a:solidFill>
            <a:prstDash val="solid"/>
          </a:ln>
        </p:spPr>
      </p:sp>
      <p:sp>
        <p:nvSpPr>
          <p:cNvPr id="34" name="Text 32"/>
          <p:cNvSpPr/>
          <p:nvPr/>
        </p:nvSpPr>
        <p:spPr>
          <a:xfrm>
            <a:off x="3621024" y="2852928"/>
            <a:ext cx="1133856" cy="384048"/>
          </a:xfrm>
          <a:prstGeom prst="rect">
            <a:avLst/>
          </a:prstGeom>
          <a:noFill/>
          <a:ln/>
        </p:spPr>
        <p:txBody>
          <a:bodyPr wrap="square" lIns="0" tIns="0" rIns="0" bIns="0" rtlCol="0" anchor="ctr"/>
          <a:lstStyle/>
          <a:p>
            <a:pPr indent="0" marL="0">
              <a:buNone/>
            </a:pPr>
            <a:r>
              <a:rPr lang="en-US" sz="950" b="1" dirty="0">
                <a:solidFill>
                  <a:srgbClr val="85D155"/>
                </a:solidFill>
                <a:latin typeface="Poppins" pitchFamily="34" charset="0"/>
                <a:ea typeface="Poppins" pitchFamily="34" charset="-122"/>
                <a:cs typeface="Poppins" pitchFamily="34" charset="-120"/>
              </a:rPr>
              <a:t>S$108,000/yr</a:t>
            </a:r>
            <a:endParaRPr lang="en-US" sz="950" dirty="0"/>
          </a:p>
        </p:txBody>
      </p:sp>
      <p:sp>
        <p:nvSpPr>
          <p:cNvPr id="35" name="Shape 33"/>
          <p:cNvSpPr/>
          <p:nvPr/>
        </p:nvSpPr>
        <p:spPr>
          <a:xfrm>
            <a:off x="4864608" y="2852928"/>
            <a:ext cx="2286000" cy="384048"/>
          </a:xfrm>
          <a:prstGeom prst="rect">
            <a:avLst/>
          </a:prstGeom>
          <a:solidFill>
            <a:srgbClr val="F3F4F3"/>
          </a:solidFill>
          <a:ln w="3810">
            <a:solidFill>
              <a:srgbClr val="E2E2E2"/>
            </a:solidFill>
            <a:prstDash val="solid"/>
          </a:ln>
        </p:spPr>
      </p:sp>
      <p:sp>
        <p:nvSpPr>
          <p:cNvPr id="36" name="Text 34"/>
          <p:cNvSpPr/>
          <p:nvPr/>
        </p:nvSpPr>
        <p:spPr>
          <a:xfrm>
            <a:off x="4937760" y="2852928"/>
            <a:ext cx="2139696" cy="384048"/>
          </a:xfrm>
          <a:prstGeom prst="rect">
            <a:avLst/>
          </a:prstGeom>
          <a:noFill/>
          <a:ln/>
        </p:spPr>
        <p:txBody>
          <a:bodyPr wrap="square" lIns="0" tIns="0" rIns="0" bIns="0" rtlCol="0" anchor="ctr"/>
          <a:lstStyle/>
          <a:p>
            <a:pPr indent="0" marL="0">
              <a:buNone/>
            </a:pPr>
            <a:r>
              <a:rPr lang="en-US" sz="820" dirty="0">
                <a:solidFill>
                  <a:srgbClr val="5A5A5A"/>
                </a:solidFill>
                <a:latin typeface="Poppins" pitchFamily="34" charset="0"/>
                <a:ea typeface="Poppins" pitchFamily="34" charset="-122"/>
                <a:cs typeface="Poppins" pitchFamily="34" charset="-120"/>
              </a:rPr>
              <a:t>40–57% of total Bloomberg spend incl. PORT (S$190K–S$270K typical)</a:t>
            </a:r>
            <a:endParaRPr lang="en-US" sz="820" dirty="0"/>
          </a:p>
        </p:txBody>
      </p:sp>
      <p:sp>
        <p:nvSpPr>
          <p:cNvPr id="37" name="Shape 35"/>
          <p:cNvSpPr/>
          <p:nvPr/>
        </p:nvSpPr>
        <p:spPr>
          <a:xfrm>
            <a:off x="457200" y="3273552"/>
            <a:ext cx="1097280" cy="384048"/>
          </a:xfrm>
          <a:prstGeom prst="rect">
            <a:avLst/>
          </a:prstGeom>
          <a:solidFill>
            <a:srgbClr val="FAFAFA"/>
          </a:solidFill>
          <a:ln w="3810">
            <a:solidFill>
              <a:srgbClr val="E2E2E2"/>
            </a:solidFill>
            <a:prstDash val="solid"/>
          </a:ln>
        </p:spPr>
      </p:sp>
      <p:sp>
        <p:nvSpPr>
          <p:cNvPr id="38" name="Text 36"/>
          <p:cNvSpPr/>
          <p:nvPr/>
        </p:nvSpPr>
        <p:spPr>
          <a:xfrm>
            <a:off x="530352" y="3273552"/>
            <a:ext cx="950976" cy="384048"/>
          </a:xfrm>
          <a:prstGeom prst="rect">
            <a:avLst/>
          </a:prstGeom>
          <a:noFill/>
          <a:ln/>
        </p:spPr>
        <p:txBody>
          <a:bodyPr wrap="square" lIns="0" tIns="0" rIns="0" bIns="0" rtlCol="0" anchor="ctr"/>
          <a:lstStyle/>
          <a:p>
            <a:pPr indent="0" marL="0">
              <a:buNone/>
            </a:pPr>
            <a:r>
              <a:rPr lang="en-US" sz="820" b="1" dirty="0">
                <a:solidFill>
                  <a:srgbClr val="1A1A1A"/>
                </a:solidFill>
                <a:latin typeface="Poppins" pitchFamily="34" charset="0"/>
                <a:ea typeface="Poppins" pitchFamily="34" charset="-122"/>
                <a:cs typeface="Poppins" pitchFamily="34" charset="-120"/>
              </a:rPr>
              <a:t>Enterprise</a:t>
            </a:r>
            <a:endParaRPr lang="en-US" sz="820" dirty="0"/>
          </a:p>
        </p:txBody>
      </p:sp>
      <p:sp>
        <p:nvSpPr>
          <p:cNvPr id="39" name="Shape 37"/>
          <p:cNvSpPr/>
          <p:nvPr/>
        </p:nvSpPr>
        <p:spPr>
          <a:xfrm>
            <a:off x="1591056" y="3273552"/>
            <a:ext cx="1920240" cy="384048"/>
          </a:xfrm>
          <a:prstGeom prst="rect">
            <a:avLst/>
          </a:prstGeom>
          <a:solidFill>
            <a:srgbClr val="FAFAFA"/>
          </a:solidFill>
          <a:ln w="3810">
            <a:solidFill>
              <a:srgbClr val="E2E2E2"/>
            </a:solidFill>
            <a:prstDash val="solid"/>
          </a:ln>
        </p:spPr>
      </p:sp>
      <p:sp>
        <p:nvSpPr>
          <p:cNvPr id="40" name="Text 38"/>
          <p:cNvSpPr/>
          <p:nvPr/>
        </p:nvSpPr>
        <p:spPr>
          <a:xfrm>
            <a:off x="1664208" y="3273552"/>
            <a:ext cx="1773936" cy="384048"/>
          </a:xfrm>
          <a:prstGeom prst="rect">
            <a:avLst/>
          </a:prstGeom>
          <a:noFill/>
          <a:ln/>
        </p:spPr>
        <p:txBody>
          <a:bodyPr wrap="square" lIns="0" tIns="0" rIns="0" bIns="0" rtlCol="0" anchor="ctr"/>
          <a:lstStyle/>
          <a:p>
            <a:pPr indent="0" marL="0">
              <a:buNone/>
            </a:pPr>
            <a:r>
              <a:rPr lang="en-US" sz="820" dirty="0">
                <a:solidFill>
                  <a:srgbClr val="5A5A5A"/>
                </a:solidFill>
                <a:latin typeface="Poppins" pitchFamily="34" charset="0"/>
                <a:ea typeface="Poppins" pitchFamily="34" charset="-122"/>
                <a:cs typeface="Poppins" pitchFamily="34" charset="-120"/>
              </a:rPr>
              <a:t>S$750M+</a:t>
            </a:r>
            <a:endParaRPr lang="en-US" sz="820" dirty="0"/>
          </a:p>
        </p:txBody>
      </p:sp>
      <p:sp>
        <p:nvSpPr>
          <p:cNvPr id="41" name="Shape 39"/>
          <p:cNvSpPr/>
          <p:nvPr/>
        </p:nvSpPr>
        <p:spPr>
          <a:xfrm>
            <a:off x="3547872" y="3273552"/>
            <a:ext cx="1280160" cy="384048"/>
          </a:xfrm>
          <a:prstGeom prst="rect">
            <a:avLst/>
          </a:prstGeom>
          <a:solidFill>
            <a:srgbClr val="FAFAFA"/>
          </a:solidFill>
          <a:ln w="3810">
            <a:solidFill>
              <a:srgbClr val="E2E2E2"/>
            </a:solidFill>
            <a:prstDash val="solid"/>
          </a:ln>
        </p:spPr>
      </p:sp>
      <p:sp>
        <p:nvSpPr>
          <p:cNvPr id="42" name="Text 40"/>
          <p:cNvSpPr/>
          <p:nvPr/>
        </p:nvSpPr>
        <p:spPr>
          <a:xfrm>
            <a:off x="3621024" y="3273552"/>
            <a:ext cx="1133856" cy="384048"/>
          </a:xfrm>
          <a:prstGeom prst="rect">
            <a:avLst/>
          </a:prstGeom>
          <a:noFill/>
          <a:ln/>
        </p:spPr>
        <p:txBody>
          <a:bodyPr wrap="square" lIns="0" tIns="0" rIns="0" bIns="0" rtlCol="0" anchor="ctr"/>
          <a:lstStyle/>
          <a:p>
            <a:pPr indent="0" marL="0">
              <a:buNone/>
            </a:pPr>
            <a:r>
              <a:rPr lang="en-US" sz="950" b="1" dirty="0">
                <a:solidFill>
                  <a:srgbClr val="85D155"/>
                </a:solidFill>
                <a:latin typeface="Poppins" pitchFamily="34" charset="0"/>
                <a:ea typeface="Poppins" pitchFamily="34" charset="-122"/>
                <a:cs typeface="Poppins" pitchFamily="34" charset="-120"/>
              </a:rPr>
              <a:t>S$168,000+/yr</a:t>
            </a:r>
            <a:endParaRPr lang="en-US" sz="950" dirty="0"/>
          </a:p>
        </p:txBody>
      </p:sp>
      <p:sp>
        <p:nvSpPr>
          <p:cNvPr id="43" name="Shape 41"/>
          <p:cNvSpPr/>
          <p:nvPr/>
        </p:nvSpPr>
        <p:spPr>
          <a:xfrm>
            <a:off x="4864608" y="3273552"/>
            <a:ext cx="2286000" cy="384048"/>
          </a:xfrm>
          <a:prstGeom prst="rect">
            <a:avLst/>
          </a:prstGeom>
          <a:solidFill>
            <a:srgbClr val="FAFAFA"/>
          </a:solidFill>
          <a:ln w="3810">
            <a:solidFill>
              <a:srgbClr val="E2E2E2"/>
            </a:solidFill>
            <a:prstDash val="solid"/>
          </a:ln>
        </p:spPr>
      </p:sp>
      <p:sp>
        <p:nvSpPr>
          <p:cNvPr id="44" name="Text 42"/>
          <p:cNvSpPr/>
          <p:nvPr/>
        </p:nvSpPr>
        <p:spPr>
          <a:xfrm>
            <a:off x="4937760" y="3273552"/>
            <a:ext cx="2139696" cy="384048"/>
          </a:xfrm>
          <a:prstGeom prst="rect">
            <a:avLst/>
          </a:prstGeom>
          <a:noFill/>
          <a:ln/>
        </p:spPr>
        <p:txBody>
          <a:bodyPr wrap="square" lIns="0" tIns="0" rIns="0" bIns="0" rtlCol="0" anchor="ctr"/>
          <a:lstStyle/>
          <a:p>
            <a:pPr indent="0" marL="0">
              <a:buNone/>
            </a:pPr>
            <a:r>
              <a:rPr lang="en-US" sz="820" dirty="0">
                <a:solidFill>
                  <a:srgbClr val="5A5A5A"/>
                </a:solidFill>
                <a:latin typeface="Poppins" pitchFamily="34" charset="0"/>
                <a:ea typeface="Poppins" pitchFamily="34" charset="-122"/>
                <a:cs typeface="Poppins" pitchFamily="34" charset="-120"/>
              </a:rPr>
              <a:t>&lt; 30% of typical Bloomberg + PORT infrastructure at scale</a:t>
            </a:r>
            <a:endParaRPr lang="en-US" sz="820" dirty="0"/>
          </a:p>
        </p:txBody>
      </p:sp>
      <p:sp>
        <p:nvSpPr>
          <p:cNvPr id="45" name="Shape 43"/>
          <p:cNvSpPr/>
          <p:nvPr/>
        </p:nvSpPr>
        <p:spPr>
          <a:xfrm>
            <a:off x="457200" y="3749040"/>
            <a:ext cx="6629400" cy="475488"/>
          </a:xfrm>
          <a:prstGeom prst="rect">
            <a:avLst/>
          </a:prstGeom>
          <a:solidFill>
            <a:srgbClr val="EEF7E6"/>
          </a:solidFill>
          <a:ln w="6350">
            <a:solidFill>
              <a:srgbClr val="85D155"/>
            </a:solidFill>
            <a:prstDash val="solid"/>
          </a:ln>
        </p:spPr>
      </p:sp>
      <p:sp>
        <p:nvSpPr>
          <p:cNvPr id="46" name="Text 44"/>
          <p:cNvSpPr/>
          <p:nvPr/>
        </p:nvSpPr>
        <p:spPr>
          <a:xfrm>
            <a:off x="603504" y="3749040"/>
            <a:ext cx="6355080" cy="475488"/>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Founding Mandate pricing: S$18,000/year for the first 12 months — 25% below the entry tier. From year two: permanently 1 tier below their AUM tier (floor: Entry at S$24,000). The permanent benefit scales with client growth — and generates NRR.</a:t>
            </a:r>
            <a:endParaRPr lang="en-US" sz="850" dirty="0"/>
          </a:p>
        </p:txBody>
      </p:sp>
      <p:sp>
        <p:nvSpPr>
          <p:cNvPr id="47" name="Shape 45"/>
          <p:cNvSpPr/>
          <p:nvPr/>
        </p:nvSpPr>
        <p:spPr>
          <a:xfrm>
            <a:off x="7205472" y="1719072"/>
            <a:ext cx="1554480" cy="2560320"/>
          </a:xfrm>
          <a:prstGeom prst="rect">
            <a:avLst/>
          </a:prstGeom>
          <a:solidFill>
            <a:srgbClr val="0F0F14"/>
          </a:solidFill>
          <a:ln w="12700">
            <a:solidFill>
              <a:srgbClr val="0F0F14"/>
            </a:solidFill>
            <a:prstDash val="solid"/>
          </a:ln>
        </p:spPr>
      </p:sp>
      <p:sp>
        <p:nvSpPr>
          <p:cNvPr id="48" name="Text 46"/>
          <p:cNvSpPr/>
          <p:nvPr/>
        </p:nvSpPr>
        <p:spPr>
          <a:xfrm>
            <a:off x="7278624" y="1828800"/>
            <a:ext cx="1408176" cy="640080"/>
          </a:xfrm>
          <a:prstGeom prst="rect">
            <a:avLst/>
          </a:prstGeom>
          <a:noFill/>
          <a:ln/>
        </p:spPr>
        <p:txBody>
          <a:bodyPr wrap="square" lIns="0" tIns="0" rIns="0" bIns="0" rtlCol="0" anchor="ctr"/>
          <a:lstStyle/>
          <a:p>
            <a:pPr algn="ctr" indent="0" marL="0">
              <a:buNone/>
            </a:pPr>
            <a:r>
              <a:rPr lang="en-US" sz="800" b="1" spc="50" kern="0" dirty="0">
                <a:solidFill>
                  <a:srgbClr val="C8A96E"/>
                </a:solidFill>
                <a:latin typeface="Poppins" pitchFamily="34" charset="0"/>
                <a:ea typeface="Poppins" pitchFamily="34" charset="-122"/>
                <a:cs typeface="Poppins" pitchFamily="34" charset="-120"/>
              </a:rPr>
              <a:t>THREE</a:t>
            </a:r>
            <a:endParaRPr lang="en-US" sz="800" dirty="0"/>
          </a:p>
          <a:p>
            <a:pPr algn="ctr" indent="0" marL="0">
              <a:buNone/>
            </a:pPr>
            <a:r>
              <a:rPr lang="en-US" sz="800" b="1" spc="50" kern="0" dirty="0">
                <a:solidFill>
                  <a:srgbClr val="C8A96E"/>
                </a:solidFill>
                <a:latin typeface="Poppins" pitchFamily="34" charset="0"/>
                <a:ea typeface="Poppins" pitchFamily="34" charset="-122"/>
                <a:cs typeface="Poppins" pitchFamily="34" charset="-120"/>
              </a:rPr>
              <a:t>ENTRY</a:t>
            </a:r>
            <a:endParaRPr lang="en-US" sz="800" dirty="0"/>
          </a:p>
          <a:p>
            <a:pPr algn="ctr" indent="0" marL="0">
              <a:buNone/>
            </a:pPr>
            <a:r>
              <a:rPr lang="en-US" sz="800" b="1" spc="50" kern="0" dirty="0">
                <a:solidFill>
                  <a:srgbClr val="C8A96E"/>
                </a:solidFill>
                <a:latin typeface="Poppins" pitchFamily="34" charset="0"/>
                <a:ea typeface="Poppins" pitchFamily="34" charset="-122"/>
                <a:cs typeface="Poppins" pitchFamily="34" charset="-120"/>
              </a:rPr>
              <a:t>MOTIONS</a:t>
            </a:r>
            <a:endParaRPr lang="en-US" sz="800" dirty="0"/>
          </a:p>
        </p:txBody>
      </p:sp>
      <p:sp>
        <p:nvSpPr>
          <p:cNvPr id="49" name="Text 47"/>
          <p:cNvSpPr/>
          <p:nvPr/>
        </p:nvSpPr>
        <p:spPr>
          <a:xfrm>
            <a:off x="7278624" y="2542032"/>
            <a:ext cx="1408176" cy="182880"/>
          </a:xfrm>
          <a:prstGeom prst="rect">
            <a:avLst/>
          </a:prstGeom>
          <a:noFill/>
          <a:ln/>
        </p:spPr>
        <p:txBody>
          <a:bodyPr wrap="square" lIns="0" tIns="0" rIns="0" bIns="0" rtlCol="0" anchor="ctr"/>
          <a:lstStyle/>
          <a:p>
            <a:pPr algn="ctr" indent="0" marL="0">
              <a:buNone/>
            </a:pPr>
            <a:r>
              <a:rPr lang="en-US" sz="750" b="1" dirty="0">
                <a:solidFill>
                  <a:srgbClr val="85D155"/>
                </a:solidFill>
                <a:latin typeface="Poppins" pitchFamily="34" charset="0"/>
                <a:ea typeface="Poppins" pitchFamily="34" charset="-122"/>
                <a:cs typeface="Poppins" pitchFamily="34" charset="-120"/>
              </a:rPr>
              <a:t>Capability</a:t>
            </a:r>
            <a:endParaRPr lang="en-US" sz="750" dirty="0"/>
          </a:p>
        </p:txBody>
      </p:sp>
      <p:sp>
        <p:nvSpPr>
          <p:cNvPr id="50" name="Text 48"/>
          <p:cNvSpPr/>
          <p:nvPr/>
        </p:nvSpPr>
        <p:spPr>
          <a:xfrm>
            <a:off x="7278624" y="2724912"/>
            <a:ext cx="1408176" cy="274320"/>
          </a:xfrm>
          <a:prstGeom prst="rect">
            <a:avLst/>
          </a:prstGeom>
          <a:noFill/>
          <a:ln/>
        </p:spPr>
        <p:txBody>
          <a:bodyPr wrap="square" lIns="0" tIns="0" rIns="0" bIns="0" rtlCol="0" anchor="t"/>
          <a:lstStyle/>
          <a:p>
            <a:pPr algn="ctr" indent="0" marL="0">
              <a:buNone/>
            </a:pPr>
            <a:r>
              <a:rPr lang="en-US" sz="700" dirty="0">
                <a:solidFill>
                  <a:srgbClr val="AAAAAA"/>
                </a:solidFill>
                <a:latin typeface="Poppins" pitchFamily="34" charset="0"/>
                <a:ea typeface="Poppins" pitchFamily="34" charset="-122"/>
                <a:cs typeface="Poppins" pitchFamily="34" charset="-120"/>
              </a:rPr>
              <a:t>No PORT. Terminal only. 56% of Terminal cost.</a:t>
            </a:r>
            <a:endParaRPr lang="en-US" sz="700" dirty="0"/>
          </a:p>
        </p:txBody>
      </p:sp>
      <p:sp>
        <p:nvSpPr>
          <p:cNvPr id="51" name="Text 49"/>
          <p:cNvSpPr/>
          <p:nvPr/>
        </p:nvSpPr>
        <p:spPr>
          <a:xfrm>
            <a:off x="7278624" y="3108960"/>
            <a:ext cx="1408176" cy="182880"/>
          </a:xfrm>
          <a:prstGeom prst="rect">
            <a:avLst/>
          </a:prstGeom>
          <a:noFill/>
          <a:ln/>
        </p:spPr>
        <p:txBody>
          <a:bodyPr wrap="square" lIns="0" tIns="0" rIns="0" bIns="0" rtlCol="0" anchor="ctr"/>
          <a:lstStyle/>
          <a:p>
            <a:pPr algn="ctr" indent="0" marL="0">
              <a:buNone/>
            </a:pPr>
            <a:r>
              <a:rPr lang="en-US" sz="750" b="1" dirty="0">
                <a:solidFill>
                  <a:srgbClr val="85D155"/>
                </a:solidFill>
                <a:latin typeface="Poppins" pitchFamily="34" charset="0"/>
                <a:ea typeface="Poppins" pitchFamily="34" charset="-122"/>
                <a:cs typeface="Poppins" pitchFamily="34" charset="-120"/>
              </a:rPr>
              <a:t>Replacement</a:t>
            </a:r>
            <a:endParaRPr lang="en-US" sz="750" dirty="0"/>
          </a:p>
        </p:txBody>
      </p:sp>
      <p:sp>
        <p:nvSpPr>
          <p:cNvPr id="52" name="Text 50"/>
          <p:cNvSpPr/>
          <p:nvPr/>
        </p:nvSpPr>
        <p:spPr>
          <a:xfrm>
            <a:off x="7278624" y="3291840"/>
            <a:ext cx="1408176" cy="274320"/>
          </a:xfrm>
          <a:prstGeom prst="rect">
            <a:avLst/>
          </a:prstGeom>
          <a:noFill/>
          <a:ln/>
        </p:spPr>
        <p:txBody>
          <a:bodyPr wrap="square" lIns="0" tIns="0" rIns="0" bIns="0" rtlCol="0" anchor="t"/>
          <a:lstStyle/>
          <a:p>
            <a:pPr algn="ctr" indent="0" marL="0">
              <a:buNone/>
            </a:pPr>
            <a:r>
              <a:rPr lang="en-US" sz="700" dirty="0">
                <a:solidFill>
                  <a:srgbClr val="AAAAAA"/>
                </a:solidFill>
                <a:latin typeface="Poppins" pitchFamily="34" charset="0"/>
                <a:ea typeface="Poppins" pitchFamily="34" charset="-122"/>
                <a:cs typeface="Poppins" pitchFamily="34" charset="-120"/>
              </a:rPr>
              <a:t>PORT users. Construction replaced. Risk stays.</a:t>
            </a:r>
            <a:endParaRPr lang="en-US" sz="700" dirty="0"/>
          </a:p>
        </p:txBody>
      </p:sp>
      <p:sp>
        <p:nvSpPr>
          <p:cNvPr id="53" name="Text 51"/>
          <p:cNvSpPr/>
          <p:nvPr/>
        </p:nvSpPr>
        <p:spPr>
          <a:xfrm>
            <a:off x="7278624" y="3675888"/>
            <a:ext cx="1408176" cy="182880"/>
          </a:xfrm>
          <a:prstGeom prst="rect">
            <a:avLst/>
          </a:prstGeom>
          <a:noFill/>
          <a:ln/>
        </p:spPr>
        <p:txBody>
          <a:bodyPr wrap="square" lIns="0" tIns="0" rIns="0" bIns="0" rtlCol="0" anchor="ctr"/>
          <a:lstStyle/>
          <a:p>
            <a:pPr algn="ctr" indent="0" marL="0">
              <a:buNone/>
            </a:pPr>
            <a:r>
              <a:rPr lang="en-US" sz="750" b="1" dirty="0">
                <a:solidFill>
                  <a:srgbClr val="85D155"/>
                </a:solidFill>
                <a:latin typeface="Poppins" pitchFamily="34" charset="0"/>
                <a:ea typeface="Poppins" pitchFamily="34" charset="-122"/>
                <a:cs typeface="Poppins" pitchFamily="34" charset="-120"/>
              </a:rPr>
              <a:t>Termination</a:t>
            </a:r>
            <a:endParaRPr lang="en-US" sz="750" dirty="0"/>
          </a:p>
        </p:txBody>
      </p:sp>
      <p:sp>
        <p:nvSpPr>
          <p:cNvPr id="54" name="Text 52"/>
          <p:cNvSpPr/>
          <p:nvPr/>
        </p:nvSpPr>
        <p:spPr>
          <a:xfrm>
            <a:off x="7278624" y="3858768"/>
            <a:ext cx="1408176" cy="274320"/>
          </a:xfrm>
          <a:prstGeom prst="rect">
            <a:avLst/>
          </a:prstGeom>
          <a:noFill/>
          <a:ln/>
        </p:spPr>
        <p:txBody>
          <a:bodyPr wrap="square" lIns="0" tIns="0" rIns="0" bIns="0" rtlCol="0" anchor="t"/>
          <a:lstStyle/>
          <a:p>
            <a:pPr algn="ctr" indent="0" marL="0">
              <a:buNone/>
            </a:pPr>
            <a:r>
              <a:rPr lang="en-US" sz="700" dirty="0">
                <a:solidFill>
                  <a:srgbClr val="AAAAAA"/>
                </a:solidFill>
                <a:latin typeface="Poppins" pitchFamily="34" charset="0"/>
                <a:ea typeface="Poppins" pitchFamily="34" charset="-122"/>
                <a:cs typeface="Poppins" pitchFamily="34" charset="-120"/>
              </a:rPr>
              <a:t>Data feed clients. Ends in-house build.</a:t>
            </a:r>
            <a:endParaRPr lang="en-US" sz="700" dirty="0"/>
          </a:p>
        </p:txBody>
      </p:sp>
      <p:sp>
        <p:nvSpPr>
          <p:cNvPr id="55" name="Text 53"/>
          <p:cNvSpPr/>
          <p:nvPr/>
        </p:nvSpPr>
        <p:spPr>
          <a:xfrm>
            <a:off x="365760" y="4974336"/>
            <a:ext cx="7589520" cy="146304"/>
          </a:xfrm>
          <a:prstGeom prst="rect">
            <a:avLst/>
          </a:prstGeom>
          <a:noFill/>
          <a:ln/>
        </p:spPr>
        <p:txBody>
          <a:bodyPr wrap="square" lIns="0" tIns="0" rIns="0" bIns="0" rtlCol="0" anchor="ctr"/>
          <a:lstStyle/>
          <a:p>
            <a:pPr indent="0" marL="0">
              <a:buNone/>
            </a:pPr>
            <a:r>
              <a:rPr lang="en-US" sz="650" dirty="0">
                <a:solidFill>
                  <a:srgbClr val="CCCCCC"/>
                </a:solidFill>
                <a:latin typeface="Poppins" pitchFamily="34" charset="0"/>
                <a:ea typeface="Poppins" pitchFamily="34" charset="-122"/>
                <a:cs typeface="Poppins" pitchFamily="34" charset="-120"/>
              </a:rPr>
              <a:t>InvestPuppy · investpuppy.com · contact@investpuppy.com · CONFIDENTIAL</a:t>
            </a:r>
            <a:endParaRPr lang="en-US" sz="650" dirty="0"/>
          </a:p>
        </p:txBody>
      </p:sp>
      <p:pic>
        <p:nvPicPr>
          <p:cNvPr id="56" name="Image 0" descr="/home/claude/investpuppy/_shared/logos/ip_logo_light_bg.png">    </p:cNvPr>
          <p:cNvPicPr>
            <a:picLocks noChangeAspect="1"/>
          </p:cNvPicPr>
          <p:nvPr/>
        </p:nvPicPr>
        <p:blipFill>
          <a:blip r:embed="rId1"/>
          <a:stretch>
            <a:fillRect/>
          </a:stretch>
        </p:blipFill>
        <p:spPr>
          <a:xfrm>
            <a:off x="8463686" y="4919472"/>
            <a:ext cx="223114" cy="1828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
            <a:ext cx="5486400" cy="201168"/>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TRACTION</a:t>
            </a:r>
            <a:endParaRPr lang="en-US" sz="700" dirty="0"/>
          </a:p>
        </p:txBody>
      </p:sp>
      <p:sp>
        <p:nvSpPr>
          <p:cNvPr id="3" name="Text 1"/>
          <p:cNvSpPr/>
          <p:nvPr/>
        </p:nvSpPr>
        <p:spPr>
          <a:xfrm>
            <a:off x="457200" y="50292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Poppins" pitchFamily="34" charset="0"/>
                <a:ea typeface="Poppins" pitchFamily="34" charset="-122"/>
                <a:cs typeface="Poppins" pitchFamily="34" charset="-120"/>
              </a:rPr>
              <a:t>Where we are. Honestly.</a:t>
            </a:r>
            <a:endParaRPr lang="en-US" sz="2600" dirty="0"/>
          </a:p>
        </p:txBody>
      </p:sp>
      <p:sp>
        <p:nvSpPr>
          <p:cNvPr id="4" name="Shape 2"/>
          <p:cNvSpPr/>
          <p:nvPr/>
        </p:nvSpPr>
        <p:spPr>
          <a:xfrm>
            <a:off x="457200" y="1234440"/>
            <a:ext cx="4023360" cy="1572768"/>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5" name="Shape 3"/>
          <p:cNvSpPr/>
          <p:nvPr/>
        </p:nvSpPr>
        <p:spPr>
          <a:xfrm>
            <a:off x="457200" y="1234440"/>
            <a:ext cx="41148" cy="1572768"/>
          </a:xfrm>
          <a:prstGeom prst="rect">
            <a:avLst/>
          </a:prstGeom>
          <a:solidFill>
            <a:srgbClr val="85D155"/>
          </a:solidFill>
          <a:ln w="12700">
            <a:solidFill>
              <a:srgbClr val="85D155"/>
            </a:solidFill>
            <a:prstDash val="solid"/>
          </a:ln>
        </p:spPr>
      </p:sp>
      <p:sp>
        <p:nvSpPr>
          <p:cNvPr id="6" name="Text 4"/>
          <p:cNvSpPr/>
          <p:nvPr/>
        </p:nvSpPr>
        <p:spPr>
          <a:xfrm>
            <a:off x="640080" y="1344168"/>
            <a:ext cx="3703320" cy="274320"/>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The platform is built</a:t>
            </a:r>
            <a:endParaRPr lang="en-US" sz="1050" dirty="0"/>
          </a:p>
        </p:txBody>
      </p:sp>
      <p:sp>
        <p:nvSpPr>
          <p:cNvPr id="7" name="Text 5"/>
          <p:cNvSpPr/>
          <p:nvPr/>
        </p:nvSpPr>
        <p:spPr>
          <a:xfrm>
            <a:off x="640080" y="1664208"/>
            <a:ext cx="3703320" cy="1060704"/>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Vektor runs in IBKR simulation mode. Full portfolio construction capability is live. It has not yet executed in a live account. That is what the seed round is for. The engineering gap is defined and costed.</a:t>
            </a:r>
            <a:endParaRPr lang="en-US" sz="880" dirty="0"/>
          </a:p>
        </p:txBody>
      </p:sp>
      <p:sp>
        <p:nvSpPr>
          <p:cNvPr id="8" name="Shape 6"/>
          <p:cNvSpPr/>
          <p:nvPr/>
        </p:nvSpPr>
        <p:spPr>
          <a:xfrm>
            <a:off x="4663440" y="1234440"/>
            <a:ext cx="4023360" cy="1572768"/>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9" name="Shape 7"/>
          <p:cNvSpPr/>
          <p:nvPr/>
        </p:nvSpPr>
        <p:spPr>
          <a:xfrm>
            <a:off x="4663440" y="1234440"/>
            <a:ext cx="41148" cy="1572768"/>
          </a:xfrm>
          <a:prstGeom prst="rect">
            <a:avLst/>
          </a:prstGeom>
          <a:solidFill>
            <a:srgbClr val="85D155"/>
          </a:solidFill>
          <a:ln w="12700">
            <a:solidFill>
              <a:srgbClr val="85D155"/>
            </a:solidFill>
            <a:prstDash val="solid"/>
          </a:ln>
        </p:spPr>
      </p:sp>
      <p:sp>
        <p:nvSpPr>
          <p:cNvPr id="10" name="Text 8"/>
          <p:cNvSpPr/>
          <p:nvPr/>
        </p:nvSpPr>
        <p:spPr>
          <a:xfrm>
            <a:off x="4846320" y="1344168"/>
            <a:ext cx="3703320" cy="274320"/>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The commercial machine is ready</a:t>
            </a:r>
            <a:endParaRPr lang="en-US" sz="1050" dirty="0"/>
          </a:p>
        </p:txBody>
      </p:sp>
      <p:sp>
        <p:nvSpPr>
          <p:cNvPr id="11" name="Text 9"/>
          <p:cNvSpPr/>
          <p:nvPr/>
        </p:nvSpPr>
        <p:spPr>
          <a:xfrm>
            <a:off x="4846320" y="1664208"/>
            <a:ext cx="3703320" cy="1060704"/>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25 client-facing documents. 5 presentation decks. A fully specified Founding Mandate Programme. A DD Navigation Guide. An NDA. A First 90 Days onboarding plan. Ready to deploy. Waiting for the first conversation to become a signed mandate.</a:t>
            </a:r>
            <a:endParaRPr lang="en-US" sz="880" dirty="0"/>
          </a:p>
        </p:txBody>
      </p:sp>
      <p:sp>
        <p:nvSpPr>
          <p:cNvPr id="12" name="Shape 10"/>
          <p:cNvSpPr/>
          <p:nvPr/>
        </p:nvSpPr>
        <p:spPr>
          <a:xfrm>
            <a:off x="457200" y="2926080"/>
            <a:ext cx="4023360" cy="1572768"/>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13" name="Shape 11"/>
          <p:cNvSpPr/>
          <p:nvPr/>
        </p:nvSpPr>
        <p:spPr>
          <a:xfrm>
            <a:off x="457200" y="2926080"/>
            <a:ext cx="41148" cy="1572768"/>
          </a:xfrm>
          <a:prstGeom prst="rect">
            <a:avLst/>
          </a:prstGeom>
          <a:solidFill>
            <a:srgbClr val="85D155"/>
          </a:solidFill>
          <a:ln w="12700">
            <a:solidFill>
              <a:srgbClr val="85D155"/>
            </a:solidFill>
            <a:prstDash val="solid"/>
          </a:ln>
        </p:spPr>
      </p:sp>
      <p:sp>
        <p:nvSpPr>
          <p:cNvPr id="14" name="Text 12"/>
          <p:cNvSpPr/>
          <p:nvPr/>
        </p:nvSpPr>
        <p:spPr>
          <a:xfrm>
            <a:off x="640080" y="3035808"/>
            <a:ext cx="3703320" cy="274320"/>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The thought leadership is in circulation</a:t>
            </a:r>
            <a:endParaRPr lang="en-US" sz="1050" dirty="0"/>
          </a:p>
        </p:txBody>
      </p:sp>
      <p:sp>
        <p:nvSpPr>
          <p:cNvPr id="15" name="Text 13"/>
          <p:cNvSpPr/>
          <p:nvPr/>
        </p:nvSpPr>
        <p:spPr>
          <a:xfrm>
            <a:off x="640080" y="3355848"/>
            <a:ext cx="3703320" cy="1060704"/>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InvestPuppy: Unvarnished — 9 papers, 38 pages on financial software implementation failure. Panel-reviewed by 20 independent professionals. Already reaching the professionals who will buy Vektor.</a:t>
            </a:r>
            <a:endParaRPr lang="en-US" sz="880" dirty="0"/>
          </a:p>
        </p:txBody>
      </p:sp>
      <p:sp>
        <p:nvSpPr>
          <p:cNvPr id="16" name="Shape 14"/>
          <p:cNvSpPr/>
          <p:nvPr/>
        </p:nvSpPr>
        <p:spPr>
          <a:xfrm>
            <a:off x="4663440" y="2926080"/>
            <a:ext cx="4023360" cy="1572768"/>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17" name="Shape 15"/>
          <p:cNvSpPr/>
          <p:nvPr/>
        </p:nvSpPr>
        <p:spPr>
          <a:xfrm>
            <a:off x="4663440" y="2926080"/>
            <a:ext cx="41148" cy="1572768"/>
          </a:xfrm>
          <a:prstGeom prst="rect">
            <a:avLst/>
          </a:prstGeom>
          <a:solidFill>
            <a:srgbClr val="85D155"/>
          </a:solidFill>
          <a:ln w="12700">
            <a:solidFill>
              <a:srgbClr val="85D155"/>
            </a:solidFill>
            <a:prstDash val="solid"/>
          </a:ln>
        </p:spPr>
      </p:sp>
      <p:sp>
        <p:nvSpPr>
          <p:cNvPr id="18" name="Text 16"/>
          <p:cNvSpPr/>
          <p:nvPr/>
        </p:nvSpPr>
        <p:spPr>
          <a:xfrm>
            <a:off x="4846320" y="3035808"/>
            <a:ext cx="3703320" cy="274320"/>
          </a:xfrm>
          <a:prstGeom prst="rect">
            <a:avLst/>
          </a:prstGeom>
          <a:noFill/>
          <a:ln/>
        </p:spPr>
        <p:txBody>
          <a:bodyPr wrap="square" lIns="0" tIns="0" rIns="0" bIns="0" rtlCol="0" anchor="ctr"/>
          <a:lstStyle/>
          <a:p>
            <a:pPr indent="0" marL="0">
              <a:buNone/>
            </a:pPr>
            <a:r>
              <a:rPr lang="en-US" sz="1050" b="1" dirty="0">
                <a:solidFill>
                  <a:srgbClr val="1A1A1A"/>
                </a:solidFill>
                <a:latin typeface="Poppins" pitchFamily="34" charset="0"/>
                <a:ea typeface="Poppins" pitchFamily="34" charset="-122"/>
                <a:cs typeface="Poppins" pitchFamily="34" charset="-120"/>
              </a:rPr>
              <a:t>The methodology is documented</a:t>
            </a:r>
            <a:endParaRPr lang="en-US" sz="1050" dirty="0"/>
          </a:p>
        </p:txBody>
      </p:sp>
      <p:sp>
        <p:nvSpPr>
          <p:cNvPr id="19" name="Text 17"/>
          <p:cNvSpPr/>
          <p:nvPr/>
        </p:nvSpPr>
        <p:spPr>
          <a:xfrm>
            <a:off x="4846320" y="3355848"/>
            <a:ext cx="3703320" cy="1060704"/>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11 research papers (WP-00 – WP-10) document the quantitative approach behind Vektor. Available on request. This is not a black box. We can show our working.</a:t>
            </a:r>
            <a:endParaRPr lang="en-US" sz="880" dirty="0"/>
          </a:p>
        </p:txBody>
      </p:sp>
      <p:sp>
        <p:nvSpPr>
          <p:cNvPr id="20" name="Text 18"/>
          <p:cNvSpPr/>
          <p:nvPr/>
        </p:nvSpPr>
        <p:spPr>
          <a:xfrm>
            <a:off x="365760" y="4974336"/>
            <a:ext cx="7589520" cy="146304"/>
          </a:xfrm>
          <a:prstGeom prst="rect">
            <a:avLst/>
          </a:prstGeom>
          <a:noFill/>
          <a:ln/>
        </p:spPr>
        <p:txBody>
          <a:bodyPr wrap="square" lIns="0" tIns="0" rIns="0" bIns="0" rtlCol="0" anchor="ctr"/>
          <a:lstStyle/>
          <a:p>
            <a:pPr indent="0" marL="0">
              <a:buNone/>
            </a:pPr>
            <a:r>
              <a:rPr lang="en-US" sz="650" dirty="0">
                <a:solidFill>
                  <a:srgbClr val="CCCCCC"/>
                </a:solidFill>
                <a:latin typeface="Poppins" pitchFamily="34" charset="0"/>
                <a:ea typeface="Poppins" pitchFamily="34" charset="-122"/>
                <a:cs typeface="Poppins" pitchFamily="34" charset="-120"/>
              </a:rPr>
              <a:t>InvestPuppy · investpuppy.com · contact@investpuppy.com · CONFIDENTIAL</a:t>
            </a:r>
            <a:endParaRPr lang="en-US" sz="650" dirty="0"/>
          </a:p>
        </p:txBody>
      </p:sp>
      <p:pic>
        <p:nvPicPr>
          <p:cNvPr id="21" name="Image 0" descr="/home/claude/investpuppy/_shared/logos/ip_logo_light_bg.png">    </p:cNvPr>
          <p:cNvPicPr>
            <a:picLocks noChangeAspect="1"/>
          </p:cNvPicPr>
          <p:nvPr/>
        </p:nvPicPr>
        <p:blipFill>
          <a:blip r:embed="rId1"/>
          <a:stretch>
            <a:fillRect/>
          </a:stretch>
        </p:blipFill>
        <p:spPr>
          <a:xfrm>
            <a:off x="8463686" y="4919472"/>
            <a:ext cx="223114" cy="182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
            <a:ext cx="5486400" cy="201168"/>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THE TEAM</a:t>
            </a:r>
            <a:endParaRPr lang="en-US" sz="700" dirty="0"/>
          </a:p>
        </p:txBody>
      </p:sp>
      <p:sp>
        <p:nvSpPr>
          <p:cNvPr id="3" name="Text 1"/>
          <p:cNvSpPr/>
          <p:nvPr/>
        </p:nvSpPr>
        <p:spPr>
          <a:xfrm>
            <a:off x="457200" y="50292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Poppins" pitchFamily="34" charset="0"/>
                <a:ea typeface="Poppins" pitchFamily="34" charset="-122"/>
                <a:cs typeface="Poppins" pitchFamily="34" charset="-120"/>
              </a:rPr>
              <a:t>Two founders. One focus.</a:t>
            </a:r>
            <a:endParaRPr lang="en-US" sz="2600" dirty="0"/>
          </a:p>
        </p:txBody>
      </p:sp>
      <p:sp>
        <p:nvSpPr>
          <p:cNvPr id="4" name="Text 2"/>
          <p:cNvSpPr/>
          <p:nvPr/>
        </p:nvSpPr>
        <p:spPr>
          <a:xfrm>
            <a:off x="457200" y="1207008"/>
            <a:ext cx="8229600" cy="256032"/>
          </a:xfrm>
          <a:prstGeom prst="rect">
            <a:avLst/>
          </a:prstGeom>
          <a:noFill/>
          <a:ln/>
        </p:spPr>
        <p:txBody>
          <a:bodyPr wrap="square" lIns="0" tIns="0" rIns="0" bIns="0" rtlCol="0" anchor="ctr"/>
          <a:lstStyle/>
          <a:p>
            <a:pPr indent="0" marL="0">
              <a:buNone/>
            </a:pPr>
            <a:r>
              <a:rPr lang="en-US" sz="1050" dirty="0">
                <a:solidFill>
                  <a:srgbClr val="5A5A5A"/>
                </a:solidFill>
                <a:latin typeface="Poppins" pitchFamily="34" charset="0"/>
                <a:ea typeface="Poppins" pitchFamily="34" charset="-122"/>
                <a:cs typeface="Poppins" pitchFamily="34" charset="-120"/>
              </a:rPr>
              <a:t>Senior leadership in fintech and financial software. Direct experience in this market. The problem Vektor solves is one we have encountered firsthand.</a:t>
            </a:r>
            <a:endParaRPr lang="en-US" sz="1050" dirty="0"/>
          </a:p>
        </p:txBody>
      </p:sp>
      <p:sp>
        <p:nvSpPr>
          <p:cNvPr id="5" name="Shape 3"/>
          <p:cNvSpPr/>
          <p:nvPr/>
        </p:nvSpPr>
        <p:spPr>
          <a:xfrm>
            <a:off x="457200" y="1572768"/>
            <a:ext cx="4023360" cy="3063240"/>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6" name="Shape 4"/>
          <p:cNvSpPr/>
          <p:nvPr/>
        </p:nvSpPr>
        <p:spPr>
          <a:xfrm>
            <a:off x="658368" y="1737360"/>
            <a:ext cx="640080" cy="256032"/>
          </a:xfrm>
          <a:prstGeom prst="rect">
            <a:avLst/>
          </a:prstGeom>
          <a:solidFill>
            <a:srgbClr val="85D155"/>
          </a:solidFill>
          <a:ln w="12700">
            <a:solidFill>
              <a:srgbClr val="85D155"/>
            </a:solidFill>
            <a:prstDash val="solid"/>
          </a:ln>
        </p:spPr>
      </p:sp>
      <p:sp>
        <p:nvSpPr>
          <p:cNvPr id="7" name="Text 5"/>
          <p:cNvSpPr/>
          <p:nvPr/>
        </p:nvSpPr>
        <p:spPr>
          <a:xfrm>
            <a:off x="658368" y="1737360"/>
            <a:ext cx="640080" cy="256032"/>
          </a:xfrm>
          <a:prstGeom prst="rect">
            <a:avLst/>
          </a:prstGeom>
          <a:noFill/>
          <a:ln/>
        </p:spPr>
        <p:txBody>
          <a:bodyPr wrap="square" lIns="0" tIns="0" rIns="0" bIns="0" rtlCol="0" anchor="ctr"/>
          <a:lstStyle/>
          <a:p>
            <a:pPr algn="ctr" indent="0" marL="0">
              <a:buNone/>
            </a:pPr>
            <a:r>
              <a:rPr lang="en-US" sz="900" b="1" dirty="0">
                <a:solidFill>
                  <a:srgbClr val="0A0A0A"/>
                </a:solidFill>
                <a:latin typeface="Poppins" pitchFamily="34" charset="0"/>
                <a:ea typeface="Poppins" pitchFamily="34" charset="-122"/>
                <a:cs typeface="Poppins" pitchFamily="34" charset="-120"/>
              </a:rPr>
              <a:t>CEO</a:t>
            </a:r>
            <a:endParaRPr lang="en-US" sz="900" dirty="0"/>
          </a:p>
        </p:txBody>
      </p:sp>
      <p:sp>
        <p:nvSpPr>
          <p:cNvPr id="8" name="Text 6"/>
          <p:cNvSpPr/>
          <p:nvPr/>
        </p:nvSpPr>
        <p:spPr>
          <a:xfrm>
            <a:off x="1417320" y="1728216"/>
            <a:ext cx="2852928" cy="274320"/>
          </a:xfrm>
          <a:prstGeom prst="rect">
            <a:avLst/>
          </a:prstGeom>
          <a:noFill/>
          <a:ln/>
        </p:spPr>
        <p:txBody>
          <a:bodyPr wrap="square" lIns="0" tIns="0" rIns="0" bIns="0" rtlCol="0" anchor="ctr"/>
          <a:lstStyle/>
          <a:p>
            <a:pPr indent="0" marL="0">
              <a:buNone/>
            </a:pPr>
            <a:r>
              <a:rPr lang="en-US" sz="1100" b="1" dirty="0">
                <a:solidFill>
                  <a:srgbClr val="1A1A1A"/>
                </a:solidFill>
                <a:latin typeface="Poppins" pitchFamily="34" charset="0"/>
                <a:ea typeface="Poppins" pitchFamily="34" charset="-122"/>
                <a:cs typeface="Poppins" pitchFamily="34" charset="-120"/>
              </a:rPr>
              <a:t>[FOUNDER A — NAME]</a:t>
            </a:r>
            <a:endParaRPr lang="en-US" sz="1100" dirty="0"/>
          </a:p>
        </p:txBody>
      </p:sp>
      <p:sp>
        <p:nvSpPr>
          <p:cNvPr id="9" name="Text 7"/>
          <p:cNvSpPr/>
          <p:nvPr/>
        </p:nvSpPr>
        <p:spPr>
          <a:xfrm>
            <a:off x="658368" y="2121408"/>
            <a:ext cx="3621024" cy="1234440"/>
          </a:xfrm>
          <a:prstGeom prst="rect">
            <a:avLst/>
          </a:prstGeom>
          <a:noFill/>
          <a:ln/>
        </p:spPr>
        <p:txBody>
          <a:bodyPr wrap="square" lIns="0" tIns="0" rIns="0" bIns="0" rtlCol="0" anchor="t"/>
          <a:lstStyle/>
          <a:p>
            <a:pPr indent="0" marL="0">
              <a:buNone/>
            </a:pPr>
            <a:r>
              <a:rPr lang="en-US" sz="950" i="1" dirty="0">
                <a:solidFill>
                  <a:srgbClr val="5A5A5A"/>
                </a:solidFill>
                <a:latin typeface="Poppins" pitchFamily="34" charset="0"/>
                <a:ea typeface="Poppins" pitchFamily="34" charset="-122"/>
                <a:cs typeface="Poppins" pitchFamily="34" charset="-120"/>
              </a:rPr>
              <a:t>Senior leadership background in fintech and financial software. Extensive B2B sales experience selling into wealth managers, independent RIAs, and institutional clients. Deep familiarity with the operational context Vektor is built for.</a:t>
            </a:r>
            <a:endParaRPr lang="en-US" sz="950" dirty="0"/>
          </a:p>
        </p:txBody>
      </p:sp>
      <p:sp>
        <p:nvSpPr>
          <p:cNvPr id="10" name="Shape 8"/>
          <p:cNvSpPr/>
          <p:nvPr/>
        </p:nvSpPr>
        <p:spPr>
          <a:xfrm>
            <a:off x="694944" y="3483864"/>
            <a:ext cx="91440" cy="91440"/>
          </a:xfrm>
          <a:prstGeom prst="ellipse">
            <a:avLst/>
          </a:prstGeom>
          <a:solidFill>
            <a:srgbClr val="85D155"/>
          </a:solidFill>
          <a:ln w="12700">
            <a:solidFill>
              <a:srgbClr val="85D155"/>
            </a:solidFill>
            <a:prstDash val="solid"/>
          </a:ln>
        </p:spPr>
      </p:sp>
      <p:sp>
        <p:nvSpPr>
          <p:cNvPr id="11" name="Text 9"/>
          <p:cNvSpPr/>
          <p:nvPr/>
        </p:nvSpPr>
        <p:spPr>
          <a:xfrm>
            <a:off x="877824" y="3438144"/>
            <a:ext cx="3419856" cy="201168"/>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Commercial leadership</a:t>
            </a:r>
            <a:endParaRPr lang="en-US" sz="850" dirty="0"/>
          </a:p>
        </p:txBody>
      </p:sp>
      <p:sp>
        <p:nvSpPr>
          <p:cNvPr id="12" name="Shape 10"/>
          <p:cNvSpPr/>
          <p:nvPr/>
        </p:nvSpPr>
        <p:spPr>
          <a:xfrm>
            <a:off x="694944" y="3721608"/>
            <a:ext cx="91440" cy="91440"/>
          </a:xfrm>
          <a:prstGeom prst="ellipse">
            <a:avLst/>
          </a:prstGeom>
          <a:solidFill>
            <a:srgbClr val="85D155"/>
          </a:solidFill>
          <a:ln w="12700">
            <a:solidFill>
              <a:srgbClr val="85D155"/>
            </a:solidFill>
            <a:prstDash val="solid"/>
          </a:ln>
        </p:spPr>
      </p:sp>
      <p:sp>
        <p:nvSpPr>
          <p:cNvPr id="13" name="Text 11"/>
          <p:cNvSpPr/>
          <p:nvPr/>
        </p:nvSpPr>
        <p:spPr>
          <a:xfrm>
            <a:off x="877824" y="3675888"/>
            <a:ext cx="3419856" cy="201168"/>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Client relationships</a:t>
            </a:r>
            <a:endParaRPr lang="en-US" sz="850" dirty="0"/>
          </a:p>
        </p:txBody>
      </p:sp>
      <p:sp>
        <p:nvSpPr>
          <p:cNvPr id="14" name="Shape 12"/>
          <p:cNvSpPr/>
          <p:nvPr/>
        </p:nvSpPr>
        <p:spPr>
          <a:xfrm>
            <a:off x="694944" y="3959352"/>
            <a:ext cx="91440" cy="91440"/>
          </a:xfrm>
          <a:prstGeom prst="ellipse">
            <a:avLst/>
          </a:prstGeom>
          <a:solidFill>
            <a:srgbClr val="85D155"/>
          </a:solidFill>
          <a:ln w="12700">
            <a:solidFill>
              <a:srgbClr val="85D155"/>
            </a:solidFill>
            <a:prstDash val="solid"/>
          </a:ln>
        </p:spPr>
      </p:sp>
      <p:sp>
        <p:nvSpPr>
          <p:cNvPr id="15" name="Text 13"/>
          <p:cNvSpPr/>
          <p:nvPr/>
        </p:nvSpPr>
        <p:spPr>
          <a:xfrm>
            <a:off x="877824" y="3913632"/>
            <a:ext cx="3419856" cy="201168"/>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Market strategy</a:t>
            </a:r>
            <a:endParaRPr lang="en-US" sz="850" dirty="0"/>
          </a:p>
        </p:txBody>
      </p:sp>
      <p:sp>
        <p:nvSpPr>
          <p:cNvPr id="16" name="Shape 14"/>
          <p:cNvSpPr/>
          <p:nvPr/>
        </p:nvSpPr>
        <p:spPr>
          <a:xfrm>
            <a:off x="4663440" y="1572768"/>
            <a:ext cx="4023360" cy="3063240"/>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17" name="Shape 15"/>
          <p:cNvSpPr/>
          <p:nvPr/>
        </p:nvSpPr>
        <p:spPr>
          <a:xfrm>
            <a:off x="4864608" y="1737360"/>
            <a:ext cx="640080" cy="256032"/>
          </a:xfrm>
          <a:prstGeom prst="rect">
            <a:avLst/>
          </a:prstGeom>
          <a:solidFill>
            <a:srgbClr val="85D155"/>
          </a:solidFill>
          <a:ln w="12700">
            <a:solidFill>
              <a:srgbClr val="85D155"/>
            </a:solidFill>
            <a:prstDash val="solid"/>
          </a:ln>
        </p:spPr>
      </p:sp>
      <p:sp>
        <p:nvSpPr>
          <p:cNvPr id="18" name="Text 16"/>
          <p:cNvSpPr/>
          <p:nvPr/>
        </p:nvSpPr>
        <p:spPr>
          <a:xfrm>
            <a:off x="4864608" y="1737360"/>
            <a:ext cx="640080" cy="256032"/>
          </a:xfrm>
          <a:prstGeom prst="rect">
            <a:avLst/>
          </a:prstGeom>
          <a:noFill/>
          <a:ln/>
        </p:spPr>
        <p:txBody>
          <a:bodyPr wrap="square" lIns="0" tIns="0" rIns="0" bIns="0" rtlCol="0" anchor="ctr"/>
          <a:lstStyle/>
          <a:p>
            <a:pPr algn="ctr" indent="0" marL="0">
              <a:buNone/>
            </a:pPr>
            <a:r>
              <a:rPr lang="en-US" sz="900" b="1" dirty="0">
                <a:solidFill>
                  <a:srgbClr val="0A0A0A"/>
                </a:solidFill>
                <a:latin typeface="Poppins" pitchFamily="34" charset="0"/>
                <a:ea typeface="Poppins" pitchFamily="34" charset="-122"/>
                <a:cs typeface="Poppins" pitchFamily="34" charset="-120"/>
              </a:rPr>
              <a:t>CTO</a:t>
            </a:r>
            <a:endParaRPr lang="en-US" sz="900" dirty="0"/>
          </a:p>
        </p:txBody>
      </p:sp>
      <p:sp>
        <p:nvSpPr>
          <p:cNvPr id="19" name="Text 17"/>
          <p:cNvSpPr/>
          <p:nvPr/>
        </p:nvSpPr>
        <p:spPr>
          <a:xfrm>
            <a:off x="5623560" y="1728216"/>
            <a:ext cx="2852928" cy="274320"/>
          </a:xfrm>
          <a:prstGeom prst="rect">
            <a:avLst/>
          </a:prstGeom>
          <a:noFill/>
          <a:ln/>
        </p:spPr>
        <p:txBody>
          <a:bodyPr wrap="square" lIns="0" tIns="0" rIns="0" bIns="0" rtlCol="0" anchor="ctr"/>
          <a:lstStyle/>
          <a:p>
            <a:pPr indent="0" marL="0">
              <a:buNone/>
            </a:pPr>
            <a:r>
              <a:rPr lang="en-US" sz="1100" b="1" dirty="0">
                <a:solidFill>
                  <a:srgbClr val="1A1A1A"/>
                </a:solidFill>
                <a:latin typeface="Poppins" pitchFamily="34" charset="0"/>
                <a:ea typeface="Poppins" pitchFamily="34" charset="-122"/>
                <a:cs typeface="Poppins" pitchFamily="34" charset="-120"/>
              </a:rPr>
              <a:t>[FOUNDER B — NAME]</a:t>
            </a:r>
            <a:endParaRPr lang="en-US" sz="1100" dirty="0"/>
          </a:p>
        </p:txBody>
      </p:sp>
      <p:sp>
        <p:nvSpPr>
          <p:cNvPr id="20" name="Text 18"/>
          <p:cNvSpPr/>
          <p:nvPr/>
        </p:nvSpPr>
        <p:spPr>
          <a:xfrm>
            <a:off x="4864608" y="2121408"/>
            <a:ext cx="3621024" cy="1234440"/>
          </a:xfrm>
          <a:prstGeom prst="rect">
            <a:avLst/>
          </a:prstGeom>
          <a:noFill/>
          <a:ln/>
        </p:spPr>
        <p:txBody>
          <a:bodyPr wrap="square" lIns="0" tIns="0" rIns="0" bIns="0" rtlCol="0" anchor="t"/>
          <a:lstStyle/>
          <a:p>
            <a:pPr indent="0" marL="0">
              <a:buNone/>
            </a:pPr>
            <a:r>
              <a:rPr lang="en-US" sz="950" i="1" dirty="0">
                <a:solidFill>
                  <a:srgbClr val="5A5A5A"/>
                </a:solidFill>
                <a:latin typeface="Poppins" pitchFamily="34" charset="0"/>
                <a:ea typeface="Poppins" pitchFamily="34" charset="-122"/>
                <a:cs typeface="Poppins" pitchFamily="34" charset="-120"/>
              </a:rPr>
              <a:t>[Biography to be completed. Fintech / financial software background. Experience directly relevant to platform architecture and quantitative systems development underpinning Vektor.]</a:t>
            </a:r>
            <a:endParaRPr lang="en-US" sz="950" dirty="0"/>
          </a:p>
        </p:txBody>
      </p:sp>
      <p:sp>
        <p:nvSpPr>
          <p:cNvPr id="21" name="Shape 19"/>
          <p:cNvSpPr/>
          <p:nvPr/>
        </p:nvSpPr>
        <p:spPr>
          <a:xfrm>
            <a:off x="4901184" y="3483864"/>
            <a:ext cx="91440" cy="91440"/>
          </a:xfrm>
          <a:prstGeom prst="ellipse">
            <a:avLst/>
          </a:prstGeom>
          <a:solidFill>
            <a:srgbClr val="85D155"/>
          </a:solidFill>
          <a:ln w="12700">
            <a:solidFill>
              <a:srgbClr val="85D155"/>
            </a:solidFill>
            <a:prstDash val="solid"/>
          </a:ln>
        </p:spPr>
      </p:sp>
      <p:sp>
        <p:nvSpPr>
          <p:cNvPr id="22" name="Text 20"/>
          <p:cNvSpPr/>
          <p:nvPr/>
        </p:nvSpPr>
        <p:spPr>
          <a:xfrm>
            <a:off x="5084064" y="3438144"/>
            <a:ext cx="3419856" cy="201168"/>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Platform architecture</a:t>
            </a:r>
            <a:endParaRPr lang="en-US" sz="850" dirty="0"/>
          </a:p>
        </p:txBody>
      </p:sp>
      <p:sp>
        <p:nvSpPr>
          <p:cNvPr id="23" name="Shape 21"/>
          <p:cNvSpPr/>
          <p:nvPr/>
        </p:nvSpPr>
        <p:spPr>
          <a:xfrm>
            <a:off x="4901184" y="3721608"/>
            <a:ext cx="91440" cy="91440"/>
          </a:xfrm>
          <a:prstGeom prst="ellipse">
            <a:avLst/>
          </a:prstGeom>
          <a:solidFill>
            <a:srgbClr val="85D155"/>
          </a:solidFill>
          <a:ln w="12700">
            <a:solidFill>
              <a:srgbClr val="85D155"/>
            </a:solidFill>
            <a:prstDash val="solid"/>
          </a:ln>
        </p:spPr>
      </p:sp>
      <p:sp>
        <p:nvSpPr>
          <p:cNvPr id="24" name="Text 22"/>
          <p:cNvSpPr/>
          <p:nvPr/>
        </p:nvSpPr>
        <p:spPr>
          <a:xfrm>
            <a:off x="5084064" y="3675888"/>
            <a:ext cx="3419856" cy="201168"/>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Quantitative systems</a:t>
            </a:r>
            <a:endParaRPr lang="en-US" sz="850" dirty="0"/>
          </a:p>
        </p:txBody>
      </p:sp>
      <p:sp>
        <p:nvSpPr>
          <p:cNvPr id="25" name="Shape 23"/>
          <p:cNvSpPr/>
          <p:nvPr/>
        </p:nvSpPr>
        <p:spPr>
          <a:xfrm>
            <a:off x="4901184" y="3959352"/>
            <a:ext cx="91440" cy="91440"/>
          </a:xfrm>
          <a:prstGeom prst="ellipse">
            <a:avLst/>
          </a:prstGeom>
          <a:solidFill>
            <a:srgbClr val="85D155"/>
          </a:solidFill>
          <a:ln w="12700">
            <a:solidFill>
              <a:srgbClr val="85D155"/>
            </a:solidFill>
            <a:prstDash val="solid"/>
          </a:ln>
        </p:spPr>
      </p:sp>
      <p:sp>
        <p:nvSpPr>
          <p:cNvPr id="26" name="Text 24"/>
          <p:cNvSpPr/>
          <p:nvPr/>
        </p:nvSpPr>
        <p:spPr>
          <a:xfrm>
            <a:off x="5084064" y="3913632"/>
            <a:ext cx="3419856" cy="201168"/>
          </a:xfrm>
          <a:prstGeom prst="rect">
            <a:avLst/>
          </a:prstGeom>
          <a:noFill/>
          <a:ln/>
        </p:spPr>
        <p:txBody>
          <a:bodyPr wrap="square" lIns="0" tIns="0" rIns="0" bIns="0" rtlCol="0" anchor="ctr"/>
          <a:lstStyle/>
          <a:p>
            <a:pPr indent="0" marL="0">
              <a:buNone/>
            </a:pPr>
            <a:r>
              <a:rPr lang="en-US" sz="850" dirty="0">
                <a:solidFill>
                  <a:srgbClr val="1A1A1A"/>
                </a:solidFill>
                <a:latin typeface="Poppins" pitchFamily="34" charset="0"/>
                <a:ea typeface="Poppins" pitchFamily="34" charset="-122"/>
                <a:cs typeface="Poppins" pitchFamily="34" charset="-120"/>
              </a:rPr>
              <a:t>Engineering leadership</a:t>
            </a:r>
            <a:endParaRPr lang="en-US" sz="850" dirty="0"/>
          </a:p>
        </p:txBody>
      </p:sp>
      <p:sp>
        <p:nvSpPr>
          <p:cNvPr id="27" name="Text 25"/>
          <p:cNvSpPr/>
          <p:nvPr/>
        </p:nvSpPr>
        <p:spPr>
          <a:xfrm>
            <a:off x="365760" y="4974336"/>
            <a:ext cx="7589520" cy="146304"/>
          </a:xfrm>
          <a:prstGeom prst="rect">
            <a:avLst/>
          </a:prstGeom>
          <a:noFill/>
          <a:ln/>
        </p:spPr>
        <p:txBody>
          <a:bodyPr wrap="square" lIns="0" tIns="0" rIns="0" bIns="0" rtlCol="0" anchor="ctr"/>
          <a:lstStyle/>
          <a:p>
            <a:pPr indent="0" marL="0">
              <a:buNone/>
            </a:pPr>
            <a:r>
              <a:rPr lang="en-US" sz="650" dirty="0">
                <a:solidFill>
                  <a:srgbClr val="CCCCCC"/>
                </a:solidFill>
                <a:latin typeface="Poppins" pitchFamily="34" charset="0"/>
                <a:ea typeface="Poppins" pitchFamily="34" charset="-122"/>
                <a:cs typeface="Poppins" pitchFamily="34" charset="-120"/>
              </a:rPr>
              <a:t>InvestPuppy · investpuppy.com · contact@investpuppy.com · CONFIDENTIAL</a:t>
            </a:r>
            <a:endParaRPr lang="en-US" sz="650" dirty="0"/>
          </a:p>
        </p:txBody>
      </p:sp>
      <p:pic>
        <p:nvPicPr>
          <p:cNvPr id="28" name="Image 0" descr="/home/claude/investpuppy/_shared/logos/ip_logo_light_bg.png">    </p:cNvPr>
          <p:cNvPicPr>
            <a:picLocks noChangeAspect="1"/>
          </p:cNvPicPr>
          <p:nvPr/>
        </p:nvPicPr>
        <p:blipFill>
          <a:blip r:embed="rId1"/>
          <a:stretch>
            <a:fillRect/>
          </a:stretch>
        </p:blipFill>
        <p:spPr>
          <a:xfrm>
            <a:off x="8463686" y="4919472"/>
            <a:ext cx="223114" cy="1828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
            <a:ext cx="5486400" cy="201168"/>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USE OF FUNDS</a:t>
            </a:r>
            <a:endParaRPr lang="en-US" sz="700" dirty="0"/>
          </a:p>
        </p:txBody>
      </p:sp>
      <p:sp>
        <p:nvSpPr>
          <p:cNvPr id="3" name="Text 1"/>
          <p:cNvSpPr/>
          <p:nvPr/>
        </p:nvSpPr>
        <p:spPr>
          <a:xfrm>
            <a:off x="457200" y="50292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Poppins" pitchFamily="34" charset="0"/>
                <a:ea typeface="Poppins" pitchFamily="34" charset="-122"/>
                <a:cs typeface="Poppins" pitchFamily="34" charset="-120"/>
              </a:rPr>
              <a:t>S$1M–S$2M — where it goes and what it delivers.</a:t>
            </a:r>
            <a:endParaRPr lang="en-US" sz="2600" dirty="0"/>
          </a:p>
        </p:txBody>
      </p:sp>
      <p:sp>
        <p:nvSpPr>
          <p:cNvPr id="4" name="Shape 2"/>
          <p:cNvSpPr/>
          <p:nvPr/>
        </p:nvSpPr>
        <p:spPr>
          <a:xfrm>
            <a:off x="457200" y="1188720"/>
            <a:ext cx="2606040" cy="2148840"/>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5" name="Text 3"/>
          <p:cNvSpPr/>
          <p:nvPr/>
        </p:nvSpPr>
        <p:spPr>
          <a:xfrm>
            <a:off x="621792" y="1298448"/>
            <a:ext cx="2276856" cy="530352"/>
          </a:xfrm>
          <a:prstGeom prst="rect">
            <a:avLst/>
          </a:prstGeom>
          <a:noFill/>
          <a:ln/>
        </p:spPr>
        <p:txBody>
          <a:bodyPr wrap="square" lIns="0" tIns="0" rIns="0" bIns="0" rtlCol="0" anchor="ctr"/>
          <a:lstStyle/>
          <a:p>
            <a:pPr indent="0" marL="0">
              <a:buNone/>
            </a:pPr>
            <a:r>
              <a:rPr lang="en-US" sz="4000" b="1" dirty="0">
                <a:solidFill>
                  <a:srgbClr val="85D155"/>
                </a:solidFill>
                <a:latin typeface="Poppins" pitchFamily="34" charset="0"/>
                <a:ea typeface="Poppins" pitchFamily="34" charset="-122"/>
                <a:cs typeface="Poppins" pitchFamily="34" charset="-120"/>
              </a:rPr>
              <a:t>~45%</a:t>
            </a:r>
            <a:endParaRPr lang="en-US" sz="4000" dirty="0"/>
          </a:p>
        </p:txBody>
      </p:sp>
      <p:sp>
        <p:nvSpPr>
          <p:cNvPr id="6" name="Text 4"/>
          <p:cNvSpPr/>
          <p:nvPr/>
        </p:nvSpPr>
        <p:spPr>
          <a:xfrm>
            <a:off x="621792" y="1865376"/>
            <a:ext cx="2276856" cy="274320"/>
          </a:xfrm>
          <a:prstGeom prst="rect">
            <a:avLst/>
          </a:prstGeom>
          <a:noFill/>
          <a:ln/>
        </p:spPr>
        <p:txBody>
          <a:bodyPr wrap="square" lIns="0" tIns="0" rIns="0" bIns="0" rtlCol="0" anchor="ctr"/>
          <a:lstStyle/>
          <a:p>
            <a:pPr indent="0" marL="0">
              <a:buNone/>
            </a:pPr>
            <a:r>
              <a:rPr lang="en-US" sz="1000" b="1" dirty="0">
                <a:solidFill>
                  <a:srgbClr val="1A1A1A"/>
                </a:solidFill>
                <a:latin typeface="Poppins" pitchFamily="34" charset="0"/>
                <a:ea typeface="Poppins" pitchFamily="34" charset="-122"/>
                <a:cs typeface="Poppins" pitchFamily="34" charset="-120"/>
              </a:rPr>
              <a:t>Engineering &amp; product</a:t>
            </a:r>
            <a:endParaRPr lang="en-US" sz="1000" dirty="0"/>
          </a:p>
        </p:txBody>
      </p:sp>
      <p:sp>
        <p:nvSpPr>
          <p:cNvPr id="7" name="Text 5"/>
          <p:cNvSpPr/>
          <p:nvPr/>
        </p:nvSpPr>
        <p:spPr>
          <a:xfrm>
            <a:off x="621792" y="2176272"/>
            <a:ext cx="2276856" cy="1051560"/>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Live-account validation and deployment. Platform hardening, security, performance. Capability build-out for launch.</a:t>
            </a:r>
            <a:endParaRPr lang="en-US" sz="880" dirty="0"/>
          </a:p>
        </p:txBody>
      </p:sp>
      <p:sp>
        <p:nvSpPr>
          <p:cNvPr id="8" name="Shape 6"/>
          <p:cNvSpPr/>
          <p:nvPr/>
        </p:nvSpPr>
        <p:spPr>
          <a:xfrm>
            <a:off x="3246120" y="1188720"/>
            <a:ext cx="2606040" cy="2148840"/>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9" name="Text 7"/>
          <p:cNvSpPr/>
          <p:nvPr/>
        </p:nvSpPr>
        <p:spPr>
          <a:xfrm>
            <a:off x="3410712" y="1298448"/>
            <a:ext cx="2276856" cy="530352"/>
          </a:xfrm>
          <a:prstGeom prst="rect">
            <a:avLst/>
          </a:prstGeom>
          <a:noFill/>
          <a:ln/>
        </p:spPr>
        <p:txBody>
          <a:bodyPr wrap="square" lIns="0" tIns="0" rIns="0" bIns="0" rtlCol="0" anchor="ctr"/>
          <a:lstStyle/>
          <a:p>
            <a:pPr indent="0" marL="0">
              <a:buNone/>
            </a:pPr>
            <a:r>
              <a:rPr lang="en-US" sz="4000" b="1" dirty="0">
                <a:solidFill>
                  <a:srgbClr val="85D155"/>
                </a:solidFill>
                <a:latin typeface="Poppins" pitchFamily="34" charset="0"/>
                <a:ea typeface="Poppins" pitchFamily="34" charset="-122"/>
                <a:cs typeface="Poppins" pitchFamily="34" charset="-120"/>
              </a:rPr>
              <a:t>~30%</a:t>
            </a:r>
            <a:endParaRPr lang="en-US" sz="4000" dirty="0"/>
          </a:p>
        </p:txBody>
      </p:sp>
      <p:sp>
        <p:nvSpPr>
          <p:cNvPr id="10" name="Text 8"/>
          <p:cNvSpPr/>
          <p:nvPr/>
        </p:nvSpPr>
        <p:spPr>
          <a:xfrm>
            <a:off x="3410712" y="1865376"/>
            <a:ext cx="2276856" cy="274320"/>
          </a:xfrm>
          <a:prstGeom prst="rect">
            <a:avLst/>
          </a:prstGeom>
          <a:noFill/>
          <a:ln/>
        </p:spPr>
        <p:txBody>
          <a:bodyPr wrap="square" lIns="0" tIns="0" rIns="0" bIns="0" rtlCol="0" anchor="ctr"/>
          <a:lstStyle/>
          <a:p>
            <a:pPr indent="0" marL="0">
              <a:buNone/>
            </a:pPr>
            <a:r>
              <a:rPr lang="en-US" sz="1000" b="1" dirty="0">
                <a:solidFill>
                  <a:srgbClr val="1A1A1A"/>
                </a:solidFill>
                <a:latin typeface="Poppins" pitchFamily="34" charset="0"/>
                <a:ea typeface="Poppins" pitchFamily="34" charset="-122"/>
                <a:cs typeface="Poppins" pitchFamily="34" charset="-120"/>
              </a:rPr>
              <a:t>Sales &amp; BD headcount</a:t>
            </a:r>
            <a:endParaRPr lang="en-US" sz="1000" dirty="0"/>
          </a:p>
        </p:txBody>
      </p:sp>
      <p:sp>
        <p:nvSpPr>
          <p:cNvPr id="11" name="Text 9"/>
          <p:cNvSpPr/>
          <p:nvPr/>
        </p:nvSpPr>
        <p:spPr>
          <a:xfrm>
            <a:off x="3410712" y="2176272"/>
            <a:ext cx="2276856" cy="1051560"/>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First commercial hires to execute the Founding Mandate Programme and build the Singapore client base.</a:t>
            </a:r>
            <a:endParaRPr lang="en-US" sz="880" dirty="0"/>
          </a:p>
        </p:txBody>
      </p:sp>
      <p:sp>
        <p:nvSpPr>
          <p:cNvPr id="12" name="Shape 10"/>
          <p:cNvSpPr/>
          <p:nvPr/>
        </p:nvSpPr>
        <p:spPr>
          <a:xfrm>
            <a:off x="6035040" y="1188720"/>
            <a:ext cx="2606040" cy="2148840"/>
          </a:xfrm>
          <a:prstGeom prst="rect">
            <a:avLst/>
          </a:prstGeom>
          <a:solidFill>
            <a:srgbClr val="F3F4F3"/>
          </a:solidFill>
          <a:ln w="6350">
            <a:solidFill>
              <a:srgbClr val="E2E2E2"/>
            </a:solidFill>
            <a:prstDash val="solid"/>
          </a:ln>
          <a:effectLst>
            <a:outerShdw sx="100000" sy="100000" kx="0" ky="0" algn="bl" rotWithShape="0" blurRad="63500" dist="12700" dir="8100000">
              <a:srgbClr val="000000">
                <a:alpha val="7000"/>
              </a:srgbClr>
            </a:outerShdw>
          </a:effectLst>
        </p:spPr>
      </p:sp>
      <p:sp>
        <p:nvSpPr>
          <p:cNvPr id="13" name="Text 11"/>
          <p:cNvSpPr/>
          <p:nvPr/>
        </p:nvSpPr>
        <p:spPr>
          <a:xfrm>
            <a:off x="6199632" y="1298448"/>
            <a:ext cx="2276856" cy="530352"/>
          </a:xfrm>
          <a:prstGeom prst="rect">
            <a:avLst/>
          </a:prstGeom>
          <a:noFill/>
          <a:ln/>
        </p:spPr>
        <p:txBody>
          <a:bodyPr wrap="square" lIns="0" tIns="0" rIns="0" bIns="0" rtlCol="0" anchor="ctr"/>
          <a:lstStyle/>
          <a:p>
            <a:pPr indent="0" marL="0">
              <a:buNone/>
            </a:pPr>
            <a:r>
              <a:rPr lang="en-US" sz="4000" b="1" dirty="0">
                <a:solidFill>
                  <a:srgbClr val="85D155"/>
                </a:solidFill>
                <a:latin typeface="Poppins" pitchFamily="34" charset="0"/>
                <a:ea typeface="Poppins" pitchFamily="34" charset="-122"/>
                <a:cs typeface="Poppins" pitchFamily="34" charset="-120"/>
              </a:rPr>
              <a:t>~25%</a:t>
            </a:r>
            <a:endParaRPr lang="en-US" sz="4000" dirty="0"/>
          </a:p>
        </p:txBody>
      </p:sp>
      <p:sp>
        <p:nvSpPr>
          <p:cNvPr id="14" name="Text 12"/>
          <p:cNvSpPr/>
          <p:nvPr/>
        </p:nvSpPr>
        <p:spPr>
          <a:xfrm>
            <a:off x="6199632" y="1865376"/>
            <a:ext cx="2276856" cy="274320"/>
          </a:xfrm>
          <a:prstGeom prst="rect">
            <a:avLst/>
          </a:prstGeom>
          <a:noFill/>
          <a:ln/>
        </p:spPr>
        <p:txBody>
          <a:bodyPr wrap="square" lIns="0" tIns="0" rIns="0" bIns="0" rtlCol="0" anchor="ctr"/>
          <a:lstStyle/>
          <a:p>
            <a:pPr indent="0" marL="0">
              <a:buNone/>
            </a:pPr>
            <a:r>
              <a:rPr lang="en-US" sz="1000" b="1" dirty="0">
                <a:solidFill>
                  <a:srgbClr val="1A1A1A"/>
                </a:solidFill>
                <a:latin typeface="Poppins" pitchFamily="34" charset="0"/>
                <a:ea typeface="Poppins" pitchFamily="34" charset="-122"/>
                <a:cs typeface="Poppins" pitchFamily="34" charset="-120"/>
              </a:rPr>
              <a:t>Operational runway</a:t>
            </a:r>
            <a:endParaRPr lang="en-US" sz="1000" dirty="0"/>
          </a:p>
        </p:txBody>
      </p:sp>
      <p:sp>
        <p:nvSpPr>
          <p:cNvPr id="15" name="Text 13"/>
          <p:cNvSpPr/>
          <p:nvPr/>
        </p:nvSpPr>
        <p:spPr>
          <a:xfrm>
            <a:off x="6199632" y="2176272"/>
            <a:ext cx="2276856" cy="1051560"/>
          </a:xfrm>
          <a:prstGeom prst="rect">
            <a:avLst/>
          </a:prstGeom>
          <a:noFill/>
          <a:ln/>
        </p:spPr>
        <p:txBody>
          <a:bodyPr wrap="square" lIns="0" tIns="0" rIns="0" bIns="0" rtlCol="0" anchor="t"/>
          <a:lstStyle/>
          <a:p>
            <a:pPr indent="0" marL="0">
              <a:buNone/>
            </a:pPr>
            <a:r>
              <a:rPr lang="en-US" sz="880" dirty="0">
                <a:solidFill>
                  <a:srgbClr val="5A5A5A"/>
                </a:solidFill>
                <a:latin typeface="Poppins" pitchFamily="34" charset="0"/>
                <a:ea typeface="Poppins" pitchFamily="34" charset="-122"/>
                <a:cs typeface="Poppins" pitchFamily="34" charset="-120"/>
              </a:rPr>
              <a:t>18–24 months of operational coverage. MAS regulatory engagement. FCA content pipeline. Legal and compliance.</a:t>
            </a:r>
            <a:endParaRPr lang="en-US" sz="880" dirty="0"/>
          </a:p>
        </p:txBody>
      </p:sp>
      <p:sp>
        <p:nvSpPr>
          <p:cNvPr id="16" name="Text 14"/>
          <p:cNvSpPr/>
          <p:nvPr/>
        </p:nvSpPr>
        <p:spPr>
          <a:xfrm>
            <a:off x="457200" y="3456432"/>
            <a:ext cx="5486400" cy="182880"/>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MILESTONE TIMELINE — CLOSE TO FIRST REVENUE</a:t>
            </a:r>
            <a:endParaRPr lang="en-US" sz="700" dirty="0"/>
          </a:p>
        </p:txBody>
      </p:sp>
      <p:sp>
        <p:nvSpPr>
          <p:cNvPr id="17" name="Shape 15"/>
          <p:cNvSpPr/>
          <p:nvPr/>
        </p:nvSpPr>
        <p:spPr>
          <a:xfrm>
            <a:off x="457200" y="3703320"/>
            <a:ext cx="2011680" cy="1005840"/>
          </a:xfrm>
          <a:prstGeom prst="rect">
            <a:avLst/>
          </a:prstGeom>
          <a:solidFill>
            <a:srgbClr val="0F0F14"/>
          </a:solidFill>
          <a:ln w="12700">
            <a:solidFill>
              <a:srgbClr val="0F0F14"/>
            </a:solidFill>
            <a:prstDash val="solid"/>
          </a:ln>
        </p:spPr>
      </p:sp>
      <p:sp>
        <p:nvSpPr>
          <p:cNvPr id="18" name="Shape 16"/>
          <p:cNvSpPr/>
          <p:nvPr/>
        </p:nvSpPr>
        <p:spPr>
          <a:xfrm>
            <a:off x="457200" y="3703320"/>
            <a:ext cx="2011680" cy="36576"/>
          </a:xfrm>
          <a:prstGeom prst="rect">
            <a:avLst/>
          </a:prstGeom>
          <a:solidFill>
            <a:srgbClr val="85D155"/>
          </a:solidFill>
          <a:ln w="12700">
            <a:solidFill>
              <a:srgbClr val="85D155"/>
            </a:solidFill>
            <a:prstDash val="solid"/>
          </a:ln>
        </p:spPr>
      </p:sp>
      <p:sp>
        <p:nvSpPr>
          <p:cNvPr id="19" name="Text 17"/>
          <p:cNvSpPr/>
          <p:nvPr/>
        </p:nvSpPr>
        <p:spPr>
          <a:xfrm>
            <a:off x="548640" y="3749040"/>
            <a:ext cx="1828800" cy="201168"/>
          </a:xfrm>
          <a:prstGeom prst="rect">
            <a:avLst/>
          </a:prstGeom>
          <a:noFill/>
          <a:ln/>
        </p:spPr>
        <p:txBody>
          <a:bodyPr wrap="square" lIns="0" tIns="0" rIns="0" bIns="0" rtlCol="0" anchor="ctr"/>
          <a:lstStyle/>
          <a:p>
            <a:pPr indent="0" marL="0">
              <a:buNone/>
            </a:pPr>
            <a:r>
              <a:rPr lang="en-US" sz="850" b="1" dirty="0">
                <a:solidFill>
                  <a:srgbClr val="85D155"/>
                </a:solidFill>
                <a:latin typeface="Poppins" pitchFamily="34" charset="0"/>
                <a:ea typeface="Poppins" pitchFamily="34" charset="-122"/>
                <a:cs typeface="Poppins" pitchFamily="34" charset="-120"/>
              </a:rPr>
              <a:t>M1–3</a:t>
            </a:r>
            <a:endParaRPr lang="en-US" sz="850" dirty="0"/>
          </a:p>
        </p:txBody>
      </p:sp>
      <p:sp>
        <p:nvSpPr>
          <p:cNvPr id="20" name="Text 18"/>
          <p:cNvSpPr/>
          <p:nvPr/>
        </p:nvSpPr>
        <p:spPr>
          <a:xfrm>
            <a:off x="548640" y="3968496"/>
            <a:ext cx="1828800" cy="694944"/>
          </a:xfrm>
          <a:prstGeom prst="rect">
            <a:avLst/>
          </a:prstGeom>
          <a:noFill/>
          <a:ln/>
        </p:spPr>
        <p:txBody>
          <a:bodyPr wrap="square" lIns="0" tIns="0" rIns="0" bIns="0" rtlCol="0" anchor="t"/>
          <a:lstStyle/>
          <a:p>
            <a:pPr indent="0" marL="0">
              <a:buNone/>
            </a:pPr>
            <a:r>
              <a:rPr lang="en-US" sz="780" dirty="0">
                <a:solidFill>
                  <a:srgbClr val="AAAAAA"/>
                </a:solidFill>
                <a:latin typeface="Poppins" pitchFamily="34" charset="0"/>
                <a:ea typeface="Poppins" pitchFamily="34" charset="-122"/>
                <a:cs typeface="Poppins" pitchFamily="34" charset="-120"/>
              </a:rPr>
              <a:t>Commercial hire. Engineering sprint. Founding Mandate conversations open.</a:t>
            </a:r>
            <a:endParaRPr lang="en-US" sz="780" dirty="0"/>
          </a:p>
        </p:txBody>
      </p:sp>
      <p:sp>
        <p:nvSpPr>
          <p:cNvPr id="21" name="Shape 19"/>
          <p:cNvSpPr/>
          <p:nvPr/>
        </p:nvSpPr>
        <p:spPr>
          <a:xfrm>
            <a:off x="2651760" y="3703320"/>
            <a:ext cx="2011680" cy="1005840"/>
          </a:xfrm>
          <a:prstGeom prst="rect">
            <a:avLst/>
          </a:prstGeom>
          <a:solidFill>
            <a:srgbClr val="0F0F14"/>
          </a:solidFill>
          <a:ln w="12700">
            <a:solidFill>
              <a:srgbClr val="0F0F14"/>
            </a:solidFill>
            <a:prstDash val="solid"/>
          </a:ln>
        </p:spPr>
      </p:sp>
      <p:sp>
        <p:nvSpPr>
          <p:cNvPr id="22" name="Shape 20"/>
          <p:cNvSpPr/>
          <p:nvPr/>
        </p:nvSpPr>
        <p:spPr>
          <a:xfrm>
            <a:off x="2651760" y="3703320"/>
            <a:ext cx="2011680" cy="36576"/>
          </a:xfrm>
          <a:prstGeom prst="rect">
            <a:avLst/>
          </a:prstGeom>
          <a:solidFill>
            <a:srgbClr val="85D155"/>
          </a:solidFill>
          <a:ln w="12700">
            <a:solidFill>
              <a:srgbClr val="85D155"/>
            </a:solidFill>
            <a:prstDash val="solid"/>
          </a:ln>
        </p:spPr>
      </p:sp>
      <p:sp>
        <p:nvSpPr>
          <p:cNvPr id="23" name="Text 21"/>
          <p:cNvSpPr/>
          <p:nvPr/>
        </p:nvSpPr>
        <p:spPr>
          <a:xfrm>
            <a:off x="2743200" y="3749040"/>
            <a:ext cx="1828800" cy="201168"/>
          </a:xfrm>
          <a:prstGeom prst="rect">
            <a:avLst/>
          </a:prstGeom>
          <a:noFill/>
          <a:ln/>
        </p:spPr>
        <p:txBody>
          <a:bodyPr wrap="square" lIns="0" tIns="0" rIns="0" bIns="0" rtlCol="0" anchor="ctr"/>
          <a:lstStyle/>
          <a:p>
            <a:pPr indent="0" marL="0">
              <a:buNone/>
            </a:pPr>
            <a:r>
              <a:rPr lang="en-US" sz="850" b="1" dirty="0">
                <a:solidFill>
                  <a:srgbClr val="85D155"/>
                </a:solidFill>
                <a:latin typeface="Poppins" pitchFamily="34" charset="0"/>
                <a:ea typeface="Poppins" pitchFamily="34" charset="-122"/>
                <a:cs typeface="Poppins" pitchFamily="34" charset="-120"/>
              </a:rPr>
              <a:t>M4–6</a:t>
            </a:r>
            <a:endParaRPr lang="en-US" sz="850" dirty="0"/>
          </a:p>
        </p:txBody>
      </p:sp>
      <p:sp>
        <p:nvSpPr>
          <p:cNvPr id="24" name="Text 22"/>
          <p:cNvSpPr/>
          <p:nvPr/>
        </p:nvSpPr>
        <p:spPr>
          <a:xfrm>
            <a:off x="2743200" y="3968496"/>
            <a:ext cx="1828800" cy="694944"/>
          </a:xfrm>
          <a:prstGeom prst="rect">
            <a:avLst/>
          </a:prstGeom>
          <a:noFill/>
          <a:ln/>
        </p:spPr>
        <p:txBody>
          <a:bodyPr wrap="square" lIns="0" tIns="0" rIns="0" bIns="0" rtlCol="0" anchor="t"/>
          <a:lstStyle/>
          <a:p>
            <a:pPr indent="0" marL="0">
              <a:buNone/>
            </a:pPr>
            <a:r>
              <a:rPr lang="en-US" sz="780" dirty="0">
                <a:solidFill>
                  <a:srgbClr val="AAAAAA"/>
                </a:solidFill>
                <a:latin typeface="Poppins" pitchFamily="34" charset="0"/>
                <a:ea typeface="Poppins" pitchFamily="34" charset="-122"/>
                <a:cs typeface="Poppins" pitchFamily="34" charset="-120"/>
              </a:rPr>
              <a:t>Platform live-account validated. First Founding Mandate demos.</a:t>
            </a:r>
            <a:endParaRPr lang="en-US" sz="780" dirty="0"/>
          </a:p>
        </p:txBody>
      </p:sp>
      <p:sp>
        <p:nvSpPr>
          <p:cNvPr id="25" name="Shape 23"/>
          <p:cNvSpPr/>
          <p:nvPr/>
        </p:nvSpPr>
        <p:spPr>
          <a:xfrm>
            <a:off x="4846320" y="3703320"/>
            <a:ext cx="2011680" cy="1005840"/>
          </a:xfrm>
          <a:prstGeom prst="rect">
            <a:avLst/>
          </a:prstGeom>
          <a:solidFill>
            <a:srgbClr val="0F0F14"/>
          </a:solidFill>
          <a:ln w="12700">
            <a:solidFill>
              <a:srgbClr val="0F0F14"/>
            </a:solidFill>
            <a:prstDash val="solid"/>
          </a:ln>
        </p:spPr>
      </p:sp>
      <p:sp>
        <p:nvSpPr>
          <p:cNvPr id="26" name="Shape 24"/>
          <p:cNvSpPr/>
          <p:nvPr/>
        </p:nvSpPr>
        <p:spPr>
          <a:xfrm>
            <a:off x="4846320" y="3703320"/>
            <a:ext cx="2011680" cy="36576"/>
          </a:xfrm>
          <a:prstGeom prst="rect">
            <a:avLst/>
          </a:prstGeom>
          <a:solidFill>
            <a:srgbClr val="85D155"/>
          </a:solidFill>
          <a:ln w="12700">
            <a:solidFill>
              <a:srgbClr val="85D155"/>
            </a:solidFill>
            <a:prstDash val="solid"/>
          </a:ln>
        </p:spPr>
      </p:sp>
      <p:sp>
        <p:nvSpPr>
          <p:cNvPr id="27" name="Text 25"/>
          <p:cNvSpPr/>
          <p:nvPr/>
        </p:nvSpPr>
        <p:spPr>
          <a:xfrm>
            <a:off x="4937760" y="3749040"/>
            <a:ext cx="1828800" cy="201168"/>
          </a:xfrm>
          <a:prstGeom prst="rect">
            <a:avLst/>
          </a:prstGeom>
          <a:noFill/>
          <a:ln/>
        </p:spPr>
        <p:txBody>
          <a:bodyPr wrap="square" lIns="0" tIns="0" rIns="0" bIns="0" rtlCol="0" anchor="ctr"/>
          <a:lstStyle/>
          <a:p>
            <a:pPr indent="0" marL="0">
              <a:buNone/>
            </a:pPr>
            <a:r>
              <a:rPr lang="en-US" sz="850" b="1" dirty="0">
                <a:solidFill>
                  <a:srgbClr val="85D155"/>
                </a:solidFill>
                <a:latin typeface="Poppins" pitchFamily="34" charset="0"/>
                <a:ea typeface="Poppins" pitchFamily="34" charset="-122"/>
                <a:cs typeface="Poppins" pitchFamily="34" charset="-120"/>
              </a:rPr>
              <a:t>M7–9</a:t>
            </a:r>
            <a:endParaRPr lang="en-US" sz="850" dirty="0"/>
          </a:p>
        </p:txBody>
      </p:sp>
      <p:sp>
        <p:nvSpPr>
          <p:cNvPr id="28" name="Text 26"/>
          <p:cNvSpPr/>
          <p:nvPr/>
        </p:nvSpPr>
        <p:spPr>
          <a:xfrm>
            <a:off x="4937760" y="3968496"/>
            <a:ext cx="1828800" cy="694944"/>
          </a:xfrm>
          <a:prstGeom prst="rect">
            <a:avLst/>
          </a:prstGeom>
          <a:noFill/>
          <a:ln/>
        </p:spPr>
        <p:txBody>
          <a:bodyPr wrap="square" lIns="0" tIns="0" rIns="0" bIns="0" rtlCol="0" anchor="t"/>
          <a:lstStyle/>
          <a:p>
            <a:pPr indent="0" marL="0">
              <a:buNone/>
            </a:pPr>
            <a:r>
              <a:rPr lang="en-US" sz="780" dirty="0">
                <a:solidFill>
                  <a:srgbClr val="AAAAAA"/>
                </a:solidFill>
                <a:latin typeface="Poppins" pitchFamily="34" charset="0"/>
                <a:ea typeface="Poppins" pitchFamily="34" charset="-122"/>
                <a:cs typeface="Poppins" pitchFamily="34" charset="-120"/>
              </a:rPr>
              <a:t>First client signed. WP-07 complete — UK distribution unlocked.</a:t>
            </a:r>
            <a:endParaRPr lang="en-US" sz="780" dirty="0"/>
          </a:p>
        </p:txBody>
      </p:sp>
      <p:sp>
        <p:nvSpPr>
          <p:cNvPr id="29" name="Shape 27"/>
          <p:cNvSpPr/>
          <p:nvPr/>
        </p:nvSpPr>
        <p:spPr>
          <a:xfrm>
            <a:off x="7040880" y="3703320"/>
            <a:ext cx="2011680" cy="1005840"/>
          </a:xfrm>
          <a:prstGeom prst="rect">
            <a:avLst/>
          </a:prstGeom>
          <a:solidFill>
            <a:srgbClr val="0F0F14"/>
          </a:solidFill>
          <a:ln w="12700">
            <a:solidFill>
              <a:srgbClr val="0F0F14"/>
            </a:solidFill>
            <a:prstDash val="solid"/>
          </a:ln>
        </p:spPr>
      </p:sp>
      <p:sp>
        <p:nvSpPr>
          <p:cNvPr id="30" name="Shape 28"/>
          <p:cNvSpPr/>
          <p:nvPr/>
        </p:nvSpPr>
        <p:spPr>
          <a:xfrm>
            <a:off x="7040880" y="3703320"/>
            <a:ext cx="2011680" cy="36576"/>
          </a:xfrm>
          <a:prstGeom prst="rect">
            <a:avLst/>
          </a:prstGeom>
          <a:solidFill>
            <a:srgbClr val="85D155"/>
          </a:solidFill>
          <a:ln w="12700">
            <a:solidFill>
              <a:srgbClr val="85D155"/>
            </a:solidFill>
            <a:prstDash val="solid"/>
          </a:ln>
        </p:spPr>
      </p:sp>
      <p:sp>
        <p:nvSpPr>
          <p:cNvPr id="31" name="Text 29"/>
          <p:cNvSpPr/>
          <p:nvPr/>
        </p:nvSpPr>
        <p:spPr>
          <a:xfrm>
            <a:off x="7132320" y="3749040"/>
            <a:ext cx="1828800" cy="201168"/>
          </a:xfrm>
          <a:prstGeom prst="rect">
            <a:avLst/>
          </a:prstGeom>
          <a:noFill/>
          <a:ln/>
        </p:spPr>
        <p:txBody>
          <a:bodyPr wrap="square" lIns="0" tIns="0" rIns="0" bIns="0" rtlCol="0" anchor="ctr"/>
          <a:lstStyle/>
          <a:p>
            <a:pPr indent="0" marL="0">
              <a:buNone/>
            </a:pPr>
            <a:r>
              <a:rPr lang="en-US" sz="850" b="1" dirty="0">
                <a:solidFill>
                  <a:srgbClr val="85D155"/>
                </a:solidFill>
                <a:latin typeface="Poppins" pitchFamily="34" charset="0"/>
                <a:ea typeface="Poppins" pitchFamily="34" charset="-122"/>
                <a:cs typeface="Poppins" pitchFamily="34" charset="-120"/>
              </a:rPr>
              <a:t>M9–13</a:t>
            </a:r>
            <a:endParaRPr lang="en-US" sz="850" dirty="0"/>
          </a:p>
        </p:txBody>
      </p:sp>
      <p:sp>
        <p:nvSpPr>
          <p:cNvPr id="32" name="Text 30"/>
          <p:cNvSpPr/>
          <p:nvPr/>
        </p:nvSpPr>
        <p:spPr>
          <a:xfrm>
            <a:off x="7132320" y="3968496"/>
            <a:ext cx="1828800" cy="694944"/>
          </a:xfrm>
          <a:prstGeom prst="rect">
            <a:avLst/>
          </a:prstGeom>
          <a:noFill/>
          <a:ln/>
        </p:spPr>
        <p:txBody>
          <a:bodyPr wrap="square" lIns="0" tIns="0" rIns="0" bIns="0" rtlCol="0" anchor="t"/>
          <a:lstStyle/>
          <a:p>
            <a:pPr indent="0" marL="0">
              <a:buNone/>
            </a:pPr>
            <a:r>
              <a:rPr lang="en-US" sz="780" dirty="0">
                <a:solidFill>
                  <a:srgbClr val="AAAAAA"/>
                </a:solidFill>
                <a:latin typeface="Poppins" pitchFamily="34" charset="0"/>
                <a:ea typeface="Poppins" pitchFamily="34" charset="-122"/>
                <a:cs typeface="Poppins" pitchFamily="34" charset="-120"/>
              </a:rPr>
              <a:t>First revenue. Second and third clients. Series A preparation.</a:t>
            </a:r>
            <a:endParaRPr lang="en-US" sz="780" dirty="0"/>
          </a:p>
        </p:txBody>
      </p:sp>
      <p:sp>
        <p:nvSpPr>
          <p:cNvPr id="33" name="Text 31"/>
          <p:cNvSpPr/>
          <p:nvPr/>
        </p:nvSpPr>
        <p:spPr>
          <a:xfrm>
            <a:off x="365760" y="4974336"/>
            <a:ext cx="7589520" cy="146304"/>
          </a:xfrm>
          <a:prstGeom prst="rect">
            <a:avLst/>
          </a:prstGeom>
          <a:noFill/>
          <a:ln/>
        </p:spPr>
        <p:txBody>
          <a:bodyPr wrap="square" lIns="0" tIns="0" rIns="0" bIns="0" rtlCol="0" anchor="ctr"/>
          <a:lstStyle/>
          <a:p>
            <a:pPr indent="0" marL="0">
              <a:buNone/>
            </a:pPr>
            <a:r>
              <a:rPr lang="en-US" sz="650" dirty="0">
                <a:solidFill>
                  <a:srgbClr val="CCCCCC"/>
                </a:solidFill>
                <a:latin typeface="Poppins" pitchFamily="34" charset="0"/>
                <a:ea typeface="Poppins" pitchFamily="34" charset="-122"/>
                <a:cs typeface="Poppins" pitchFamily="34" charset="-120"/>
              </a:rPr>
              <a:t>InvestPuppy · investpuppy.com · contact@investpuppy.com · CONFIDENTIAL</a:t>
            </a:r>
            <a:endParaRPr lang="en-US" sz="650" dirty="0"/>
          </a:p>
        </p:txBody>
      </p:sp>
      <p:pic>
        <p:nvPicPr>
          <p:cNvPr id="34" name="Image 0" descr="/home/claude/investpuppy/_shared/logos/ip_logo_light_bg.png">    </p:cNvPr>
          <p:cNvPicPr>
            <a:picLocks noChangeAspect="1"/>
          </p:cNvPicPr>
          <p:nvPr/>
        </p:nvPicPr>
        <p:blipFill>
          <a:blip r:embed="rId1"/>
          <a:stretch>
            <a:fillRect/>
          </a:stretch>
        </p:blipFill>
        <p:spPr>
          <a:xfrm>
            <a:off x="8463686" y="4919472"/>
            <a:ext cx="223114" cy="1828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46888"/>
            <a:ext cx="5486400" cy="201168"/>
          </a:xfrm>
          <a:prstGeom prst="rect">
            <a:avLst/>
          </a:prstGeom>
          <a:noFill/>
          <a:ln/>
        </p:spPr>
        <p:txBody>
          <a:bodyPr wrap="square" lIns="0" tIns="0" rIns="0" bIns="0" rtlCol="0" anchor="ctr"/>
          <a:lstStyle/>
          <a:p>
            <a:pPr indent="0" marL="0">
              <a:buNone/>
            </a:pPr>
            <a:r>
              <a:rPr lang="en-US" sz="700" b="1" spc="150" kern="0" dirty="0">
                <a:solidFill>
                  <a:srgbClr val="85D155"/>
                </a:solidFill>
                <a:latin typeface="Poppins" pitchFamily="34" charset="0"/>
                <a:ea typeface="Poppins" pitchFamily="34" charset="-122"/>
                <a:cs typeface="Poppins" pitchFamily="34" charset="-120"/>
              </a:rPr>
              <a:t>THE ASK</a:t>
            </a:r>
            <a:endParaRPr lang="en-US" sz="700" dirty="0"/>
          </a:p>
        </p:txBody>
      </p:sp>
      <p:sp>
        <p:nvSpPr>
          <p:cNvPr id="3" name="Text 1"/>
          <p:cNvSpPr/>
          <p:nvPr/>
        </p:nvSpPr>
        <p:spPr>
          <a:xfrm>
            <a:off x="457200" y="502920"/>
            <a:ext cx="8229600" cy="640080"/>
          </a:xfrm>
          <a:prstGeom prst="rect">
            <a:avLst/>
          </a:prstGeom>
          <a:noFill/>
          <a:ln/>
        </p:spPr>
        <p:txBody>
          <a:bodyPr wrap="square" lIns="0" tIns="0" rIns="0" bIns="0" rtlCol="0" anchor="ctr"/>
          <a:lstStyle/>
          <a:p>
            <a:pPr indent="0" marL="0">
              <a:buNone/>
            </a:pPr>
            <a:r>
              <a:rPr lang="en-US" sz="2600" b="1" dirty="0">
                <a:solidFill>
                  <a:srgbClr val="1A1A1A"/>
                </a:solidFill>
                <a:latin typeface="Poppins" pitchFamily="34" charset="0"/>
                <a:ea typeface="Poppins" pitchFamily="34" charset="-122"/>
                <a:cs typeface="Poppins" pitchFamily="34" charset="-120"/>
              </a:rPr>
              <a:t>The ask is S$1–2M. Here is exactly what it funds.</a:t>
            </a:r>
            <a:endParaRPr lang="en-US" sz="2600" dirty="0"/>
          </a:p>
        </p:txBody>
      </p:sp>
      <p:sp>
        <p:nvSpPr>
          <p:cNvPr id="4" name="Text 2"/>
          <p:cNvSpPr/>
          <p:nvPr/>
        </p:nvSpPr>
        <p:spPr>
          <a:xfrm>
            <a:off x="457200" y="1261872"/>
            <a:ext cx="4023360" cy="804672"/>
          </a:xfrm>
          <a:prstGeom prst="rect">
            <a:avLst/>
          </a:prstGeom>
          <a:noFill/>
          <a:ln/>
        </p:spPr>
        <p:txBody>
          <a:bodyPr wrap="square" lIns="0" tIns="0" rIns="0" bIns="0" rtlCol="0" anchor="ctr"/>
          <a:lstStyle/>
          <a:p>
            <a:pPr indent="0" marL="0">
              <a:buNone/>
            </a:pPr>
            <a:r>
              <a:rPr lang="en-US" sz="1700" b="1" dirty="0">
                <a:solidFill>
                  <a:srgbClr val="1A1A1A"/>
                </a:solidFill>
                <a:latin typeface="Poppins" pitchFamily="34" charset="0"/>
                <a:ea typeface="Poppins" pitchFamily="34" charset="-122"/>
                <a:cs typeface="Poppins" pitchFamily="34" charset="-120"/>
              </a:rPr>
              <a:t>S$1,000,000 – S$2,000,000</a:t>
            </a:r>
            <a:endParaRPr lang="en-US" sz="1700" dirty="0"/>
          </a:p>
          <a:p>
            <a:pPr indent="0" marL="0">
              <a:buNone/>
            </a:pPr>
            <a:r>
              <a:rPr lang="en-US" sz="1700" dirty="0">
                <a:solidFill>
                  <a:srgbClr val="5A5A5A"/>
                </a:solidFill>
                <a:latin typeface="Poppins" pitchFamily="34" charset="0"/>
                <a:ea typeface="Poppins" pitchFamily="34" charset="-122"/>
                <a:cs typeface="Poppins" pitchFamily="34" charset="-120"/>
              </a:rPr>
              <a:t>Seed round  ·  Singapore-led close</a:t>
            </a:r>
            <a:endParaRPr lang="en-US" sz="1700" dirty="0"/>
          </a:p>
        </p:txBody>
      </p:sp>
      <p:sp>
        <p:nvSpPr>
          <p:cNvPr id="5" name="Text 3"/>
          <p:cNvSpPr/>
          <p:nvPr/>
        </p:nvSpPr>
        <p:spPr>
          <a:xfrm>
            <a:off x="457200" y="2176272"/>
            <a:ext cx="4023360" cy="566928"/>
          </a:xfrm>
          <a:prstGeom prst="rect">
            <a:avLst/>
          </a:prstGeom>
          <a:noFill/>
          <a:ln/>
        </p:spPr>
        <p:txBody>
          <a:bodyPr wrap="square" lIns="0" tIns="0" rIns="0" bIns="0" rtlCol="0" anchor="t"/>
          <a:lstStyle/>
          <a:p>
            <a:pPr indent="0" marL="0">
              <a:buNone/>
            </a:pPr>
            <a:r>
              <a:rPr lang="en-US" sz="950" i="1" dirty="0">
                <a:solidFill>
                  <a:srgbClr val="5A5A5A"/>
                </a:solidFill>
                <a:latin typeface="Poppins" pitchFamily="34" charset="0"/>
                <a:ea typeface="Poppins" pitchFamily="34" charset="-122"/>
                <a:cs typeface="Poppins" pitchFamily="34" charset="-120"/>
              </a:rPr>
              <a:t>We have not fixed the valuation because we believe the right investor conversation determines the right number. We have a range in mind. If you are the right investor, we will share it.</a:t>
            </a:r>
            <a:endParaRPr lang="en-US" sz="950" dirty="0"/>
          </a:p>
        </p:txBody>
      </p:sp>
      <p:sp>
        <p:nvSpPr>
          <p:cNvPr id="6" name="Text 4"/>
          <p:cNvSpPr/>
          <p:nvPr/>
        </p:nvSpPr>
        <p:spPr>
          <a:xfrm>
            <a:off x="457200" y="2834640"/>
            <a:ext cx="4023360" cy="256032"/>
          </a:xfrm>
          <a:prstGeom prst="rect">
            <a:avLst/>
          </a:prstGeom>
          <a:noFill/>
          <a:ln/>
        </p:spPr>
        <p:txBody>
          <a:bodyPr wrap="square" lIns="0" tIns="0" rIns="0" bIns="0" rtlCol="0" anchor="ctr"/>
          <a:lstStyle/>
          <a:p>
            <a:pPr indent="0" marL="0">
              <a:buNone/>
            </a:pPr>
            <a:r>
              <a:rPr lang="en-US" sz="1000" b="1" dirty="0">
                <a:solidFill>
                  <a:srgbClr val="1A1A1A"/>
                </a:solidFill>
                <a:latin typeface="Poppins" pitchFamily="34" charset="0"/>
                <a:ea typeface="Poppins" pitchFamily="34" charset="-122"/>
                <a:cs typeface="Poppins" pitchFamily="34" charset="-120"/>
              </a:rPr>
              <a:t>What we want in an investor partner:</a:t>
            </a:r>
            <a:endParaRPr lang="en-US" sz="1000" dirty="0"/>
          </a:p>
        </p:txBody>
      </p:sp>
      <p:sp>
        <p:nvSpPr>
          <p:cNvPr id="7" name="Shape 5"/>
          <p:cNvSpPr/>
          <p:nvPr/>
        </p:nvSpPr>
        <p:spPr>
          <a:xfrm>
            <a:off x="484632" y="3246120"/>
            <a:ext cx="91440" cy="91440"/>
          </a:xfrm>
          <a:prstGeom prst="ellipse">
            <a:avLst/>
          </a:prstGeom>
          <a:solidFill>
            <a:srgbClr val="85D155"/>
          </a:solidFill>
          <a:ln w="12700">
            <a:solidFill>
              <a:srgbClr val="85D155"/>
            </a:solidFill>
            <a:prstDash val="solid"/>
          </a:ln>
        </p:spPr>
      </p:sp>
      <p:sp>
        <p:nvSpPr>
          <p:cNvPr id="8" name="Text 6"/>
          <p:cNvSpPr/>
          <p:nvPr/>
        </p:nvSpPr>
        <p:spPr>
          <a:xfrm>
            <a:off x="685800" y="3182112"/>
            <a:ext cx="3749040" cy="274320"/>
          </a:xfrm>
          <a:prstGeom prst="rect">
            <a:avLst/>
          </a:prstGeom>
          <a:noFill/>
          <a:ln/>
        </p:spPr>
        <p:txBody>
          <a:bodyPr wrap="square" lIns="0" tIns="0" rIns="0" bIns="0" rtlCol="0" anchor="ctr"/>
          <a:lstStyle/>
          <a:p>
            <a:pPr indent="0" marL="0">
              <a:buNone/>
            </a:pPr>
            <a:r>
              <a:rPr lang="en-US" sz="950" dirty="0">
                <a:solidFill>
                  <a:srgbClr val="5A5A5A"/>
                </a:solidFill>
                <a:latin typeface="Poppins" pitchFamily="34" charset="0"/>
                <a:ea typeface="Poppins" pitchFamily="34" charset="-122"/>
                <a:cs typeface="Poppins" pitchFamily="34" charset="-120"/>
              </a:rPr>
              <a:t>Domain experience in fintech, wealth management, or financial infrastructure</a:t>
            </a:r>
            <a:endParaRPr lang="en-US" sz="950" dirty="0"/>
          </a:p>
        </p:txBody>
      </p:sp>
      <p:sp>
        <p:nvSpPr>
          <p:cNvPr id="9" name="Shape 7"/>
          <p:cNvSpPr/>
          <p:nvPr/>
        </p:nvSpPr>
        <p:spPr>
          <a:xfrm>
            <a:off x="484632" y="3575304"/>
            <a:ext cx="91440" cy="91440"/>
          </a:xfrm>
          <a:prstGeom prst="ellipse">
            <a:avLst/>
          </a:prstGeom>
          <a:solidFill>
            <a:srgbClr val="85D155"/>
          </a:solidFill>
          <a:ln w="12700">
            <a:solidFill>
              <a:srgbClr val="85D155"/>
            </a:solidFill>
            <a:prstDash val="solid"/>
          </a:ln>
        </p:spPr>
      </p:sp>
      <p:sp>
        <p:nvSpPr>
          <p:cNvPr id="10" name="Text 8"/>
          <p:cNvSpPr/>
          <p:nvPr/>
        </p:nvSpPr>
        <p:spPr>
          <a:xfrm>
            <a:off x="685800" y="3511296"/>
            <a:ext cx="3749040" cy="274320"/>
          </a:xfrm>
          <a:prstGeom prst="rect">
            <a:avLst/>
          </a:prstGeom>
          <a:noFill/>
          <a:ln/>
        </p:spPr>
        <p:txBody>
          <a:bodyPr wrap="square" lIns="0" tIns="0" rIns="0" bIns="0" rtlCol="0" anchor="ctr"/>
          <a:lstStyle/>
          <a:p>
            <a:pPr indent="0" marL="0">
              <a:buNone/>
            </a:pPr>
            <a:r>
              <a:rPr lang="en-US" sz="950" dirty="0">
                <a:solidFill>
                  <a:srgbClr val="5A5A5A"/>
                </a:solidFill>
                <a:latin typeface="Poppins" pitchFamily="34" charset="0"/>
                <a:ea typeface="Poppins" pitchFamily="34" charset="-122"/>
                <a:cs typeface="Poppins" pitchFamily="34" charset="-120"/>
              </a:rPr>
              <a:t>Network into Singapore's family office and independent RIA community</a:t>
            </a:r>
            <a:endParaRPr lang="en-US" sz="950" dirty="0"/>
          </a:p>
        </p:txBody>
      </p:sp>
      <p:sp>
        <p:nvSpPr>
          <p:cNvPr id="11" name="Shape 9"/>
          <p:cNvSpPr/>
          <p:nvPr/>
        </p:nvSpPr>
        <p:spPr>
          <a:xfrm>
            <a:off x="484632" y="3904488"/>
            <a:ext cx="91440" cy="91440"/>
          </a:xfrm>
          <a:prstGeom prst="ellipse">
            <a:avLst/>
          </a:prstGeom>
          <a:solidFill>
            <a:srgbClr val="85D155"/>
          </a:solidFill>
          <a:ln w="12700">
            <a:solidFill>
              <a:srgbClr val="85D155"/>
            </a:solidFill>
            <a:prstDash val="solid"/>
          </a:ln>
        </p:spPr>
      </p:sp>
      <p:sp>
        <p:nvSpPr>
          <p:cNvPr id="12" name="Text 10"/>
          <p:cNvSpPr/>
          <p:nvPr/>
        </p:nvSpPr>
        <p:spPr>
          <a:xfrm>
            <a:off x="685800" y="3840480"/>
            <a:ext cx="3749040" cy="274320"/>
          </a:xfrm>
          <a:prstGeom prst="rect">
            <a:avLst/>
          </a:prstGeom>
          <a:noFill/>
          <a:ln/>
        </p:spPr>
        <p:txBody>
          <a:bodyPr wrap="square" lIns="0" tIns="0" rIns="0" bIns="0" rtlCol="0" anchor="ctr"/>
          <a:lstStyle/>
          <a:p>
            <a:pPr indent="0" marL="0">
              <a:buNone/>
            </a:pPr>
            <a:r>
              <a:rPr lang="en-US" sz="950" dirty="0">
                <a:solidFill>
                  <a:srgbClr val="5A5A5A"/>
                </a:solidFill>
                <a:latin typeface="Poppins" pitchFamily="34" charset="0"/>
                <a:ea typeface="Poppins" pitchFamily="34" charset="-122"/>
                <a:cs typeface="Poppins" pitchFamily="34" charset="-120"/>
              </a:rPr>
              <a:t>Patient capital — this is a relationship-driven B2B market</a:t>
            </a:r>
            <a:endParaRPr lang="en-US" sz="950" dirty="0"/>
          </a:p>
        </p:txBody>
      </p:sp>
      <p:sp>
        <p:nvSpPr>
          <p:cNvPr id="13" name="Shape 11"/>
          <p:cNvSpPr/>
          <p:nvPr/>
        </p:nvSpPr>
        <p:spPr>
          <a:xfrm>
            <a:off x="484632" y="4233672"/>
            <a:ext cx="91440" cy="91440"/>
          </a:xfrm>
          <a:prstGeom prst="ellipse">
            <a:avLst/>
          </a:prstGeom>
          <a:solidFill>
            <a:srgbClr val="85D155"/>
          </a:solidFill>
          <a:ln w="12700">
            <a:solidFill>
              <a:srgbClr val="85D155"/>
            </a:solidFill>
            <a:prstDash val="solid"/>
          </a:ln>
        </p:spPr>
      </p:sp>
      <p:sp>
        <p:nvSpPr>
          <p:cNvPr id="14" name="Text 12"/>
          <p:cNvSpPr/>
          <p:nvPr/>
        </p:nvSpPr>
        <p:spPr>
          <a:xfrm>
            <a:off x="685800" y="4169664"/>
            <a:ext cx="3749040" cy="274320"/>
          </a:xfrm>
          <a:prstGeom prst="rect">
            <a:avLst/>
          </a:prstGeom>
          <a:noFill/>
          <a:ln/>
        </p:spPr>
        <p:txBody>
          <a:bodyPr wrap="square" lIns="0" tIns="0" rIns="0" bIns="0" rtlCol="0" anchor="ctr"/>
          <a:lstStyle/>
          <a:p>
            <a:pPr indent="0" marL="0">
              <a:buNone/>
            </a:pPr>
            <a:r>
              <a:rPr lang="en-US" sz="950" dirty="0">
                <a:solidFill>
                  <a:srgbClr val="5A5A5A"/>
                </a:solidFill>
                <a:latin typeface="Poppins" pitchFamily="34" charset="0"/>
                <a:ea typeface="Poppins" pitchFamily="34" charset="-122"/>
                <a:cs typeface="Poppins" pitchFamily="34" charset="-120"/>
              </a:rPr>
              <a:t>Alignment with the principle of building honestly</a:t>
            </a:r>
            <a:endParaRPr lang="en-US" sz="950" dirty="0"/>
          </a:p>
        </p:txBody>
      </p:sp>
      <p:sp>
        <p:nvSpPr>
          <p:cNvPr id="15" name="Shape 13"/>
          <p:cNvSpPr/>
          <p:nvPr/>
        </p:nvSpPr>
        <p:spPr>
          <a:xfrm>
            <a:off x="4663440" y="1216152"/>
            <a:ext cx="4023360" cy="3456432"/>
          </a:xfrm>
          <a:prstGeom prst="rect">
            <a:avLst/>
          </a:prstGeom>
          <a:solidFill>
            <a:srgbClr val="0F0F14"/>
          </a:solidFill>
          <a:ln w="12700">
            <a:solidFill>
              <a:srgbClr val="0F0F14"/>
            </a:solidFill>
            <a:prstDash val="solid"/>
          </a:ln>
          <a:effectLst>
            <a:outerShdw sx="100000" sy="100000" kx="0" ky="0" algn="bl" rotWithShape="0" blurRad="63500" dist="12700" dir="8100000">
              <a:srgbClr val="000000">
                <a:alpha val="7000"/>
              </a:srgbClr>
            </a:outerShdw>
          </a:effectLst>
        </p:spPr>
      </p:sp>
      <p:sp>
        <p:nvSpPr>
          <p:cNvPr id="16" name="Text 14"/>
          <p:cNvSpPr/>
          <p:nvPr/>
        </p:nvSpPr>
        <p:spPr>
          <a:xfrm>
            <a:off x="4846320" y="1371600"/>
            <a:ext cx="3657600" cy="256032"/>
          </a:xfrm>
          <a:prstGeom prst="rect">
            <a:avLst/>
          </a:prstGeom>
          <a:noFill/>
          <a:ln/>
        </p:spPr>
        <p:txBody>
          <a:bodyPr wrap="square" lIns="0" tIns="0" rIns="0" bIns="0" rtlCol="0" anchor="ctr"/>
          <a:lstStyle/>
          <a:p>
            <a:pPr indent="0" marL="0">
              <a:buNone/>
            </a:pPr>
            <a:r>
              <a:rPr lang="en-US" sz="1000" b="1" dirty="0">
                <a:solidFill>
                  <a:srgbClr val="85D155"/>
                </a:solidFill>
                <a:latin typeface="Poppins" pitchFamily="34" charset="0"/>
                <a:ea typeface="Poppins" pitchFamily="34" charset="-122"/>
                <a:cs typeface="Poppins" pitchFamily="34" charset="-120"/>
              </a:rPr>
              <a:t>What you get</a:t>
            </a:r>
            <a:endParaRPr lang="en-US" sz="1000" dirty="0"/>
          </a:p>
        </p:txBody>
      </p:sp>
      <p:sp>
        <p:nvSpPr>
          <p:cNvPr id="17" name="Text 15"/>
          <p:cNvSpPr/>
          <p:nvPr/>
        </p:nvSpPr>
        <p:spPr>
          <a:xfrm>
            <a:off x="4846320" y="1737360"/>
            <a:ext cx="3657600" cy="237744"/>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Equity stake</a:t>
            </a:r>
            <a:endParaRPr lang="en-US" sz="950" dirty="0"/>
          </a:p>
        </p:txBody>
      </p:sp>
      <p:sp>
        <p:nvSpPr>
          <p:cNvPr id="18" name="Text 16"/>
          <p:cNvSpPr/>
          <p:nvPr/>
        </p:nvSpPr>
        <p:spPr>
          <a:xfrm>
            <a:off x="4846320" y="1993392"/>
            <a:ext cx="3657600" cy="420624"/>
          </a:xfrm>
          <a:prstGeom prst="rect">
            <a:avLst/>
          </a:prstGeom>
          <a:noFill/>
          <a:ln/>
        </p:spPr>
        <p:txBody>
          <a:bodyPr wrap="square" lIns="0" tIns="0" rIns="0" bIns="0" rtlCol="0" anchor="t"/>
          <a:lstStyle/>
          <a:p>
            <a:pPr indent="0" marL="0">
              <a:buNone/>
            </a:pPr>
            <a:r>
              <a:rPr lang="en-US" sz="850" dirty="0">
                <a:solidFill>
                  <a:srgbClr val="999999"/>
                </a:solidFill>
                <a:latin typeface="Poppins" pitchFamily="34" charset="0"/>
                <a:ea typeface="Poppins" pitchFamily="34" charset="-122"/>
                <a:cs typeface="Poppins" pitchFamily="34" charset="-120"/>
              </a:rPr>
              <a:t>Seed-round equity in InvestPuppy. Instrument and cap table discussed with interested investors — not before.</a:t>
            </a:r>
            <a:endParaRPr lang="en-US" sz="850" dirty="0"/>
          </a:p>
        </p:txBody>
      </p:sp>
      <p:sp>
        <p:nvSpPr>
          <p:cNvPr id="19" name="Text 17"/>
          <p:cNvSpPr/>
          <p:nvPr/>
        </p:nvSpPr>
        <p:spPr>
          <a:xfrm>
            <a:off x="4846320" y="2505456"/>
            <a:ext cx="3657600" cy="237744"/>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Founding Mandate access</a:t>
            </a:r>
            <a:endParaRPr lang="en-US" sz="950" dirty="0"/>
          </a:p>
        </p:txBody>
      </p:sp>
      <p:sp>
        <p:nvSpPr>
          <p:cNvPr id="20" name="Text 18"/>
          <p:cNvSpPr/>
          <p:nvPr/>
        </p:nvSpPr>
        <p:spPr>
          <a:xfrm>
            <a:off x="4846320" y="2761488"/>
            <a:ext cx="3657600" cy="420624"/>
          </a:xfrm>
          <a:prstGeom prst="rect">
            <a:avLst/>
          </a:prstGeom>
          <a:noFill/>
          <a:ln/>
        </p:spPr>
        <p:txBody>
          <a:bodyPr wrap="square" lIns="0" tIns="0" rIns="0" bIns="0" rtlCol="0" anchor="t"/>
          <a:lstStyle/>
          <a:p>
            <a:pPr indent="0" marL="0">
              <a:buNone/>
            </a:pPr>
            <a:r>
              <a:rPr lang="en-US" sz="850" dirty="0">
                <a:solidFill>
                  <a:srgbClr val="999999"/>
                </a:solidFill>
                <a:latin typeface="Poppins" pitchFamily="34" charset="0"/>
                <a:ea typeface="Poppins" pitchFamily="34" charset="-122"/>
                <a:cs typeface="Poppins" pitchFamily="34" charset="-120"/>
              </a:rPr>
              <a:t>12-month founding rate at S$18,000/year, then permanently 1 tier below their AUM tier. Investors with client relationships can facilitate introductions.</a:t>
            </a:r>
            <a:endParaRPr lang="en-US" sz="850" dirty="0"/>
          </a:p>
        </p:txBody>
      </p:sp>
      <p:sp>
        <p:nvSpPr>
          <p:cNvPr id="21" name="Text 19"/>
          <p:cNvSpPr/>
          <p:nvPr/>
        </p:nvSpPr>
        <p:spPr>
          <a:xfrm>
            <a:off x="4846320" y="3273552"/>
            <a:ext cx="3657600" cy="237744"/>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Transparent reporting</a:t>
            </a:r>
            <a:endParaRPr lang="en-US" sz="950" dirty="0"/>
          </a:p>
        </p:txBody>
      </p:sp>
      <p:sp>
        <p:nvSpPr>
          <p:cNvPr id="22" name="Text 20"/>
          <p:cNvSpPr/>
          <p:nvPr/>
        </p:nvSpPr>
        <p:spPr>
          <a:xfrm>
            <a:off x="4846320" y="3529584"/>
            <a:ext cx="3657600" cy="420624"/>
          </a:xfrm>
          <a:prstGeom prst="rect">
            <a:avLst/>
          </a:prstGeom>
          <a:noFill/>
          <a:ln/>
        </p:spPr>
        <p:txBody>
          <a:bodyPr wrap="square" lIns="0" tIns="0" rIns="0" bIns="0" rtlCol="0" anchor="t"/>
          <a:lstStyle/>
          <a:p>
            <a:pPr indent="0" marL="0">
              <a:buNone/>
            </a:pPr>
            <a:r>
              <a:rPr lang="en-US" sz="850" dirty="0">
                <a:solidFill>
                  <a:srgbClr val="999999"/>
                </a:solidFill>
                <a:latin typeface="Poppins" pitchFamily="34" charset="0"/>
                <a:ea typeface="Poppins" pitchFamily="34" charset="-122"/>
                <a:cs typeface="Poppins" pitchFamily="34" charset="-120"/>
              </a:rPr>
              <a:t>Quarterly updates. Honest assessment of progress and setbacks. Not a promise we make lightly. Consistent with our governing principle.</a:t>
            </a:r>
            <a:endParaRPr lang="en-US" sz="850" dirty="0"/>
          </a:p>
        </p:txBody>
      </p:sp>
      <p:sp>
        <p:nvSpPr>
          <p:cNvPr id="23" name="Text 21"/>
          <p:cNvSpPr/>
          <p:nvPr/>
        </p:nvSpPr>
        <p:spPr>
          <a:xfrm>
            <a:off x="4846320" y="4041648"/>
            <a:ext cx="3657600" cy="237744"/>
          </a:xfrm>
          <a:prstGeom prst="rect">
            <a:avLst/>
          </a:prstGeom>
          <a:noFill/>
          <a:ln/>
        </p:spPr>
        <p:txBody>
          <a:bodyPr wrap="square" lIns="0" tIns="0" rIns="0" bIns="0" rtlCol="0" anchor="ctr"/>
          <a:lstStyle/>
          <a:p>
            <a:pPr indent="0" marL="0">
              <a:buNone/>
            </a:pPr>
            <a:r>
              <a:rPr lang="en-US" sz="950" b="1" dirty="0">
                <a:solidFill>
                  <a:srgbClr val="FFFFFF"/>
                </a:solidFill>
                <a:latin typeface="Poppins" pitchFamily="34" charset="0"/>
                <a:ea typeface="Poppins" pitchFamily="34" charset="-122"/>
                <a:cs typeface="Poppins" pitchFamily="34" charset="-120"/>
              </a:rPr>
              <a:t>First-mover position</a:t>
            </a:r>
            <a:endParaRPr lang="en-US" sz="950" dirty="0"/>
          </a:p>
        </p:txBody>
      </p:sp>
      <p:sp>
        <p:nvSpPr>
          <p:cNvPr id="24" name="Text 22"/>
          <p:cNvSpPr/>
          <p:nvPr/>
        </p:nvSpPr>
        <p:spPr>
          <a:xfrm>
            <a:off x="4846320" y="4297680"/>
            <a:ext cx="3657600" cy="420624"/>
          </a:xfrm>
          <a:prstGeom prst="rect">
            <a:avLst/>
          </a:prstGeom>
          <a:noFill/>
          <a:ln/>
        </p:spPr>
        <p:txBody>
          <a:bodyPr wrap="square" lIns="0" tIns="0" rIns="0" bIns="0" rtlCol="0" anchor="t"/>
          <a:lstStyle/>
          <a:p>
            <a:pPr indent="0" marL="0">
              <a:buNone/>
            </a:pPr>
            <a:r>
              <a:rPr lang="en-US" sz="850" dirty="0">
                <a:solidFill>
                  <a:srgbClr val="999999"/>
                </a:solidFill>
                <a:latin typeface="Poppins" pitchFamily="34" charset="0"/>
                <a:ea typeface="Poppins" pitchFamily="34" charset="-122"/>
                <a:cs typeface="Poppins" pitchFamily="34" charset="-120"/>
              </a:rPr>
              <a:t>Entry before the category is competed. Singapore architecture ready now. Global architecture already in place.</a:t>
            </a:r>
            <a:endParaRPr lang="en-US" sz="850" dirty="0"/>
          </a:p>
        </p:txBody>
      </p:sp>
      <p:sp>
        <p:nvSpPr>
          <p:cNvPr id="25" name="Text 23"/>
          <p:cNvSpPr/>
          <p:nvPr/>
        </p:nvSpPr>
        <p:spPr>
          <a:xfrm>
            <a:off x="365760" y="4974336"/>
            <a:ext cx="7589520" cy="146304"/>
          </a:xfrm>
          <a:prstGeom prst="rect">
            <a:avLst/>
          </a:prstGeom>
          <a:noFill/>
          <a:ln/>
        </p:spPr>
        <p:txBody>
          <a:bodyPr wrap="square" lIns="0" tIns="0" rIns="0" bIns="0" rtlCol="0" anchor="ctr"/>
          <a:lstStyle/>
          <a:p>
            <a:pPr indent="0" marL="0">
              <a:buNone/>
            </a:pPr>
            <a:r>
              <a:rPr lang="en-US" sz="650" dirty="0">
                <a:solidFill>
                  <a:srgbClr val="CCCCCC"/>
                </a:solidFill>
                <a:latin typeface="Poppins" pitchFamily="34" charset="0"/>
                <a:ea typeface="Poppins" pitchFamily="34" charset="-122"/>
                <a:cs typeface="Poppins" pitchFamily="34" charset="-120"/>
              </a:rPr>
              <a:t>InvestPuppy · investpuppy.com · contact@investpuppy.com · CONFIDENTIAL</a:t>
            </a:r>
            <a:endParaRPr lang="en-US" sz="650" dirty="0"/>
          </a:p>
        </p:txBody>
      </p:sp>
      <p:pic>
        <p:nvPicPr>
          <p:cNvPr id="26" name="Image 0" descr="/home/claude/investpuppy/_shared/logos/ip_logo_light_bg.png">    </p:cNvPr>
          <p:cNvPicPr>
            <a:picLocks noChangeAspect="1"/>
          </p:cNvPicPr>
          <p:nvPr/>
        </p:nvPicPr>
        <p:blipFill>
          <a:blip r:embed="rId1"/>
          <a:stretch>
            <a:fillRect/>
          </a:stretch>
        </p:blipFill>
        <p:spPr>
          <a:xfrm>
            <a:off x="8463686" y="4919472"/>
            <a:ext cx="223114" cy="1828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F14"/>
        </a:solidFill>
      </p:bgPr>
    </p:bg>
    <p:spTree>
      <p:nvGrpSpPr>
        <p:cNvPr id="1" name=""/>
        <p:cNvGrpSpPr/>
        <p:nvPr/>
      </p:nvGrpSpPr>
      <p:grpSpPr>
        <a:xfrm>
          <a:off x="0" y="0"/>
          <a:ext cx="0" cy="0"/>
          <a:chOff x="0" y="0"/>
          <a:chExt cx="0" cy="0"/>
        </a:xfrm>
      </p:grpSpPr>
      <p:sp>
        <p:nvSpPr>
          <p:cNvPr id="2" name="Shape 0"/>
          <p:cNvSpPr/>
          <p:nvPr/>
        </p:nvSpPr>
        <p:spPr>
          <a:xfrm>
            <a:off x="7863840" y="-91440"/>
            <a:ext cx="1828800" cy="1828800"/>
          </a:xfrm>
          <a:prstGeom prst="ellipse">
            <a:avLst/>
          </a:prstGeom>
          <a:solidFill>
            <a:srgbClr val="85D155">
              <a:alpha val="10000"/>
            </a:srgbClr>
          </a:solidFill>
          <a:ln w="12700">
            <a:solidFill>
              <a:srgbClr val="85D155"/>
            </a:solidFill>
            <a:prstDash val="solid"/>
          </a:ln>
        </p:spPr>
      </p:sp>
      <p:sp>
        <p:nvSpPr>
          <p:cNvPr id="3" name="Shape 1"/>
          <p:cNvSpPr/>
          <p:nvPr/>
        </p:nvSpPr>
        <p:spPr>
          <a:xfrm>
            <a:off x="-274320" y="4480560"/>
            <a:ext cx="914400" cy="914400"/>
          </a:xfrm>
          <a:prstGeom prst="ellipse">
            <a:avLst/>
          </a:prstGeom>
          <a:solidFill>
            <a:srgbClr val="85D155">
              <a:alpha val="10000"/>
            </a:srgbClr>
          </a:solidFill>
          <a:ln w="12700">
            <a:solidFill>
              <a:srgbClr val="85D155"/>
            </a:solidFill>
            <a:prstDash val="solid"/>
          </a:ln>
        </p:spPr>
      </p:sp>
      <p:pic>
        <p:nvPicPr>
          <p:cNvPr id="4" name="Image 0" descr="/home/claude/investpuppy/_shared/logos/ip_logo_dark_bg.png">    </p:cNvPr>
          <p:cNvPicPr>
            <a:picLocks noChangeAspect="1"/>
          </p:cNvPicPr>
          <p:nvPr/>
        </p:nvPicPr>
        <p:blipFill>
          <a:blip r:embed="rId1"/>
          <a:stretch>
            <a:fillRect/>
          </a:stretch>
        </p:blipFill>
        <p:spPr>
          <a:xfrm>
            <a:off x="457200" y="329184"/>
            <a:ext cx="726034" cy="594360"/>
          </a:xfrm>
          <a:prstGeom prst="rect">
            <a:avLst/>
          </a:prstGeom>
        </p:spPr>
      </p:pic>
      <p:sp>
        <p:nvSpPr>
          <p:cNvPr id="5" name="Text 2"/>
          <p:cNvSpPr/>
          <p:nvPr/>
        </p:nvSpPr>
        <p:spPr>
          <a:xfrm>
            <a:off x="457200" y="1481328"/>
            <a:ext cx="8229600" cy="914400"/>
          </a:xfrm>
          <a:prstGeom prst="rect">
            <a:avLst/>
          </a:prstGeom>
          <a:noFill/>
          <a:ln/>
        </p:spPr>
        <p:txBody>
          <a:bodyPr wrap="square" lIns="0" tIns="0" rIns="0" bIns="0" rtlCol="0" anchor="ctr"/>
          <a:lstStyle/>
          <a:p>
            <a:pPr indent="0" marL="0">
              <a:buNone/>
            </a:pPr>
            <a:r>
              <a:rPr lang="en-US" sz="5000" b="1" dirty="0">
                <a:solidFill>
                  <a:srgbClr val="FFFFFF"/>
                </a:solidFill>
                <a:latin typeface="Poppins" pitchFamily="34" charset="0"/>
                <a:ea typeface="Poppins" pitchFamily="34" charset="-122"/>
                <a:cs typeface="Poppins" pitchFamily="34" charset="-120"/>
              </a:rPr>
              <a:t>Honest by design.</a:t>
            </a:r>
            <a:endParaRPr lang="en-US" sz="5000" dirty="0"/>
          </a:p>
        </p:txBody>
      </p:sp>
      <p:sp>
        <p:nvSpPr>
          <p:cNvPr id="6" name="Text 3"/>
          <p:cNvSpPr/>
          <p:nvPr/>
        </p:nvSpPr>
        <p:spPr>
          <a:xfrm>
            <a:off x="457200" y="2423160"/>
            <a:ext cx="8229600" cy="502920"/>
          </a:xfrm>
          <a:prstGeom prst="rect">
            <a:avLst/>
          </a:prstGeom>
          <a:noFill/>
          <a:ln/>
        </p:spPr>
        <p:txBody>
          <a:bodyPr wrap="square" lIns="0" tIns="0" rIns="0" bIns="0" rtlCol="0" anchor="ctr"/>
          <a:lstStyle/>
          <a:p>
            <a:pPr indent="0" marL="0">
              <a:buNone/>
            </a:pPr>
            <a:r>
              <a:rPr lang="en-US" sz="2400" b="1" dirty="0">
                <a:solidFill>
                  <a:srgbClr val="85D155"/>
                </a:solidFill>
                <a:latin typeface="Poppins" pitchFamily="34" charset="0"/>
                <a:ea typeface="Poppins" pitchFamily="34" charset="-122"/>
                <a:cs typeface="Poppins" pitchFamily="34" charset="-120"/>
              </a:rPr>
              <a:t>Serious</a:t>
            </a:r>
            <a:pPr indent="0" marL="0">
              <a:buNone/>
            </a:pPr>
            <a:r>
              <a:rPr lang="en-US" sz="2400" dirty="0">
                <a:solidFill>
                  <a:srgbClr val="888888"/>
                </a:solidFill>
                <a:latin typeface="Poppins" pitchFamily="34" charset="0"/>
                <a:ea typeface="Poppins" pitchFamily="34" charset="-122"/>
                <a:cs typeface="Poppins" pitchFamily="34" charset="-120"/>
              </a:rPr>
              <a:t> when it matters.</a:t>
            </a:r>
            <a:endParaRPr lang="en-US" sz="2400" dirty="0"/>
          </a:p>
        </p:txBody>
      </p:sp>
      <p:sp>
        <p:nvSpPr>
          <p:cNvPr id="7" name="Text 4"/>
          <p:cNvSpPr/>
          <p:nvPr/>
        </p:nvSpPr>
        <p:spPr>
          <a:xfrm>
            <a:off x="457200" y="3063240"/>
            <a:ext cx="6400800" cy="841248"/>
          </a:xfrm>
          <a:prstGeom prst="rect">
            <a:avLst/>
          </a:prstGeom>
          <a:noFill/>
          <a:ln/>
        </p:spPr>
        <p:txBody>
          <a:bodyPr wrap="square" lIns="0" tIns="0" rIns="0" bIns="0" rtlCol="0" anchor="t"/>
          <a:lstStyle/>
          <a:p>
            <a:pPr indent="0" marL="0">
              <a:buNone/>
            </a:pPr>
            <a:r>
              <a:rPr lang="en-US" sz="1100" dirty="0">
                <a:solidFill>
                  <a:srgbClr val="666666"/>
                </a:solidFill>
                <a:latin typeface="Poppins" pitchFamily="34" charset="0"/>
                <a:ea typeface="Poppins" pitchFamily="34" charset="-122"/>
                <a:cs typeface="Poppins" pitchFamily="34" charset="-120"/>
              </a:rPr>
              <a:t>We are building a platform that wealth managers can trust — in the rigour of its construction, the clarity of its output, and the honesty of the team behind it. We apply the same standard to this investor pack.</a:t>
            </a:r>
            <a:endParaRPr lang="en-US" sz="1100" dirty="0"/>
          </a:p>
        </p:txBody>
      </p:sp>
      <p:sp>
        <p:nvSpPr>
          <p:cNvPr id="8" name="Text 5"/>
          <p:cNvSpPr/>
          <p:nvPr/>
        </p:nvSpPr>
        <p:spPr>
          <a:xfrm>
            <a:off x="457200" y="4059936"/>
            <a:ext cx="3657600" cy="594360"/>
          </a:xfrm>
          <a:prstGeom prst="rect">
            <a:avLst/>
          </a:prstGeom>
          <a:noFill/>
          <a:ln/>
        </p:spPr>
        <p:txBody>
          <a:bodyPr wrap="square" lIns="0" tIns="0" rIns="0" bIns="0" rtlCol="0" anchor="ctr"/>
          <a:lstStyle/>
          <a:p>
            <a:pPr indent="0" marL="0">
              <a:buNone/>
            </a:pPr>
            <a:r>
              <a:rPr lang="en-US" sz="1100" dirty="0">
                <a:solidFill>
                  <a:srgbClr val="85D155"/>
                </a:solidFill>
                <a:latin typeface="Poppins" pitchFamily="34" charset="0"/>
                <a:ea typeface="Poppins" pitchFamily="34" charset="-122"/>
                <a:cs typeface="Poppins" pitchFamily="34" charset="-120"/>
              </a:rPr>
              <a:t>contact@investpuppy.com</a:t>
            </a:r>
            <a:endParaRPr lang="en-US" sz="1100" dirty="0"/>
          </a:p>
          <a:p>
            <a:pPr indent="0" marL="0">
              <a:buNone/>
            </a:pPr>
            <a:r>
              <a:rPr lang="en-US" sz="1100" dirty="0">
                <a:solidFill>
                  <a:srgbClr val="555555"/>
                </a:solidFill>
                <a:latin typeface="Poppins" pitchFamily="34" charset="0"/>
                <a:ea typeface="Poppins" pitchFamily="34" charset="-122"/>
                <a:cs typeface="Poppins" pitchFamily="34" charset="-120"/>
              </a:rPr>
              <a:t>investpuppy.com</a:t>
            </a:r>
            <a:endParaRPr lang="en-US" sz="1100" dirty="0"/>
          </a:p>
        </p:txBody>
      </p:sp>
      <p:sp>
        <p:nvSpPr>
          <p:cNvPr id="9" name="Text 6"/>
          <p:cNvSpPr/>
          <p:nvPr/>
        </p:nvSpPr>
        <p:spPr>
          <a:xfrm>
            <a:off x="5669280" y="4663440"/>
            <a:ext cx="3200400" cy="219456"/>
          </a:xfrm>
          <a:prstGeom prst="rect">
            <a:avLst/>
          </a:prstGeom>
          <a:noFill/>
          <a:ln/>
        </p:spPr>
        <p:txBody>
          <a:bodyPr wrap="square" lIns="0" tIns="0" rIns="0" bIns="0" rtlCol="0" anchor="ctr"/>
          <a:lstStyle/>
          <a:p>
            <a:pPr algn="r" indent="0" marL="0">
              <a:buNone/>
            </a:pPr>
            <a:r>
              <a:rPr lang="en-US" sz="650" b="1" spc="80" kern="0" dirty="0">
                <a:solidFill>
                  <a:srgbClr val="3A3A3A"/>
                </a:solidFill>
                <a:latin typeface="Poppins" pitchFamily="34" charset="0"/>
                <a:ea typeface="Poppins" pitchFamily="34" charset="-122"/>
                <a:cs typeface="Poppins" pitchFamily="34" charset="-120"/>
              </a:rPr>
              <a:t>CONFIDENTIAL · NOT AN OFFER OF SECURITIES</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InvestPuppy — Seed Round Investor Deck</dc:title>
  <dc:subject>PptxGenJS Presentation</dc:subject>
  <dc:creator>InvestPuppy</dc:creator>
  <cp:lastModifiedBy>InvestPuppy</cp:lastModifiedBy>
  <cp:revision>1</cp:revision>
  <dcterms:created xsi:type="dcterms:W3CDTF">2026-05-11T10:08:55Z</dcterms:created>
  <dcterms:modified xsi:type="dcterms:W3CDTF">2026-05-11T10:08:55Z</dcterms:modified>
</cp:coreProperties>
</file>