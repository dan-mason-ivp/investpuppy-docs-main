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914400" y="0"/>
            <a:ext cx="2743200" cy="2743200"/>
          </a:xfrm>
          <a:prstGeom prst="line">
            <a:avLst/>
          </a:prstGeom>
          <a:noFill/>
          <a:ln w="12700">
            <a:solidFill>
              <a:srgbClr val="141418"/>
            </a:solidFill>
            <a:prstDash val="solid"/>
          </a:ln>
        </p:spPr>
        <p:txBody>
          <a:bodyPr/>
          <a:p/>
        </p:txBody>
      </p:sp>
      <p:sp>
        <p:nvSpPr>
          <p:cNvPr id="3" name="Shape 1"/>
          <p:cNvSpPr/>
          <p:nvPr/>
        </p:nvSpPr>
        <p:spPr>
          <a:xfrm>
            <a:off x="-274320" y="0"/>
            <a:ext cx="2743200" cy="2743200"/>
          </a:xfrm>
          <a:prstGeom prst="line">
            <a:avLst/>
          </a:prstGeom>
          <a:noFill/>
          <a:ln w="12700">
            <a:solidFill>
              <a:srgbClr val="141418"/>
            </a:solidFill>
            <a:prstDash val="solid"/>
          </a:ln>
        </p:spPr>
        <p:txBody>
          <a:bodyPr/>
          <a:p/>
        </p:txBody>
      </p:sp>
      <p:sp>
        <p:nvSpPr>
          <p:cNvPr id="4" name="Shape 2"/>
          <p:cNvSpPr/>
          <p:nvPr/>
        </p:nvSpPr>
        <p:spPr>
          <a:xfrm>
            <a:off x="365760" y="0"/>
            <a:ext cx="2743200" cy="2743200"/>
          </a:xfrm>
          <a:prstGeom prst="line">
            <a:avLst/>
          </a:prstGeom>
          <a:noFill/>
          <a:ln w="12700">
            <a:solidFill>
              <a:srgbClr val="141418"/>
            </a:solidFill>
            <a:prstDash val="solid"/>
          </a:ln>
        </p:spPr>
        <p:txBody>
          <a:bodyPr/>
          <a:p/>
        </p:txBody>
      </p:sp>
      <p:sp>
        <p:nvSpPr>
          <p:cNvPr id="5" name="Shape 3"/>
          <p:cNvSpPr/>
          <p:nvPr/>
        </p:nvSpPr>
        <p:spPr>
          <a:xfrm>
            <a:off x="1005840" y="0"/>
            <a:ext cx="2743200" cy="2743200"/>
          </a:xfrm>
          <a:prstGeom prst="line">
            <a:avLst/>
          </a:prstGeom>
          <a:noFill/>
          <a:ln w="12700">
            <a:solidFill>
              <a:srgbClr val="141418"/>
            </a:solidFill>
            <a:prstDash val="solid"/>
          </a:ln>
        </p:spPr>
        <p:txBody>
          <a:bodyPr/>
          <a:p/>
        </p:txBody>
      </p:sp>
      <p:sp>
        <p:nvSpPr>
          <p:cNvPr id="6" name="Shape 4"/>
          <p:cNvSpPr/>
          <p:nvPr/>
        </p:nvSpPr>
        <p:spPr>
          <a:xfrm>
            <a:off x="1645920" y="0"/>
            <a:ext cx="2743200" cy="2743200"/>
          </a:xfrm>
          <a:prstGeom prst="line">
            <a:avLst/>
          </a:prstGeom>
          <a:noFill/>
          <a:ln w="12700">
            <a:solidFill>
              <a:srgbClr val="141418"/>
            </a:solidFill>
            <a:prstDash val="solid"/>
          </a:ln>
        </p:spPr>
        <p:txBody>
          <a:bodyPr/>
          <a:p/>
        </p:txBody>
      </p:sp>
      <p:sp>
        <p:nvSpPr>
          <p:cNvPr id="7" name="Shape 5"/>
          <p:cNvSpPr/>
          <p:nvPr/>
        </p:nvSpPr>
        <p:spPr>
          <a:xfrm>
            <a:off x="2286000" y="0"/>
            <a:ext cx="2743200" cy="2743200"/>
          </a:xfrm>
          <a:prstGeom prst="line">
            <a:avLst/>
          </a:prstGeom>
          <a:noFill/>
          <a:ln w="12700">
            <a:solidFill>
              <a:srgbClr val="141418"/>
            </a:solidFill>
            <a:prstDash val="solid"/>
          </a:ln>
        </p:spPr>
        <p:txBody>
          <a:bodyPr/>
          <a:p/>
        </p:txBody>
      </p:sp>
      <p:sp>
        <p:nvSpPr>
          <p:cNvPr id="8" name="Shape 6"/>
          <p:cNvSpPr/>
          <p:nvPr/>
        </p:nvSpPr>
        <p:spPr>
          <a:xfrm>
            <a:off x="2926080" y="0"/>
            <a:ext cx="2743200" cy="2743200"/>
          </a:xfrm>
          <a:prstGeom prst="line">
            <a:avLst/>
          </a:prstGeom>
          <a:noFill/>
          <a:ln w="12700">
            <a:solidFill>
              <a:srgbClr val="141418"/>
            </a:solidFill>
            <a:prstDash val="solid"/>
          </a:ln>
        </p:spPr>
        <p:txBody>
          <a:bodyPr/>
          <a:p/>
        </p:txBody>
      </p:sp>
      <p:sp>
        <p:nvSpPr>
          <p:cNvPr id="9" name="Shape 7"/>
          <p:cNvSpPr/>
          <p:nvPr/>
        </p:nvSpPr>
        <p:spPr>
          <a:xfrm>
            <a:off x="3566160" y="0"/>
            <a:ext cx="2743200" cy="2743200"/>
          </a:xfrm>
          <a:prstGeom prst="line">
            <a:avLst/>
          </a:prstGeom>
          <a:noFill/>
          <a:ln w="12700">
            <a:solidFill>
              <a:srgbClr val="141418"/>
            </a:solidFill>
            <a:prstDash val="solid"/>
          </a:ln>
        </p:spPr>
        <p:txBody>
          <a:bodyPr/>
          <a:p/>
        </p:txBody>
      </p:sp>
      <p:sp>
        <p:nvSpPr>
          <p:cNvPr id="10" name="Shape 8"/>
          <p:cNvSpPr/>
          <p:nvPr/>
        </p:nvSpPr>
        <p:spPr>
          <a:xfrm>
            <a:off x="4206240" y="0"/>
            <a:ext cx="2743200" cy="2743200"/>
          </a:xfrm>
          <a:prstGeom prst="line">
            <a:avLst/>
          </a:prstGeom>
          <a:noFill/>
          <a:ln w="12700">
            <a:solidFill>
              <a:srgbClr val="141418"/>
            </a:solidFill>
            <a:prstDash val="solid"/>
          </a:ln>
        </p:spPr>
        <p:txBody>
          <a:bodyPr/>
          <a:p/>
        </p:txBody>
      </p:sp>
      <p:sp>
        <p:nvSpPr>
          <p:cNvPr id="11" name="Shape 9"/>
          <p:cNvSpPr/>
          <p:nvPr/>
        </p:nvSpPr>
        <p:spPr>
          <a:xfrm>
            <a:off x="4846320" y="0"/>
            <a:ext cx="2743200" cy="2743200"/>
          </a:xfrm>
          <a:prstGeom prst="line">
            <a:avLst/>
          </a:prstGeom>
          <a:noFill/>
          <a:ln w="12700">
            <a:solidFill>
              <a:srgbClr val="141418"/>
            </a:solidFill>
            <a:prstDash val="solid"/>
          </a:ln>
        </p:spPr>
        <p:txBody>
          <a:bodyPr/>
          <a:p/>
        </p:txBody>
      </p:sp>
      <p:sp>
        <p:nvSpPr>
          <p:cNvPr id="12" name="Shape 10"/>
          <p:cNvSpPr/>
          <p:nvPr/>
        </p:nvSpPr>
        <p:spPr>
          <a:xfrm>
            <a:off x="5486400" y="0"/>
            <a:ext cx="2743200" cy="2743200"/>
          </a:xfrm>
          <a:prstGeom prst="line">
            <a:avLst/>
          </a:prstGeom>
          <a:noFill/>
          <a:ln w="12700">
            <a:solidFill>
              <a:srgbClr val="141418"/>
            </a:solidFill>
            <a:prstDash val="solid"/>
          </a:ln>
        </p:spPr>
        <p:txBody>
          <a:bodyPr/>
          <a:p/>
        </p:txBody>
      </p:sp>
      <p:sp>
        <p:nvSpPr>
          <p:cNvPr id="13" name="Shape 11"/>
          <p:cNvSpPr/>
          <p:nvPr/>
        </p:nvSpPr>
        <p:spPr>
          <a:xfrm>
            <a:off x="6126480" y="0"/>
            <a:ext cx="2743200" cy="2743200"/>
          </a:xfrm>
          <a:prstGeom prst="line">
            <a:avLst/>
          </a:prstGeom>
          <a:noFill/>
          <a:ln w="12700">
            <a:solidFill>
              <a:srgbClr val="141418"/>
            </a:solidFill>
            <a:prstDash val="solid"/>
          </a:ln>
        </p:spPr>
        <p:txBody>
          <a:bodyPr/>
          <a:p/>
        </p:txBody>
      </p:sp>
      <p:sp>
        <p:nvSpPr>
          <p:cNvPr id="14" name="Shape 12"/>
          <p:cNvSpPr/>
          <p:nvPr/>
        </p:nvSpPr>
        <p:spPr>
          <a:xfrm>
            <a:off x="6766560" y="0"/>
            <a:ext cx="2743200" cy="2743200"/>
          </a:xfrm>
          <a:prstGeom prst="line">
            <a:avLst/>
          </a:prstGeom>
          <a:noFill/>
          <a:ln w="12700">
            <a:solidFill>
              <a:srgbClr val="141418"/>
            </a:solidFill>
            <a:prstDash val="solid"/>
          </a:ln>
        </p:spPr>
        <p:txBody>
          <a:bodyPr/>
          <a:p/>
        </p:txBody>
      </p:sp>
      <p:sp>
        <p:nvSpPr>
          <p:cNvPr id="15" name="Shape 13"/>
          <p:cNvSpPr/>
          <p:nvPr/>
        </p:nvSpPr>
        <p:spPr>
          <a:xfrm>
            <a:off x="7406640" y="0"/>
            <a:ext cx="2743200" cy="2743200"/>
          </a:xfrm>
          <a:prstGeom prst="line">
            <a:avLst/>
          </a:prstGeom>
          <a:noFill/>
          <a:ln w="12700">
            <a:solidFill>
              <a:srgbClr val="141418"/>
            </a:solidFill>
            <a:prstDash val="solid"/>
          </a:ln>
        </p:spPr>
        <p:txBody>
          <a:bodyPr/>
          <a:p/>
        </p:txBody>
      </p:sp>
      <p:sp>
        <p:nvSpPr>
          <p:cNvPr id="16" name="Shape 14"/>
          <p:cNvSpPr/>
          <p:nvPr/>
        </p:nvSpPr>
        <p:spPr>
          <a:xfrm>
            <a:off x="8046720" y="0"/>
            <a:ext cx="2743200" cy="2743200"/>
          </a:xfrm>
          <a:prstGeom prst="line">
            <a:avLst/>
          </a:prstGeom>
          <a:noFill/>
          <a:ln w="12700">
            <a:solidFill>
              <a:srgbClr val="141418"/>
            </a:solidFill>
            <a:prstDash val="solid"/>
          </a:ln>
        </p:spPr>
        <p:txBody>
          <a:bodyPr/>
          <a:p/>
        </p:txBody>
      </p:sp>
      <p:sp>
        <p:nvSpPr>
          <p:cNvPr id="17" name="Shape 15"/>
          <p:cNvSpPr/>
          <p:nvPr/>
        </p:nvSpPr>
        <p:spPr>
          <a:xfrm>
            <a:off x="8686800" y="0"/>
            <a:ext cx="2743200" cy="2743200"/>
          </a:xfrm>
          <a:prstGeom prst="line">
            <a:avLst/>
          </a:prstGeom>
          <a:noFill/>
          <a:ln w="12700">
            <a:solidFill>
              <a:srgbClr val="141418"/>
            </a:solidFill>
            <a:prstDash val="solid"/>
          </a:ln>
        </p:spPr>
        <p:txBody>
          <a:bodyPr/>
          <a:p/>
        </p:txBody>
      </p:sp>
      <p:sp>
        <p:nvSpPr>
          <p:cNvPr id="18" name="Shape 16"/>
          <p:cNvSpPr/>
          <p:nvPr/>
        </p:nvSpPr>
        <p:spPr>
          <a:xfrm>
            <a:off x="9326880" y="0"/>
            <a:ext cx="2743200" cy="2743200"/>
          </a:xfrm>
          <a:prstGeom prst="line">
            <a:avLst/>
          </a:prstGeom>
          <a:noFill/>
          <a:ln w="12700">
            <a:solidFill>
              <a:srgbClr val="141418"/>
            </a:solidFill>
            <a:prstDash val="solid"/>
          </a:ln>
        </p:spPr>
        <p:txBody>
          <a:bodyPr/>
          <a:p/>
        </p:txBody>
      </p:sp>
      <p:sp>
        <p:nvSpPr>
          <p:cNvPr id="19" name="Shape 17"/>
          <p:cNvSpPr/>
          <p:nvPr/>
        </p:nvSpPr>
        <p:spPr>
          <a:xfrm>
            <a:off x="9966960" y="0"/>
            <a:ext cx="2743200" cy="2743200"/>
          </a:xfrm>
          <a:prstGeom prst="line">
            <a:avLst/>
          </a:prstGeom>
          <a:noFill/>
          <a:ln w="12700">
            <a:solidFill>
              <a:srgbClr val="141418"/>
            </a:solidFill>
            <a:prstDash val="solid"/>
          </a:ln>
        </p:spPr>
        <p:txBody>
          <a:bodyPr/>
          <a:p/>
        </p:txBody>
      </p:sp>
      <p:sp>
        <p:nvSpPr>
          <p:cNvPr id="20" name="Shape 18"/>
          <p:cNvSpPr/>
          <p:nvPr/>
        </p:nvSpPr>
        <p:spPr>
          <a:xfrm>
            <a:off x="10607040" y="0"/>
            <a:ext cx="2743200" cy="2743200"/>
          </a:xfrm>
          <a:prstGeom prst="line">
            <a:avLst/>
          </a:prstGeom>
          <a:noFill/>
          <a:ln w="12700">
            <a:solidFill>
              <a:srgbClr val="141418"/>
            </a:solidFill>
            <a:prstDash val="solid"/>
          </a:ln>
        </p:spPr>
        <p:txBody>
          <a:bodyPr/>
          <a:p/>
        </p:txBody>
      </p:sp>
      <p:sp>
        <p:nvSpPr>
          <p:cNvPr id="21" name="Shape 19"/>
          <p:cNvSpPr/>
          <p:nvPr/>
        </p:nvSpPr>
        <p:spPr>
          <a:xfrm>
            <a:off x="11247120" y="0"/>
            <a:ext cx="2743200" cy="2743200"/>
          </a:xfrm>
          <a:prstGeom prst="line">
            <a:avLst/>
          </a:prstGeom>
          <a:noFill/>
          <a:ln w="12700">
            <a:solidFill>
              <a:srgbClr val="141418"/>
            </a:solidFill>
            <a:prstDash val="solid"/>
          </a:ln>
        </p:spPr>
        <p:txBody>
          <a:bodyPr/>
          <a:p/>
        </p:txBody>
      </p:sp>
      <p:sp>
        <p:nvSpPr>
          <p:cNvPr id="22" name="Shape 20"/>
          <p:cNvSpPr/>
          <p:nvPr/>
        </p:nvSpPr>
        <p:spPr>
          <a:xfrm>
            <a:off x="0" y="0"/>
            <a:ext cx="9144000" cy="54864"/>
          </a:xfrm>
          <a:prstGeom prst="rect">
            <a:avLst/>
          </a:prstGeom>
          <a:solidFill>
            <a:srgbClr val="C8A96E"/>
          </a:solidFill>
          <a:ln w="12700">
            <a:solidFill>
              <a:srgbClr val="C8A96E"/>
            </a:solidFill>
            <a:prstDash val="solid"/>
          </a:ln>
        </p:spPr>
        <p:txBody>
          <a:bodyPr/>
          <a:p/>
        </p:txBody>
      </p:sp>
      <p:pic>
        <p:nvPicPr>
          <p:cNvPr id="23" name="Image 0" descr="/mnt/user-data/uploads/VEKTOR-transparent.png"/>
          <p:cNvPicPr>
            <a:picLocks noChangeAspect="1"/>
          </p:cNvPicPr>
          <p:nvPr/>
        </p:nvPicPr>
        <p:blipFill>
          <a:blip r:embed="rId1"/>
          <a:stretch>
            <a:fillRect/>
          </a:stretch>
        </p:blipFill>
        <p:spPr>
          <a:xfrm>
            <a:off x="2926080" y="822960"/>
            <a:ext cx="3291840" cy="1152144"/>
          </a:xfrm>
          <a:prstGeom prst="rect">
            <a:avLst/>
          </a:prstGeom>
        </p:spPr>
      </p:pic>
      <p:sp>
        <p:nvSpPr>
          <p:cNvPr id="24" name="Text 21"/>
          <p:cNvSpPr/>
          <p:nvPr/>
        </p:nvSpPr>
        <p:spPr>
          <a:xfrm>
            <a:off x="457200" y="2286000"/>
            <a:ext cx="8229600" cy="228600"/>
          </a:xfrm>
          <a:prstGeom prst="rect">
            <a:avLst/>
          </a:prstGeom>
          <a:noFill/>
          <a:ln/>
        </p:spPr>
        <p:txBody>
          <a:bodyPr wrap="square" lIns="0" tIns="0" rIns="0" bIns="0" rtlCol="0" anchor="ctr"/>
          <a:lstStyle/>
          <a:p>
            <a:pPr algn="ctr" indent="0" marL="0">
              <a:buNone/>
            </a:pPr>
            <a:r>
              <a:rPr lang="en-US" sz="800" spc="500" kern="0" dirty="0">
                <a:solidFill>
                  <a:srgbClr val="9A9086"/>
                </a:solidFill>
                <a:latin typeface="Calibri" pitchFamily="34" charset="0"/>
                <a:ea typeface="Calibri" pitchFamily="34" charset="-122"/>
                <a:cs typeface="Calibri" pitchFamily="34" charset="-120"/>
              </a:rPr>
              <a:t>TECHNICAL DEEP DIVE</a:t>
            </a:r>
            <a:endParaRPr lang="en-US" sz="800" dirty="0"/>
          </a:p>
        </p:txBody>
      </p:sp>
      <p:sp>
        <p:nvSpPr>
          <p:cNvPr id="25" name="Shape 22"/>
          <p:cNvSpPr/>
          <p:nvPr/>
        </p:nvSpPr>
        <p:spPr>
          <a:xfrm>
            <a:off x="1371600" y="2578608"/>
            <a:ext cx="6400800" cy="0"/>
          </a:xfrm>
          <a:prstGeom prst="line">
            <a:avLst/>
          </a:prstGeom>
          <a:noFill/>
          <a:ln w="12700">
            <a:solidFill>
              <a:srgbClr val="C8A96E"/>
            </a:solidFill>
            <a:prstDash val="solid"/>
          </a:ln>
        </p:spPr>
        <p:txBody>
          <a:bodyPr/>
          <a:p/>
        </p:txBody>
      </p:sp>
      <p:sp>
        <p:nvSpPr>
          <p:cNvPr id="26" name="Text 23"/>
          <p:cNvSpPr/>
          <p:nvPr/>
        </p:nvSpPr>
        <p:spPr>
          <a:xfrm>
            <a:off x="457200" y="2697480"/>
            <a:ext cx="8229600" cy="914400"/>
          </a:xfrm>
          <a:prstGeom prst="rect">
            <a:avLst/>
          </a:prstGeom>
          <a:noFill/>
          <a:ln/>
        </p:spPr>
        <p:txBody>
          <a:bodyPr wrap="square" lIns="0" tIns="0" rIns="0" bIns="0" rtlCol="0" anchor="ctr"/>
          <a:lstStyle/>
          <a:p>
            <a:pPr algn="ctr" indent="0" marL="0">
              <a:buNone/>
            </a:pPr>
            <a:r>
              <a:rPr lang="en-US" sz="2800" b="1" dirty="0">
                <a:solidFill>
                  <a:srgbClr val="E8E8EC"/>
                </a:solidFill>
                <a:latin typeface="Trebuchet MS" pitchFamily="34" charset="0"/>
                <a:ea typeface="Trebuchet MS" pitchFamily="34" charset="-122"/>
                <a:cs typeface="Trebuchet MS" pitchFamily="34" charset="-120"/>
              </a:rPr>
              <a:t>One Size Fits None.</a:t>
            </a:r>
            <a:endParaRPr lang="en-US" sz="2800" dirty="0"/>
          </a:p>
        </p:txBody>
      </p:sp>
      <p:sp>
        <p:nvSpPr>
          <p:cNvPr id="27" name="Text 24"/>
          <p:cNvSpPr/>
          <p:nvPr/>
        </p:nvSpPr>
        <p:spPr>
          <a:xfrm>
            <a:off x="1097280" y="3730752"/>
            <a:ext cx="6949440" cy="457200"/>
          </a:xfrm>
          <a:prstGeom prst="rect">
            <a:avLst/>
          </a:prstGeom>
          <a:noFill/>
          <a:ln/>
        </p:spPr>
        <p:txBody>
          <a:bodyPr wrap="square" lIns="0" tIns="0" rIns="0" bIns="0" rtlCol="0" anchor="ctr"/>
          <a:lstStyle/>
          <a:p>
            <a:pPr algn="ctr" indent="0" marL="0">
              <a:buNone/>
            </a:pPr>
            <a:r>
              <a:rPr lang="en-US" sz="1100" i="1" dirty="0">
                <a:solidFill>
                  <a:srgbClr val="9A9086"/>
                </a:solidFill>
                <a:latin typeface="Calibri" pitchFamily="34" charset="0"/>
                <a:ea typeface="Calibri" pitchFamily="34" charset="-122"/>
                <a:cs typeface="Calibri" pitchFamily="34" charset="-120"/>
              </a:rPr>
              <a:t>The methodology, the signal architecture, and the infrastructure — for quant analysts, CIOs, and technical due diligence teams.</a:t>
            </a:r>
            <a:endParaRPr lang="en-US" sz="1100" dirty="0"/>
          </a:p>
        </p:txBody>
      </p:sp>
      <p:sp>
        <p:nvSpPr>
          <p:cNvPr id="29" name="Text 26"/>
          <p:cNvSpPr/>
          <p:nvPr/>
        </p:nvSpPr>
        <p:spPr>
          <a:xfrm>
            <a:off x="457200" y="4846320"/>
            <a:ext cx="8229600" cy="182880"/>
          </a:xfrm>
          <a:prstGeom prst="rect">
            <a:avLst/>
          </a:prstGeom>
          <a:noFill/>
          <a:ln/>
        </p:spPr>
        <p:txBody>
          <a:bodyPr wrap="square" lIns="0" tIns="0" rIns="0" bIns="0" rtlCol="0" anchor="ctr"/>
          <a:lstStyle/>
          <a:p>
            <a:pPr algn="ctr" indent="0" marL="0">
              <a:buNone/>
            </a:pPr>
            <a:r>
              <a:rPr lang="en-US" sz="650" dirty="0">
                <a:solidFill>
                  <a:srgbClr val="5A5A60"/>
                </a:solidFill>
                <a:latin typeface="Calibri" pitchFamily="34" charset="0"/>
                <a:ea typeface="Calibri" pitchFamily="34" charset="-122"/>
                <a:cs typeface="Calibri" pitchFamily="34" charset="-120"/>
              </a:rPr>
              <a:t>investpuppy.com  ·  contact@investpuppy.com  ·  For professional and institutional investors only</a:t>
            </a:r>
            <a:endParaRPr lang="en-US" sz="650" dirty="0"/>
          </a:p>
        </p:txBody>
      </p:sp>
      <p:pic>
        <p:nvPicPr>
          <p:cNvPr id="30" name="Picture 29" descr="IPHorizontalClear.png"/>
          <p:cNvPicPr>
            <a:picLocks noChangeAspect="1"/>
          </p:cNvPicPr>
          <p:nvPr/>
        </p:nvPicPr>
        <p:blipFill>
          <a:blip r:embed="rId4"/>
          <a:stretch>
            <a:fillRect/>
          </a:stretch>
        </p:blipFill>
        <p:spPr>
          <a:xfrm>
            <a:off x="7596000" y="4140000"/>
            <a:ext cx="1080000" cy="462130"/>
          </a:xfrm>
          <a:prstGeom prst="rect">
            <a:avLst/>
          </a:prstGeom>
        </p:spPr>
      </p:pic>
      <p:sp>
        <p:nvSpPr>
          <p:cNvPr id="31" name="TextBox 30"/>
          <p:cNvSpPr txBox="1"/>
          <p:nvPr/>
        </p:nvSpPr>
        <p:spPr>
          <a:xfrm>
            <a:off x="457200" y="3456000"/>
            <a:ext cx="8229600" cy="251999"/>
          </a:xfrm>
          <a:prstGeom prst="rect">
            <a:avLst/>
          </a:prstGeom>
          <a:noFill/>
        </p:spPr>
        <p:txBody>
          <a:bodyPr wrap="none">
            <a:spAutoFit/>
          </a:bodyPr>
          <a:lstStyle/>
          <a:p>
            <a:pPr algn="ctr"/>
            <a:r>
              <a:rPr sz="900" i="1">
                <a:solidFill>
                  <a:srgbClr val="9A9086"/>
                </a:solidFill>
                <a:latin typeface="Helvetica"/>
              </a:rPr>
              <a:t>Serious when it matters.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AGENDA</a:t>
            </a:r>
            <a:endParaRPr lang="en-US" sz="700" dirty="0"/>
          </a:p>
        </p:txBody>
      </p:sp>
      <p:sp>
        <p:nvSpPr>
          <p:cNvPr id="3" name="Text 1"/>
          <p:cNvSpPr/>
          <p:nvPr/>
        </p:nvSpPr>
        <p:spPr>
          <a:xfrm>
            <a:off x="365760" y="475488"/>
            <a:ext cx="8412480" cy="347472"/>
          </a:xfrm>
          <a:prstGeom prst="rect">
            <a:avLst/>
          </a:prstGeom>
          <a:noFill/>
          <a:ln/>
        </p:spPr>
        <p:txBody>
          <a:bodyPr wrap="square" lIns="0" tIns="0" rIns="0" bIns="0" rtlCol="0" anchor="ctr"/>
          <a:lstStyle/>
          <a:p>
            <a:pPr indent="0" marL="0">
              <a:buNone/>
            </a:pPr>
            <a:r>
              <a:rPr lang="en-US" sz="2000" b="1" dirty="0">
                <a:solidFill>
                  <a:srgbClr val="E8E8EC"/>
                </a:solidFill>
                <a:latin typeface="Trebuchet MS" pitchFamily="34" charset="0"/>
                <a:ea typeface="Trebuchet MS" pitchFamily="34" charset="-122"/>
                <a:cs typeface="Trebuchet MS" pitchFamily="34" charset="-120"/>
              </a:rPr>
              <a:t>Four areas. Ninety minutes.</a:t>
            </a:r>
            <a:endParaRPr lang="en-US" sz="2000" dirty="0"/>
          </a:p>
        </p:txBody>
      </p:sp>
      <p:sp>
        <p:nvSpPr>
          <p:cNvPr id="4" name="Shape 2"/>
          <p:cNvSpPr/>
          <p:nvPr/>
        </p:nvSpPr>
        <p:spPr>
          <a:xfrm>
            <a:off x="365760" y="1005840"/>
            <a:ext cx="8412480" cy="822960"/>
          </a:xfrm>
          <a:prstGeom prst="rect">
            <a:avLst/>
          </a:prstGeom>
          <a:solidFill>
            <a:srgbClr val="0D0D12"/>
          </a:solidFill>
          <a:ln w="12700">
            <a:solidFill>
              <a:srgbClr val="242428"/>
            </a:solidFill>
            <a:prstDash val="solid"/>
          </a:ln>
        </p:spPr>
        <p:txBody>
          <a:bodyPr/>
          <a:p/>
        </p:txBody>
      </p:sp>
      <p:sp>
        <p:nvSpPr>
          <p:cNvPr id="5" name="Shape 3"/>
          <p:cNvSpPr/>
          <p:nvPr/>
        </p:nvSpPr>
        <p:spPr>
          <a:xfrm>
            <a:off x="365760" y="1005840"/>
            <a:ext cx="8412480" cy="32004"/>
          </a:xfrm>
          <a:prstGeom prst="rect">
            <a:avLst/>
          </a:prstGeom>
          <a:solidFill>
            <a:srgbClr val="C8A96E"/>
          </a:solidFill>
          <a:ln w="12700">
            <a:solidFill>
              <a:srgbClr val="C8A96E"/>
            </a:solidFill>
            <a:prstDash val="solid"/>
          </a:ln>
        </p:spPr>
        <p:txBody>
          <a:bodyPr/>
          <a:p/>
        </p:txBody>
      </p:sp>
      <p:sp>
        <p:nvSpPr>
          <p:cNvPr id="6" name="Text 4"/>
          <p:cNvSpPr/>
          <p:nvPr/>
        </p:nvSpPr>
        <p:spPr>
          <a:xfrm>
            <a:off x="502920" y="1097280"/>
            <a:ext cx="457200" cy="530352"/>
          </a:xfrm>
          <a:prstGeom prst="rect">
            <a:avLst/>
          </a:prstGeom>
          <a:noFill/>
          <a:ln/>
        </p:spPr>
        <p:txBody>
          <a:bodyPr wrap="square" lIns="0" tIns="0" rIns="0" bIns="0" rtlCol="0" anchor="ctr"/>
          <a:lstStyle/>
          <a:p>
            <a:pPr indent="0" marL="0">
              <a:buNone/>
            </a:pPr>
            <a:r>
              <a:rPr lang="en-US" sz="1400" b="1" dirty="0">
                <a:solidFill>
                  <a:srgbClr val="C8A96E"/>
                </a:solidFill>
                <a:latin typeface="Consolas" pitchFamily="34" charset="0"/>
                <a:ea typeface="Consolas" pitchFamily="34" charset="-122"/>
                <a:cs typeface="Consolas" pitchFamily="34" charset="-120"/>
              </a:rPr>
              <a:t>01</a:t>
            </a:r>
            <a:endParaRPr lang="en-US" sz="1400" dirty="0"/>
          </a:p>
        </p:txBody>
      </p:sp>
      <p:sp>
        <p:nvSpPr>
          <p:cNvPr id="7" name="Text 5"/>
          <p:cNvSpPr/>
          <p:nvPr/>
        </p:nvSpPr>
        <p:spPr>
          <a:xfrm>
            <a:off x="1024128" y="1115568"/>
            <a:ext cx="2926080" cy="292608"/>
          </a:xfrm>
          <a:prstGeom prst="rect">
            <a:avLst/>
          </a:prstGeom>
          <a:noFill/>
          <a:ln/>
        </p:spPr>
        <p:txBody>
          <a:bodyPr wrap="square" lIns="0" tIns="0" rIns="0" bIns="0" rtlCol="0" anchor="ctr"/>
          <a:lstStyle/>
          <a:p>
            <a:pPr indent="0" marL="0">
              <a:buNone/>
            </a:pPr>
            <a:r>
              <a:rPr lang="en-US" sz="1200" b="1" dirty="0">
                <a:solidFill>
                  <a:srgbClr val="E8E8EC"/>
                </a:solidFill>
                <a:latin typeface="Trebuchet MS" pitchFamily="34" charset="0"/>
                <a:ea typeface="Trebuchet MS" pitchFamily="34" charset="-122"/>
                <a:cs typeface="Trebuchet MS" pitchFamily="34" charset="-120"/>
              </a:rPr>
              <a:t>Portfolio construction</a:t>
            </a:r>
            <a:endParaRPr lang="en-US" sz="1200" dirty="0"/>
          </a:p>
        </p:txBody>
      </p:sp>
      <p:sp>
        <p:nvSpPr>
          <p:cNvPr id="8" name="Text 6"/>
          <p:cNvSpPr/>
          <p:nvPr/>
        </p:nvSpPr>
        <p:spPr>
          <a:xfrm>
            <a:off x="1024128" y="1444752"/>
            <a:ext cx="7498080" cy="274320"/>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Efficient frontier optimisation (10,000 portfolio configurations), correlation verification.</a:t>
            </a:r>
            <a:endParaRPr lang="en-US" sz="950" dirty="0"/>
          </a:p>
        </p:txBody>
      </p:sp>
      <p:sp>
        <p:nvSpPr>
          <p:cNvPr id="9" name="Shape 7"/>
          <p:cNvSpPr/>
          <p:nvPr/>
        </p:nvSpPr>
        <p:spPr>
          <a:xfrm>
            <a:off x="365760" y="1975104"/>
            <a:ext cx="8412480" cy="822960"/>
          </a:xfrm>
          <a:prstGeom prst="rect">
            <a:avLst/>
          </a:prstGeom>
          <a:solidFill>
            <a:srgbClr val="0D0D12"/>
          </a:solidFill>
          <a:ln w="12700">
            <a:solidFill>
              <a:srgbClr val="242428"/>
            </a:solidFill>
            <a:prstDash val="solid"/>
          </a:ln>
        </p:spPr>
        <p:txBody>
          <a:bodyPr/>
          <a:p/>
        </p:txBody>
      </p:sp>
      <p:sp>
        <p:nvSpPr>
          <p:cNvPr id="10" name="Shape 8"/>
          <p:cNvSpPr/>
          <p:nvPr/>
        </p:nvSpPr>
        <p:spPr>
          <a:xfrm>
            <a:off x="365760" y="1975104"/>
            <a:ext cx="8412480" cy="32004"/>
          </a:xfrm>
          <a:prstGeom prst="rect">
            <a:avLst/>
          </a:prstGeom>
          <a:solidFill>
            <a:srgbClr val="C8A96E"/>
          </a:solidFill>
          <a:ln w="12700">
            <a:solidFill>
              <a:srgbClr val="C8A96E"/>
            </a:solidFill>
            <a:prstDash val="solid"/>
          </a:ln>
        </p:spPr>
        <p:txBody>
          <a:bodyPr/>
          <a:p/>
        </p:txBody>
      </p:sp>
      <p:sp>
        <p:nvSpPr>
          <p:cNvPr id="11" name="Text 9"/>
          <p:cNvSpPr/>
          <p:nvPr/>
        </p:nvSpPr>
        <p:spPr>
          <a:xfrm>
            <a:off x="502920" y="2066544"/>
            <a:ext cx="457200" cy="530352"/>
          </a:xfrm>
          <a:prstGeom prst="rect">
            <a:avLst/>
          </a:prstGeom>
          <a:noFill/>
          <a:ln/>
        </p:spPr>
        <p:txBody>
          <a:bodyPr wrap="square" lIns="0" tIns="0" rIns="0" bIns="0" rtlCol="0" anchor="ctr"/>
          <a:lstStyle/>
          <a:p>
            <a:pPr indent="0" marL="0">
              <a:buNone/>
            </a:pPr>
            <a:r>
              <a:rPr lang="en-US" sz="1400" b="1" dirty="0">
                <a:solidFill>
                  <a:srgbClr val="C8A96E"/>
                </a:solidFill>
                <a:latin typeface="Consolas" pitchFamily="34" charset="0"/>
                <a:ea typeface="Consolas" pitchFamily="34" charset="-122"/>
                <a:cs typeface="Consolas" pitchFamily="34" charset="-120"/>
              </a:rPr>
              <a:t>02</a:t>
            </a:r>
            <a:endParaRPr lang="en-US" sz="1400" dirty="0"/>
          </a:p>
        </p:txBody>
      </p:sp>
      <p:sp>
        <p:nvSpPr>
          <p:cNvPr id="12" name="Text 10"/>
          <p:cNvSpPr/>
          <p:nvPr/>
        </p:nvSpPr>
        <p:spPr>
          <a:xfrm>
            <a:off x="1024128" y="2084832"/>
            <a:ext cx="2926080" cy="292608"/>
          </a:xfrm>
          <a:prstGeom prst="rect">
            <a:avLst/>
          </a:prstGeom>
          <a:noFill/>
          <a:ln/>
        </p:spPr>
        <p:txBody>
          <a:bodyPr wrap="square" lIns="0" tIns="0" rIns="0" bIns="0" rtlCol="0" anchor="ctr"/>
          <a:lstStyle/>
          <a:p>
            <a:pPr indent="0" marL="0">
              <a:buNone/>
            </a:pPr>
            <a:r>
              <a:rPr lang="en-US" sz="1200" b="1" dirty="0">
                <a:solidFill>
                  <a:srgbClr val="E8E8EC"/>
                </a:solidFill>
                <a:latin typeface="Trebuchet MS" pitchFamily="34" charset="0"/>
                <a:ea typeface="Trebuchet MS" pitchFamily="34" charset="-122"/>
                <a:cs typeface="Trebuchet MS" pitchFamily="34" charset="-120"/>
              </a:rPr>
              <a:t>Signal architecture</a:t>
            </a:r>
            <a:endParaRPr lang="en-US" sz="1200" dirty="0"/>
          </a:p>
        </p:txBody>
      </p:sp>
      <p:sp>
        <p:nvSpPr>
          <p:cNvPr id="13" name="Text 11"/>
          <p:cNvSpPr/>
          <p:nvPr/>
        </p:nvSpPr>
        <p:spPr>
          <a:xfrm>
            <a:off x="1024128" y="2414016"/>
            <a:ext cx="7498080" cy="274320"/>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Six indicators, grid search, XGBoost validation, per-instrument selection.</a:t>
            </a:r>
            <a:endParaRPr lang="en-US" sz="950" dirty="0"/>
          </a:p>
        </p:txBody>
      </p:sp>
      <p:sp>
        <p:nvSpPr>
          <p:cNvPr id="14" name="Shape 12"/>
          <p:cNvSpPr/>
          <p:nvPr/>
        </p:nvSpPr>
        <p:spPr>
          <a:xfrm>
            <a:off x="365760" y="2944368"/>
            <a:ext cx="8412480" cy="822960"/>
          </a:xfrm>
          <a:prstGeom prst="rect">
            <a:avLst/>
          </a:prstGeom>
          <a:solidFill>
            <a:srgbClr val="0D0D12"/>
          </a:solidFill>
          <a:ln w="12700">
            <a:solidFill>
              <a:srgbClr val="242428"/>
            </a:solidFill>
            <a:prstDash val="solid"/>
          </a:ln>
        </p:spPr>
        <p:txBody>
          <a:bodyPr/>
          <a:p/>
        </p:txBody>
      </p:sp>
      <p:sp>
        <p:nvSpPr>
          <p:cNvPr id="15" name="Shape 13"/>
          <p:cNvSpPr/>
          <p:nvPr/>
        </p:nvSpPr>
        <p:spPr>
          <a:xfrm>
            <a:off x="365760" y="2944368"/>
            <a:ext cx="8412480" cy="32004"/>
          </a:xfrm>
          <a:prstGeom prst="rect">
            <a:avLst/>
          </a:prstGeom>
          <a:solidFill>
            <a:srgbClr val="C8A96E"/>
          </a:solidFill>
          <a:ln w="12700">
            <a:solidFill>
              <a:srgbClr val="C8A96E"/>
            </a:solidFill>
            <a:prstDash val="solid"/>
          </a:ln>
        </p:spPr>
        <p:txBody>
          <a:bodyPr/>
          <a:p/>
        </p:txBody>
      </p:sp>
      <p:sp>
        <p:nvSpPr>
          <p:cNvPr id="16" name="Text 14"/>
          <p:cNvSpPr/>
          <p:nvPr/>
        </p:nvSpPr>
        <p:spPr>
          <a:xfrm>
            <a:off x="502920" y="3035808"/>
            <a:ext cx="457200" cy="530352"/>
          </a:xfrm>
          <a:prstGeom prst="rect">
            <a:avLst/>
          </a:prstGeom>
          <a:noFill/>
          <a:ln/>
        </p:spPr>
        <p:txBody>
          <a:bodyPr wrap="square" lIns="0" tIns="0" rIns="0" bIns="0" rtlCol="0" anchor="ctr"/>
          <a:lstStyle/>
          <a:p>
            <a:pPr indent="0" marL="0">
              <a:buNone/>
            </a:pPr>
            <a:r>
              <a:rPr lang="en-US" sz="1400" b="1" dirty="0">
                <a:solidFill>
                  <a:srgbClr val="C8A96E"/>
                </a:solidFill>
                <a:latin typeface="Consolas" pitchFamily="34" charset="0"/>
                <a:ea typeface="Consolas" pitchFamily="34" charset="-122"/>
                <a:cs typeface="Consolas" pitchFamily="34" charset="-120"/>
              </a:rPr>
              <a:t>03</a:t>
            </a:r>
            <a:endParaRPr lang="en-US" sz="1400" dirty="0"/>
          </a:p>
        </p:txBody>
      </p:sp>
      <p:sp>
        <p:nvSpPr>
          <p:cNvPr id="17" name="Text 15"/>
          <p:cNvSpPr/>
          <p:nvPr/>
        </p:nvSpPr>
        <p:spPr>
          <a:xfrm>
            <a:off x="1024128" y="3054096"/>
            <a:ext cx="2926080" cy="292608"/>
          </a:xfrm>
          <a:prstGeom prst="rect">
            <a:avLst/>
          </a:prstGeom>
          <a:noFill/>
          <a:ln/>
        </p:spPr>
        <p:txBody>
          <a:bodyPr wrap="square" lIns="0" tIns="0" rIns="0" bIns="0" rtlCol="0" anchor="ctr"/>
          <a:lstStyle/>
          <a:p>
            <a:pPr indent="0" marL="0">
              <a:buNone/>
            </a:pPr>
            <a:r>
              <a:rPr lang="en-US" sz="1200" b="1" dirty="0">
                <a:solidFill>
                  <a:srgbClr val="E8E8EC"/>
                </a:solidFill>
                <a:latin typeface="Trebuchet MS" pitchFamily="34" charset="0"/>
                <a:ea typeface="Trebuchet MS" pitchFamily="34" charset="-122"/>
                <a:cs typeface="Trebuchet MS" pitchFamily="34" charset="-120"/>
              </a:rPr>
              <a:t>Capital allocation</a:t>
            </a:r>
            <a:endParaRPr lang="en-US" sz="1200" dirty="0"/>
          </a:p>
        </p:txBody>
      </p:sp>
      <p:sp>
        <p:nvSpPr>
          <p:cNvPr id="18" name="Text 16"/>
          <p:cNvSpPr/>
          <p:nvPr/>
        </p:nvSpPr>
        <p:spPr>
          <a:xfrm>
            <a:off x="1024128" y="3383280"/>
            <a:ext cx="7498080" cy="274320"/>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Weight-to-position translation, lot rounding, 99.94%+ efficiency.</a:t>
            </a:r>
            <a:endParaRPr lang="en-US" sz="950" dirty="0"/>
          </a:p>
        </p:txBody>
      </p:sp>
      <p:sp>
        <p:nvSpPr>
          <p:cNvPr id="19" name="Shape 17"/>
          <p:cNvSpPr/>
          <p:nvPr/>
        </p:nvSpPr>
        <p:spPr>
          <a:xfrm>
            <a:off x="365760" y="3913632"/>
            <a:ext cx="8412480" cy="822960"/>
          </a:xfrm>
          <a:prstGeom prst="rect">
            <a:avLst/>
          </a:prstGeom>
          <a:solidFill>
            <a:srgbClr val="0D0D12"/>
          </a:solidFill>
          <a:ln w="12700">
            <a:solidFill>
              <a:srgbClr val="242428"/>
            </a:solidFill>
            <a:prstDash val="solid"/>
          </a:ln>
        </p:spPr>
        <p:txBody>
          <a:bodyPr/>
          <a:p/>
        </p:txBody>
      </p:sp>
      <p:sp>
        <p:nvSpPr>
          <p:cNvPr id="20" name="Shape 18"/>
          <p:cNvSpPr/>
          <p:nvPr/>
        </p:nvSpPr>
        <p:spPr>
          <a:xfrm>
            <a:off x="365760" y="3913632"/>
            <a:ext cx="8412480" cy="32004"/>
          </a:xfrm>
          <a:prstGeom prst="rect">
            <a:avLst/>
          </a:prstGeom>
          <a:solidFill>
            <a:srgbClr val="C8A96E"/>
          </a:solidFill>
          <a:ln w="12700">
            <a:solidFill>
              <a:srgbClr val="C8A96E"/>
            </a:solidFill>
            <a:prstDash val="solid"/>
          </a:ln>
        </p:spPr>
        <p:txBody>
          <a:bodyPr/>
          <a:p/>
        </p:txBody>
      </p:sp>
      <p:sp>
        <p:nvSpPr>
          <p:cNvPr id="21" name="Text 19"/>
          <p:cNvSpPr/>
          <p:nvPr/>
        </p:nvSpPr>
        <p:spPr>
          <a:xfrm>
            <a:off x="502920" y="4005072"/>
            <a:ext cx="457200" cy="530352"/>
          </a:xfrm>
          <a:prstGeom prst="rect">
            <a:avLst/>
          </a:prstGeom>
          <a:noFill/>
          <a:ln/>
        </p:spPr>
        <p:txBody>
          <a:bodyPr wrap="square" lIns="0" tIns="0" rIns="0" bIns="0" rtlCol="0" anchor="ctr"/>
          <a:lstStyle/>
          <a:p>
            <a:pPr indent="0" marL="0">
              <a:buNone/>
            </a:pPr>
            <a:r>
              <a:rPr lang="en-US" sz="1400" b="1" dirty="0">
                <a:solidFill>
                  <a:srgbClr val="C8A96E"/>
                </a:solidFill>
                <a:latin typeface="Consolas" pitchFamily="34" charset="0"/>
                <a:ea typeface="Consolas" pitchFamily="34" charset="-122"/>
                <a:cs typeface="Consolas" pitchFamily="34" charset="-120"/>
              </a:rPr>
              <a:t>04</a:t>
            </a:r>
            <a:endParaRPr lang="en-US" sz="1400" dirty="0"/>
          </a:p>
        </p:txBody>
      </p:sp>
      <p:sp>
        <p:nvSpPr>
          <p:cNvPr id="22" name="Text 20"/>
          <p:cNvSpPr/>
          <p:nvPr/>
        </p:nvSpPr>
        <p:spPr>
          <a:xfrm>
            <a:off x="1024128" y="4023360"/>
            <a:ext cx="2926080" cy="292608"/>
          </a:xfrm>
          <a:prstGeom prst="rect">
            <a:avLst/>
          </a:prstGeom>
          <a:noFill/>
          <a:ln/>
        </p:spPr>
        <p:txBody>
          <a:bodyPr wrap="square" lIns="0" tIns="0" rIns="0" bIns="0" rtlCol="0" anchor="ctr"/>
          <a:lstStyle/>
          <a:p>
            <a:pPr indent="0" marL="0">
              <a:buNone/>
            </a:pPr>
            <a:r>
              <a:rPr lang="en-US" sz="1200" b="1" dirty="0">
                <a:solidFill>
                  <a:srgbClr val="E8E8EC"/>
                </a:solidFill>
                <a:latin typeface="Trebuchet MS" pitchFamily="34" charset="0"/>
                <a:ea typeface="Trebuchet MS" pitchFamily="34" charset="-122"/>
                <a:cs typeface="Trebuchet MS" pitchFamily="34" charset="-120"/>
              </a:rPr>
              <a:t>How to evaluate the outputs</a:t>
            </a:r>
            <a:endParaRPr lang="en-US" sz="1200" dirty="0"/>
          </a:p>
        </p:txBody>
      </p:sp>
      <p:sp>
        <p:nvSpPr>
          <p:cNvPr id="23" name="Text 21"/>
          <p:cNvSpPr/>
          <p:nvPr/>
        </p:nvSpPr>
        <p:spPr>
          <a:xfrm>
            <a:off x="1024128" y="4352544"/>
            <a:ext cx="7498080" cy="274320"/>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Sharpe ratio, drawdown, benchmark comparison — reading Vektor's strategy results.</a:t>
            </a:r>
            <a:endParaRPr lang="en-US" sz="950" dirty="0"/>
          </a:p>
        </p:txBody>
      </p:sp>
      <p:sp>
        <p:nvSpPr>
          <p:cNvPr id="24" name="Text 22"/>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25" name="Picture 24"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UNIVERSE SCREENING</a:t>
            </a:r>
            <a:endParaRPr lang="en-US" sz="700" dirty="0"/>
          </a:p>
        </p:txBody>
      </p:sp>
      <p:sp>
        <p:nvSpPr>
          <p:cNvPr id="3" name="Text 1"/>
          <p:cNvSpPr/>
          <p:nvPr/>
        </p:nvSpPr>
        <p:spPr>
          <a:xfrm>
            <a:off x="365760" y="475488"/>
            <a:ext cx="841248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From 500+ instruments to the optimal portfolio.</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Vektor applies three layers of systematic screening to any listed equity universe. Liquidity filter: minimum average daily volume threshold. Sector filter: configurable sector membership criteria. Dividend continuity: minimum years of consecutive dividend payment. The screened universe is the input to portfolio optimisation — not the final portfolio. Instrument selection remains a human decision.</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EFFICIENT FRONTIER OPTIMISATION</a:t>
            </a:r>
            <a:endParaRPr lang="en-US" sz="700" dirty="0"/>
          </a:p>
        </p:txBody>
      </p:sp>
      <p:sp>
        <p:nvSpPr>
          <p:cNvPr id="3" name="Text 1"/>
          <p:cNvSpPr/>
          <p:nvPr/>
        </p:nvSpPr>
        <p:spPr>
          <a:xfrm>
            <a:off x="365760" y="475488"/>
            <a:ext cx="640080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10,000 portfolio configurations. One MPT-optimised allocation.</a:t>
            </a:r>
            <a:endParaRPr lang="en-US" sz="1800" dirty="0"/>
          </a:p>
        </p:txBody>
      </p:sp>
      <p:sp>
        <p:nvSpPr>
          <p:cNvPr id="4" name="Shape 2"/>
          <p:cNvSpPr/>
          <p:nvPr/>
        </p:nvSpPr>
        <p:spPr>
          <a:xfrm>
            <a:off x="6949440" y="347472"/>
            <a:ext cx="1828800" cy="1024128"/>
          </a:xfrm>
          <a:prstGeom prst="rect">
            <a:avLst/>
          </a:prstGeom>
          <a:solidFill>
            <a:srgbClr val="0D0D12"/>
          </a:solidFill>
          <a:ln w="12700">
            <a:solidFill>
              <a:srgbClr val="242428"/>
            </a:solidFill>
            <a:prstDash val="solid"/>
          </a:ln>
        </p:spPr>
        <p:txBody>
          <a:bodyPr/>
          <a:p/>
        </p:txBody>
      </p:sp>
      <p:sp>
        <p:nvSpPr>
          <p:cNvPr id="5" name="Shape 3"/>
          <p:cNvSpPr/>
          <p:nvPr/>
        </p:nvSpPr>
        <p:spPr>
          <a:xfrm>
            <a:off x="6949440" y="347472"/>
            <a:ext cx="1828800" cy="32004"/>
          </a:xfrm>
          <a:prstGeom prst="rect">
            <a:avLst/>
          </a:prstGeom>
          <a:solidFill>
            <a:srgbClr val="C8A96E"/>
          </a:solidFill>
          <a:ln w="12700">
            <a:solidFill>
              <a:srgbClr val="C8A96E"/>
            </a:solidFill>
            <a:prstDash val="solid"/>
          </a:ln>
        </p:spPr>
        <p:txBody>
          <a:bodyPr/>
          <a:p/>
        </p:txBody>
      </p:sp>
      <p:sp>
        <p:nvSpPr>
          <p:cNvPr id="6" name="Text 4"/>
          <p:cNvSpPr/>
          <p:nvPr/>
        </p:nvSpPr>
        <p:spPr>
          <a:xfrm>
            <a:off x="6949440" y="475488"/>
            <a:ext cx="1828800" cy="566928"/>
          </a:xfrm>
          <a:prstGeom prst="rect">
            <a:avLst/>
          </a:prstGeom>
          <a:noFill/>
          <a:ln/>
        </p:spPr>
        <p:txBody>
          <a:bodyPr wrap="square" lIns="0" tIns="0" rIns="0" bIns="0" rtlCol="0" anchor="ctr"/>
          <a:lstStyle/>
          <a:p>
            <a:pPr algn="ctr" indent="0" marL="0">
              <a:buNone/>
            </a:pPr>
            <a:r>
              <a:rPr lang="en-US" sz="2600" b="1" dirty="0">
                <a:solidFill>
                  <a:srgbClr val="C8A96E"/>
                </a:solidFill>
                <a:latin typeface="Trebuchet MS" pitchFamily="34" charset="0"/>
                <a:ea typeface="Trebuchet MS" pitchFamily="34" charset="-122"/>
                <a:cs typeface="Trebuchet MS" pitchFamily="34" charset="-120"/>
              </a:rPr>
              <a:t>10,000</a:t>
            </a:r>
            <a:endParaRPr lang="en-US" sz="2600" dirty="0"/>
          </a:p>
        </p:txBody>
      </p:sp>
      <p:sp>
        <p:nvSpPr>
          <p:cNvPr id="7" name="Text 5"/>
          <p:cNvSpPr/>
          <p:nvPr/>
        </p:nvSpPr>
        <p:spPr>
          <a:xfrm>
            <a:off x="7022592" y="1060704"/>
            <a:ext cx="1682496" cy="237744"/>
          </a:xfrm>
          <a:prstGeom prst="rect">
            <a:avLst/>
          </a:prstGeom>
          <a:noFill/>
          <a:ln/>
        </p:spPr>
        <p:txBody>
          <a:bodyPr wrap="square" lIns="0" tIns="0" rIns="0" bIns="0" rtlCol="0" anchor="ctr"/>
          <a:lstStyle/>
          <a:p>
            <a:pPr algn="ctr" indent="0" marL="0">
              <a:buNone/>
            </a:pPr>
            <a:r>
              <a:rPr lang="en-US" sz="750" dirty="0">
                <a:solidFill>
                  <a:srgbClr val="9A9086"/>
                </a:solidFill>
                <a:latin typeface="Calibri" pitchFamily="34" charset="0"/>
                <a:ea typeface="Calibri" pitchFamily="34" charset="-122"/>
                <a:cs typeface="Calibri" pitchFamily="34" charset="-120"/>
              </a:rPr>
              <a:t>portfolio configurations per strategy</a:t>
            </a:r>
            <a:endParaRPr lang="en-US" sz="750" dirty="0"/>
          </a:p>
        </p:txBody>
      </p:sp>
      <p:sp>
        <p:nvSpPr>
          <p:cNvPr id="8" name="Shape 6"/>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9" name="Shape 7"/>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10" name="Text 8"/>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For each strategy, Vektor generates 10,000 random portfolio weight combinations to map the feasible risk-return space. Each combination is evaluated on annualised return, volatility, and Sharpe ratio. The resulting scatter plots the empirical efficient frontier — the set of portfolios that maximise return for each level of risk. Modern Portfolio Theory then identifies the max-Sharpe portfolio: the allocation that produces the highest ratio of excess return to standard deviation. This is the target allocation.</a:t>
            </a:r>
            <a:endParaRPr lang="en-US" sz="900" dirty="0"/>
          </a:p>
        </p:txBody>
      </p:sp>
      <p:sp>
        <p:nvSpPr>
          <p:cNvPr id="11" name="Text 9"/>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12" name="Picture 11"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EFFICIENT FRONTIER</a:t>
            </a:r>
            <a:endParaRPr lang="en-US" sz="700" dirty="0"/>
          </a:p>
        </p:txBody>
      </p:sp>
      <p:sp>
        <p:nvSpPr>
          <p:cNvPr id="3" name="Text 1"/>
          <p:cNvSpPr/>
          <p:nvPr/>
        </p:nvSpPr>
        <p:spPr>
          <a:xfrm>
            <a:off x="365760" y="475488"/>
            <a:ext cx="841248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The geometry of optimal allocation.</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The efficient frontier is generated by the portfolio configuration process. Every point on the frontier represents a portfolio that cannot be improved — no reallocation produces more return at the same risk level. The max-Sharpe point (marked in gold) is the portfolio where the ratio of excess return to volatility is maximised by Modern Portfolio Theory. This is Vektor’s target allocation before lot-size rounding. The frontier is visualised for every strategy build and presented to the Portfolio Manager at the approval stage.</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CORRELATION VERIFICATION</a:t>
            </a:r>
            <a:endParaRPr lang="en-US" sz="700" dirty="0"/>
          </a:p>
        </p:txBody>
      </p:sp>
      <p:sp>
        <p:nvSpPr>
          <p:cNvPr id="3" name="Text 1"/>
          <p:cNvSpPr/>
          <p:nvPr/>
        </p:nvSpPr>
        <p:spPr>
          <a:xfrm>
            <a:off x="365760" y="475488"/>
            <a:ext cx="640080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Diversification as a property, not a claim.</a:t>
            </a:r>
            <a:endParaRPr lang="en-US" sz="1800" dirty="0"/>
          </a:p>
        </p:txBody>
      </p:sp>
      <p:sp>
        <p:nvSpPr>
          <p:cNvPr id="4" name="Shape 2"/>
          <p:cNvSpPr/>
          <p:nvPr/>
        </p:nvSpPr>
        <p:spPr>
          <a:xfrm>
            <a:off x="6949440" y="347472"/>
            <a:ext cx="1828800" cy="1024128"/>
          </a:xfrm>
          <a:prstGeom prst="rect">
            <a:avLst/>
          </a:prstGeom>
          <a:solidFill>
            <a:srgbClr val="0D0D12"/>
          </a:solidFill>
          <a:ln w="12700">
            <a:solidFill>
              <a:srgbClr val="242428"/>
            </a:solidFill>
            <a:prstDash val="solid"/>
          </a:ln>
        </p:spPr>
        <p:txBody>
          <a:bodyPr/>
          <a:p/>
        </p:txBody>
      </p:sp>
      <p:sp>
        <p:nvSpPr>
          <p:cNvPr id="5" name="Shape 3"/>
          <p:cNvSpPr/>
          <p:nvPr/>
        </p:nvSpPr>
        <p:spPr>
          <a:xfrm>
            <a:off x="6949440" y="347472"/>
            <a:ext cx="1828800" cy="32004"/>
          </a:xfrm>
          <a:prstGeom prst="rect">
            <a:avLst/>
          </a:prstGeom>
          <a:solidFill>
            <a:srgbClr val="C8A96E"/>
          </a:solidFill>
          <a:ln w="12700">
            <a:solidFill>
              <a:srgbClr val="C8A96E"/>
            </a:solidFill>
            <a:prstDash val="solid"/>
          </a:ln>
        </p:spPr>
        <p:txBody>
          <a:bodyPr/>
          <a:p/>
        </p:txBody>
      </p:sp>
      <p:sp>
        <p:nvSpPr>
          <p:cNvPr id="6" name="Text 4"/>
          <p:cNvSpPr/>
          <p:nvPr/>
        </p:nvSpPr>
        <p:spPr>
          <a:xfrm>
            <a:off x="6949440" y="475488"/>
            <a:ext cx="1828800" cy="566928"/>
          </a:xfrm>
          <a:prstGeom prst="rect">
            <a:avLst/>
          </a:prstGeom>
          <a:noFill/>
          <a:ln/>
        </p:spPr>
        <p:txBody>
          <a:bodyPr wrap="square" lIns="0" tIns="0" rIns="0" bIns="0" rtlCol="0" anchor="ctr"/>
          <a:lstStyle/>
          <a:p>
            <a:pPr algn="ctr" indent="0" marL="0">
              <a:buNone/>
            </a:pPr>
            <a:r>
              <a:rPr lang="en-US" sz="2600" b="1" dirty="0">
                <a:solidFill>
                  <a:srgbClr val="C8A96E"/>
                </a:solidFill>
                <a:latin typeface="Trebuchet MS" pitchFamily="34" charset="0"/>
                <a:ea typeface="Trebuchet MS" pitchFamily="34" charset="-122"/>
                <a:cs typeface="Trebuchet MS" pitchFamily="34" charset="-120"/>
              </a:rPr>
              <a:t>&lt; 0.7</a:t>
            </a:r>
            <a:endParaRPr lang="en-US" sz="2600" dirty="0"/>
          </a:p>
        </p:txBody>
      </p:sp>
      <p:sp>
        <p:nvSpPr>
          <p:cNvPr id="7" name="Text 5"/>
          <p:cNvSpPr/>
          <p:nvPr/>
        </p:nvSpPr>
        <p:spPr>
          <a:xfrm>
            <a:off x="7022592" y="1060704"/>
            <a:ext cx="1682496" cy="237744"/>
          </a:xfrm>
          <a:prstGeom prst="rect">
            <a:avLst/>
          </a:prstGeom>
          <a:noFill/>
          <a:ln/>
        </p:spPr>
        <p:txBody>
          <a:bodyPr wrap="square" lIns="0" tIns="0" rIns="0" bIns="0" rtlCol="0" anchor="ctr"/>
          <a:lstStyle/>
          <a:p>
            <a:pPr algn="ctr" indent="0" marL="0">
              <a:buNone/>
            </a:pPr>
            <a:r>
              <a:rPr lang="en-US" sz="750" dirty="0">
                <a:solidFill>
                  <a:srgbClr val="9A9086"/>
                </a:solidFill>
                <a:latin typeface="Calibri" pitchFamily="34" charset="0"/>
                <a:ea typeface="Calibri" pitchFamily="34" charset="-122"/>
                <a:cs typeface="Calibri" pitchFamily="34" charset="-120"/>
              </a:rPr>
              <a:t>target pairwise correlation</a:t>
            </a:r>
            <a:endParaRPr lang="en-US" sz="750" dirty="0"/>
          </a:p>
        </p:txBody>
      </p:sp>
      <p:sp>
        <p:nvSpPr>
          <p:cNvPr id="8" name="Shape 6"/>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9" name="Shape 7"/>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10" name="Text 8"/>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After the max-Sharpe allocation is identified, Vektor computes the full pairwise correlation matrix for the selected instruments. High correlation between instruments means the portfolio is effectively less diversified than the instrument count suggests — a portfolio of ten instruments with average pairwise correlation of 0.85 is closer to a concentrated position than a diversified one. Correlation matrix verification is a required step before Portfolio Manager approval. Instruments with pairwise correlation above the configured threshold are flagged.</a:t>
            </a:r>
            <a:endParaRPr lang="en-US" sz="900" dirty="0"/>
          </a:p>
        </p:txBody>
      </p:sp>
      <p:sp>
        <p:nvSpPr>
          <p:cNvPr id="11" name="Text 9"/>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12" name="Picture 11"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SIGNAL ARCHITECTURE</a:t>
            </a:r>
            <a:endParaRPr lang="en-US" sz="700" dirty="0"/>
          </a:p>
        </p:txBody>
      </p:sp>
      <p:sp>
        <p:nvSpPr>
          <p:cNvPr id="3" name="Text 1"/>
          <p:cNvSpPr/>
          <p:nvPr/>
        </p:nvSpPr>
        <p:spPr>
          <a:xfrm>
            <a:off x="365760" y="475488"/>
            <a:ext cx="640080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Six indicators. One winner per instrument.</a:t>
            </a:r>
            <a:endParaRPr lang="en-US" sz="1800" dirty="0"/>
          </a:p>
        </p:txBody>
      </p:sp>
      <p:sp>
        <p:nvSpPr>
          <p:cNvPr id="4" name="Shape 2"/>
          <p:cNvSpPr/>
          <p:nvPr/>
        </p:nvSpPr>
        <p:spPr>
          <a:xfrm>
            <a:off x="6949440" y="347472"/>
            <a:ext cx="1828800" cy="1024128"/>
          </a:xfrm>
          <a:prstGeom prst="rect">
            <a:avLst/>
          </a:prstGeom>
          <a:solidFill>
            <a:srgbClr val="0D0D12"/>
          </a:solidFill>
          <a:ln w="12700">
            <a:solidFill>
              <a:srgbClr val="242428"/>
            </a:solidFill>
            <a:prstDash val="solid"/>
          </a:ln>
        </p:spPr>
        <p:txBody>
          <a:bodyPr/>
          <a:p/>
        </p:txBody>
      </p:sp>
      <p:sp>
        <p:nvSpPr>
          <p:cNvPr id="5" name="Shape 3"/>
          <p:cNvSpPr/>
          <p:nvPr/>
        </p:nvSpPr>
        <p:spPr>
          <a:xfrm>
            <a:off x="6949440" y="347472"/>
            <a:ext cx="1828800" cy="32004"/>
          </a:xfrm>
          <a:prstGeom prst="rect">
            <a:avLst/>
          </a:prstGeom>
          <a:solidFill>
            <a:srgbClr val="C8A96E"/>
          </a:solidFill>
          <a:ln w="12700">
            <a:solidFill>
              <a:srgbClr val="C8A96E"/>
            </a:solidFill>
            <a:prstDash val="solid"/>
          </a:ln>
        </p:spPr>
        <p:txBody>
          <a:bodyPr/>
          <a:p/>
        </p:txBody>
      </p:sp>
      <p:sp>
        <p:nvSpPr>
          <p:cNvPr id="6" name="Text 4"/>
          <p:cNvSpPr/>
          <p:nvPr/>
        </p:nvSpPr>
        <p:spPr>
          <a:xfrm>
            <a:off x="6949440" y="475488"/>
            <a:ext cx="1828800" cy="566928"/>
          </a:xfrm>
          <a:prstGeom prst="rect">
            <a:avLst/>
          </a:prstGeom>
          <a:noFill/>
          <a:ln/>
        </p:spPr>
        <p:txBody>
          <a:bodyPr wrap="square" lIns="0" tIns="0" rIns="0" bIns="0" rtlCol="0" anchor="ctr"/>
          <a:lstStyle/>
          <a:p>
            <a:pPr algn="ctr" indent="0" marL="0">
              <a:buNone/>
            </a:pPr>
            <a:r>
              <a:rPr lang="en-US" sz="2600" b="1" dirty="0">
                <a:solidFill>
                  <a:srgbClr val="C8A96E"/>
                </a:solidFill>
                <a:latin typeface="Trebuchet MS" pitchFamily="34" charset="0"/>
                <a:ea typeface="Trebuchet MS" pitchFamily="34" charset="-122"/>
                <a:cs typeface="Trebuchet MS" pitchFamily="34" charset="-120"/>
              </a:rPr>
              <a:t>6</a:t>
            </a:r>
            <a:endParaRPr lang="en-US" sz="2600" dirty="0"/>
          </a:p>
        </p:txBody>
      </p:sp>
      <p:sp>
        <p:nvSpPr>
          <p:cNvPr id="7" name="Text 5"/>
          <p:cNvSpPr/>
          <p:nvPr/>
        </p:nvSpPr>
        <p:spPr>
          <a:xfrm>
            <a:off x="7022592" y="1060704"/>
            <a:ext cx="1682496" cy="237744"/>
          </a:xfrm>
          <a:prstGeom prst="rect">
            <a:avLst/>
          </a:prstGeom>
          <a:noFill/>
          <a:ln/>
        </p:spPr>
        <p:txBody>
          <a:bodyPr wrap="square" lIns="0" tIns="0" rIns="0" bIns="0" rtlCol="0" anchor="ctr"/>
          <a:lstStyle/>
          <a:p>
            <a:pPr algn="ctr" indent="0" marL="0">
              <a:buNone/>
            </a:pPr>
            <a:r>
              <a:rPr lang="en-US" sz="750" dirty="0">
                <a:solidFill>
                  <a:srgbClr val="9A9086"/>
                </a:solidFill>
                <a:latin typeface="Calibri" pitchFamily="34" charset="0"/>
                <a:ea typeface="Calibri" pitchFamily="34" charset="-122"/>
                <a:cs typeface="Calibri" pitchFamily="34" charset="-120"/>
              </a:rPr>
              <a:t>indicators evaluated per instrument</a:t>
            </a:r>
            <a:endParaRPr lang="en-US" sz="750" dirty="0"/>
          </a:p>
        </p:txBody>
      </p:sp>
      <p:sp>
        <p:nvSpPr>
          <p:cNvPr id="8" name="Shape 6"/>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9" name="Shape 7"/>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10" name="Text 8"/>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Vektor evaluates six technical indicators for every instrument in the portfolio: SMA (Simple Moving Average), EMA (Exponential Moving Average), MACD (Moving Average Convergence Divergence), Bollinger Bands, RSI (Relative Strength Index), and Stochastic Oscillator. For each indicator, a parameter grid is searched over the three-year historical window — optimising for Sharpe ratio. The highest-Sharpe configuration for each instrument is selected as the candidate signal.</a:t>
            </a:r>
            <a:endParaRPr lang="en-US" sz="900" dirty="0"/>
          </a:p>
        </p:txBody>
      </p:sp>
      <p:sp>
        <p:nvSpPr>
          <p:cNvPr id="11" name="Text 9"/>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12" name="Picture 11"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XGBOOST VALIDATION</a:t>
            </a:r>
            <a:endParaRPr lang="en-US" sz="700" dirty="0"/>
          </a:p>
        </p:txBody>
      </p:sp>
      <p:sp>
        <p:nvSpPr>
          <p:cNvPr id="3" name="Text 1"/>
          <p:cNvSpPr/>
          <p:nvPr/>
        </p:nvSpPr>
        <p:spPr>
          <a:xfrm>
            <a:off x="365760" y="475488"/>
            <a:ext cx="640080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Every live signal, validated against current conditions.</a:t>
            </a:r>
            <a:endParaRPr lang="en-US" sz="1800" dirty="0"/>
          </a:p>
        </p:txBody>
      </p:sp>
      <p:sp>
        <p:nvSpPr>
          <p:cNvPr id="4" name="Shape 2"/>
          <p:cNvSpPr/>
          <p:nvPr/>
        </p:nvSpPr>
        <p:spPr>
          <a:xfrm>
            <a:off x="6949440" y="347472"/>
            <a:ext cx="1828800" cy="1024128"/>
          </a:xfrm>
          <a:prstGeom prst="rect">
            <a:avLst/>
          </a:prstGeom>
          <a:solidFill>
            <a:srgbClr val="0D0D12"/>
          </a:solidFill>
          <a:ln w="12700">
            <a:solidFill>
              <a:srgbClr val="242428"/>
            </a:solidFill>
            <a:prstDash val="solid"/>
          </a:ln>
        </p:spPr>
        <p:txBody>
          <a:bodyPr/>
          <a:p/>
        </p:txBody>
      </p:sp>
      <p:sp>
        <p:nvSpPr>
          <p:cNvPr id="5" name="Shape 3"/>
          <p:cNvSpPr/>
          <p:nvPr/>
        </p:nvSpPr>
        <p:spPr>
          <a:xfrm>
            <a:off x="6949440" y="347472"/>
            <a:ext cx="1828800" cy="32004"/>
          </a:xfrm>
          <a:prstGeom prst="rect">
            <a:avLst/>
          </a:prstGeom>
          <a:solidFill>
            <a:srgbClr val="C8A96E"/>
          </a:solidFill>
          <a:ln w="12700">
            <a:solidFill>
              <a:srgbClr val="C8A96E"/>
            </a:solidFill>
            <a:prstDash val="solid"/>
          </a:ln>
        </p:spPr>
        <p:txBody>
          <a:bodyPr/>
          <a:p/>
        </p:txBody>
      </p:sp>
      <p:sp>
        <p:nvSpPr>
          <p:cNvPr id="6" name="Text 4"/>
          <p:cNvSpPr/>
          <p:nvPr/>
        </p:nvSpPr>
        <p:spPr>
          <a:xfrm>
            <a:off x="6949440" y="475488"/>
            <a:ext cx="1828800" cy="566928"/>
          </a:xfrm>
          <a:prstGeom prst="rect">
            <a:avLst/>
          </a:prstGeom>
          <a:noFill/>
          <a:ln/>
        </p:spPr>
        <p:txBody>
          <a:bodyPr wrap="square" lIns="0" tIns="0" rIns="0" bIns="0" rtlCol="0" anchor="ctr"/>
          <a:lstStyle/>
          <a:p>
            <a:pPr algn="ctr" indent="0" marL="0">
              <a:buNone/>
            </a:pPr>
            <a:r>
              <a:rPr lang="en-US" sz="2600" b="1" dirty="0">
                <a:solidFill>
                  <a:srgbClr val="C8A96E"/>
                </a:solidFill>
                <a:latin typeface="Trebuchet MS" pitchFamily="34" charset="0"/>
                <a:ea typeface="Trebuchet MS" pitchFamily="34" charset="-122"/>
                <a:cs typeface="Trebuchet MS" pitchFamily="34" charset="-120"/>
              </a:rPr>
              <a:t>XGBoost</a:t>
            </a:r>
            <a:endParaRPr lang="en-US" sz="2600" dirty="0"/>
          </a:p>
        </p:txBody>
      </p:sp>
      <p:sp>
        <p:nvSpPr>
          <p:cNvPr id="7" name="Text 5"/>
          <p:cNvSpPr/>
          <p:nvPr/>
        </p:nvSpPr>
        <p:spPr>
          <a:xfrm>
            <a:off x="7022592" y="1060704"/>
            <a:ext cx="1682496" cy="237744"/>
          </a:xfrm>
          <a:prstGeom prst="rect">
            <a:avLst/>
          </a:prstGeom>
          <a:noFill/>
          <a:ln/>
        </p:spPr>
        <p:txBody>
          <a:bodyPr wrap="square" lIns="0" tIns="0" rIns="0" bIns="0" rtlCol="0" anchor="ctr"/>
          <a:lstStyle/>
          <a:p>
            <a:pPr algn="ctr" indent="0" marL="0">
              <a:buNone/>
            </a:pPr>
            <a:r>
              <a:rPr lang="en-US" sz="750" dirty="0">
                <a:solidFill>
                  <a:srgbClr val="9A9086"/>
                </a:solidFill>
                <a:latin typeface="Calibri" pitchFamily="34" charset="0"/>
                <a:ea typeface="Calibri" pitchFamily="34" charset="-122"/>
                <a:cs typeface="Calibri" pitchFamily="34" charset="-120"/>
              </a:rPr>
              <a:t>signal validation layer</a:t>
            </a:r>
            <a:endParaRPr lang="en-US" sz="750" dirty="0"/>
          </a:p>
        </p:txBody>
      </p:sp>
      <p:sp>
        <p:nvSpPr>
          <p:cNvPr id="8" name="Shape 6"/>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9" name="Shape 7"/>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10" name="Text 8"/>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Once the optimal indicator configuration is selected for each instrument, the live signal is validated by the XGBoost classification model before it reaches the Portfolio Manager's review screen. XGBoost evaluates whether the current signal — given current market conditions — is consistent with historical instances where the same indicator configuration produced a positive outcome. Signals below the confidence threshold are filtered. The confidence score and pass/fail status are stored in the strategy record and visible to the PM at approval.</a:t>
            </a:r>
            <a:endParaRPr lang="en-US" sz="900" dirty="0"/>
          </a:p>
        </p:txBody>
      </p:sp>
      <p:sp>
        <p:nvSpPr>
          <p:cNvPr id="11" name="Text 9"/>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12" name="Picture 11"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CAPITAL ALLOCATION</a:t>
            </a:r>
            <a:endParaRPr lang="en-US" sz="700" dirty="0"/>
          </a:p>
        </p:txBody>
      </p:sp>
      <p:sp>
        <p:nvSpPr>
          <p:cNvPr id="3" name="Text 1"/>
          <p:cNvSpPr/>
          <p:nvPr/>
        </p:nvSpPr>
        <p:spPr>
          <a:xfrm>
            <a:off x="365760" y="475488"/>
            <a:ext cx="841248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Weights become quantities. Quantities become positions.</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Once a strategy is approved and capital is funded, Vektor runs the allocation calculation: fetch live prices from the database, multiply each instrument's portfolio weight by the total mandate capital to get target value, divide by the live price to get the raw quantity, round down to the nearest lot size. The residual — the capital that cannot be deployed due to lot-size rounding — is retained as a cash buffer. The full breakdown is displayed to the Portfolio Manager before confirmation.</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CAPITAL ALLOCATION EFFICIENCY</a:t>
            </a:r>
            <a:endParaRPr lang="en-US" sz="700" dirty="0"/>
          </a:p>
        </p:txBody>
      </p:sp>
      <p:sp>
        <p:nvSpPr>
          <p:cNvPr id="3" name="Text 1"/>
          <p:cNvSpPr/>
          <p:nvPr/>
        </p:nvSpPr>
        <p:spPr>
          <a:xfrm>
            <a:off x="365760" y="475488"/>
            <a:ext cx="640080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99.94%+ capital deployed.</a:t>
            </a:r>
            <a:endParaRPr lang="en-US" sz="1800" dirty="0"/>
          </a:p>
        </p:txBody>
      </p:sp>
      <p:sp>
        <p:nvSpPr>
          <p:cNvPr id="4" name="Shape 2"/>
          <p:cNvSpPr/>
          <p:nvPr/>
        </p:nvSpPr>
        <p:spPr>
          <a:xfrm>
            <a:off x="6949440" y="347472"/>
            <a:ext cx="1828800" cy="1024128"/>
          </a:xfrm>
          <a:prstGeom prst="rect">
            <a:avLst/>
          </a:prstGeom>
          <a:solidFill>
            <a:srgbClr val="0D0D12"/>
          </a:solidFill>
          <a:ln w="12700">
            <a:solidFill>
              <a:srgbClr val="242428"/>
            </a:solidFill>
            <a:prstDash val="solid"/>
          </a:ln>
        </p:spPr>
        <p:txBody>
          <a:bodyPr/>
          <a:p/>
        </p:txBody>
      </p:sp>
      <p:sp>
        <p:nvSpPr>
          <p:cNvPr id="5" name="Shape 3"/>
          <p:cNvSpPr/>
          <p:nvPr/>
        </p:nvSpPr>
        <p:spPr>
          <a:xfrm>
            <a:off x="6949440" y="347472"/>
            <a:ext cx="1828800" cy="32004"/>
          </a:xfrm>
          <a:prstGeom prst="rect">
            <a:avLst/>
          </a:prstGeom>
          <a:solidFill>
            <a:srgbClr val="C8A96E"/>
          </a:solidFill>
          <a:ln w="12700">
            <a:solidFill>
              <a:srgbClr val="C8A96E"/>
            </a:solidFill>
            <a:prstDash val="solid"/>
          </a:ln>
        </p:spPr>
        <p:txBody>
          <a:bodyPr/>
          <a:p/>
        </p:txBody>
      </p:sp>
      <p:sp>
        <p:nvSpPr>
          <p:cNvPr id="6" name="Text 4"/>
          <p:cNvSpPr/>
          <p:nvPr/>
        </p:nvSpPr>
        <p:spPr>
          <a:xfrm>
            <a:off x="6949440" y="475488"/>
            <a:ext cx="1828800" cy="566928"/>
          </a:xfrm>
          <a:prstGeom prst="rect">
            <a:avLst/>
          </a:prstGeom>
          <a:noFill/>
          <a:ln/>
        </p:spPr>
        <p:txBody>
          <a:bodyPr wrap="square" lIns="0" tIns="0" rIns="0" bIns="0" rtlCol="0" anchor="ctr"/>
          <a:lstStyle/>
          <a:p>
            <a:pPr algn="ctr" indent="0" marL="0">
              <a:buNone/>
            </a:pPr>
            <a:r>
              <a:rPr lang="en-US" sz="2600" b="1" dirty="0">
                <a:solidFill>
                  <a:srgbClr val="C8A96E"/>
                </a:solidFill>
                <a:latin typeface="Trebuchet MS" pitchFamily="34" charset="0"/>
                <a:ea typeface="Trebuchet MS" pitchFamily="34" charset="-122"/>
                <a:cs typeface="Trebuchet MS" pitchFamily="34" charset="-120"/>
              </a:rPr>
              <a:t>99.94%+</a:t>
            </a:r>
            <a:endParaRPr lang="en-US" sz="2600" dirty="0"/>
          </a:p>
        </p:txBody>
      </p:sp>
      <p:sp>
        <p:nvSpPr>
          <p:cNvPr id="7" name="Text 5"/>
          <p:cNvSpPr/>
          <p:nvPr/>
        </p:nvSpPr>
        <p:spPr>
          <a:xfrm>
            <a:off x="7022592" y="1060704"/>
            <a:ext cx="1682496" cy="237744"/>
          </a:xfrm>
          <a:prstGeom prst="rect">
            <a:avLst/>
          </a:prstGeom>
          <a:noFill/>
          <a:ln/>
        </p:spPr>
        <p:txBody>
          <a:bodyPr wrap="square" lIns="0" tIns="0" rIns="0" bIns="0" rtlCol="0" anchor="ctr"/>
          <a:lstStyle/>
          <a:p>
            <a:pPr algn="ctr" indent="0" marL="0">
              <a:buNone/>
            </a:pPr>
            <a:r>
              <a:rPr lang="en-US" sz="750" dirty="0">
                <a:solidFill>
                  <a:srgbClr val="9A9086"/>
                </a:solidFill>
                <a:latin typeface="Calibri" pitchFamily="34" charset="0"/>
                <a:ea typeface="Calibri" pitchFamily="34" charset="-122"/>
                <a:cs typeface="Calibri" pitchFamily="34" charset="-120"/>
              </a:rPr>
              <a:t>allocation efficiency</a:t>
            </a:r>
            <a:endParaRPr lang="en-US" sz="750" dirty="0"/>
          </a:p>
        </p:txBody>
      </p:sp>
      <p:sp>
        <p:nvSpPr>
          <p:cNvPr id="8" name="Shape 6"/>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9" name="Shape 7"/>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10" name="Text 8"/>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The difference between the target capital and the actually deployed capital — after lot-size rounding — determines capital allocation efficiency. In simulation testing with a ten-instrument SGX portfolio at a typical mandate size, Vektor achieves 99.94%+ efficiency. The practical minimum recommended mandate size for a ten-instrument SGX portfolio is SGD 100,000 — below this threshold, lot-rounding effects become more pronounced. The efficiency figure is calculated and displayed at the allocation confirmation screen.</a:t>
            </a:r>
            <a:endParaRPr lang="en-US" sz="900" dirty="0"/>
          </a:p>
        </p:txBody>
      </p:sp>
      <p:sp>
        <p:nvSpPr>
          <p:cNvPr id="11" name="Text 9"/>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12" name="Picture 11"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AUDIT TRAIL</a:t>
            </a:r>
            <a:endParaRPr lang="en-US" sz="700" dirty="0"/>
          </a:p>
        </p:txBody>
      </p:sp>
      <p:sp>
        <p:nvSpPr>
          <p:cNvPr id="3" name="Text 1"/>
          <p:cNvSpPr/>
          <p:nvPr/>
        </p:nvSpPr>
        <p:spPr>
          <a:xfrm>
            <a:off x="365760" y="475488"/>
            <a:ext cx="841248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Every decision. Every user. Every timestamp.</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Vektor produces a complete audit trail as a by-product of normal platform operation — not as a separate compliance layer. Every action across all eleven workflow steps is logged: the user who performed it, the timestamp, the action taken, and the state before and after. The three-role model (Analyst / Portfolio Manager / Operations) ensures structural separation — no user can perform actions outside their role. The complete chain from research to trade-ready position is retrievable at any point, for any strategy, without reconstruction.</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TECHNICAL ARCHITECTURE</a:t>
            </a:r>
            <a:endParaRPr lang="en-US" sz="700" dirty="0"/>
          </a:p>
        </p:txBody>
      </p:sp>
      <p:sp>
        <p:nvSpPr>
          <p:cNvPr id="3" name="Text 1"/>
          <p:cNvSpPr/>
          <p:nvPr/>
        </p:nvSpPr>
        <p:spPr>
          <a:xfrm>
            <a:off x="365760" y="475488"/>
            <a:ext cx="8412480" cy="457200"/>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AWS microservices. Region-agnostic by design.</a:t>
            </a:r>
            <a:endParaRPr lang="en-US" sz="1800" dirty="0"/>
          </a:p>
        </p:txBody>
      </p:sp>
      <p:sp>
        <p:nvSpPr>
          <p:cNvPr id="4" name="Shape 2"/>
          <p:cNvSpPr/>
          <p:nvPr/>
        </p:nvSpPr>
        <p:spPr>
          <a:xfrm>
            <a:off x="365760" y="1078992"/>
            <a:ext cx="36576" cy="3566160"/>
          </a:xfrm>
          <a:prstGeom prst="rect">
            <a:avLst/>
          </a:prstGeom>
          <a:solidFill>
            <a:srgbClr val="C8A96E"/>
          </a:solidFill>
          <a:ln w="12700">
            <a:solidFill>
              <a:srgbClr val="C8A96E"/>
            </a:solidFill>
            <a:prstDash val="solid"/>
          </a:ln>
        </p:spPr>
        <p:txBody>
          <a:bodyPr/>
          <a:p/>
        </p:txBody>
      </p:sp>
      <p:sp>
        <p:nvSpPr>
          <p:cNvPr id="5" name="Shape 3"/>
          <p:cNvSpPr/>
          <p:nvPr/>
        </p:nvSpPr>
        <p:spPr>
          <a:xfrm>
            <a:off x="402336" y="1078992"/>
            <a:ext cx="8375904" cy="3566160"/>
          </a:xfrm>
          <a:prstGeom prst="rect">
            <a:avLst/>
          </a:prstGeom>
          <a:solidFill>
            <a:srgbClr val="161618"/>
          </a:solidFill>
          <a:ln w="12700">
            <a:solidFill>
              <a:srgbClr val="242428"/>
            </a:solidFill>
            <a:prstDash val="solid"/>
          </a:ln>
        </p:spPr>
        <p:txBody>
          <a:bodyPr/>
          <a:p/>
        </p:txBody>
      </p:sp>
      <p:sp>
        <p:nvSpPr>
          <p:cNvPr id="6" name="Text 4"/>
          <p:cNvSpPr/>
          <p:nvPr/>
        </p:nvSpPr>
        <p:spPr>
          <a:xfrm>
            <a:off x="512064" y="1124712"/>
            <a:ext cx="8156448" cy="3474720"/>
          </a:xfrm>
          <a:prstGeom prst="rect">
            <a:avLst/>
          </a:prstGeom>
          <a:noFill/>
          <a:ln/>
        </p:spPr>
        <p:txBody>
          <a:bodyPr wrap="square" lIns="0" tIns="0" rIns="0" bIns="0" rtlCol="0" anchor="ctr"/>
          <a:lstStyle/>
          <a:p>
            <a:pPr indent="0" marL="0">
              <a:buNone/>
            </a:pPr>
            <a:r>
              <a:rPr lang="en-US" sz="900" i="1" dirty="0">
                <a:solidFill>
                  <a:srgbClr val="9A9086"/>
                </a:solidFill>
                <a:latin typeface="Calibri" pitchFamily="34" charset="0"/>
                <a:ea typeface="Calibri" pitchFamily="34" charset="-122"/>
                <a:cs typeface="Calibri" pitchFamily="34" charset="-120"/>
              </a:rPr>
              <a:t>Vektor runs on AWS (currently ap-southeast-1, Singapore) using a containerised microservices architecture on ECS Fargate. SageMaker serves two distinct roles: JupyterLab research environment for universe screening, and a managed XGBoost inference endpoint for signal validation. SQS decouples order generation from IBKR execution. EventBridge and Step Functions provide observable, retryable workflow orchestration. Cognito with Azure EntraID federation enables enterprise SSO. The two-account CI/CD strategy means deploying to any AWS region is a pipeline configuration, not an architecture change.</a:t>
            </a:r>
            <a:endParaRPr lang="en-US" sz="900" dirty="0"/>
          </a:p>
        </p:txBody>
      </p:sp>
      <p:sp>
        <p:nvSpPr>
          <p:cNvPr id="7" name="Text 5"/>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8" name="Picture 7"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365760" y="201168"/>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EVALUATING THE OUTPUTS</a:t>
            </a:r>
            <a:endParaRPr lang="en-US" sz="700" dirty="0"/>
          </a:p>
        </p:txBody>
      </p:sp>
      <p:sp>
        <p:nvSpPr>
          <p:cNvPr id="3" name="Text 1"/>
          <p:cNvSpPr/>
          <p:nvPr/>
        </p:nvSpPr>
        <p:spPr>
          <a:xfrm>
            <a:off x="365760" y="475488"/>
            <a:ext cx="8412480" cy="347472"/>
          </a:xfrm>
          <a:prstGeom prst="rect">
            <a:avLst/>
          </a:prstGeom>
          <a:noFill/>
          <a:ln/>
        </p:spPr>
        <p:txBody>
          <a:bodyPr wrap="square" lIns="0" tIns="0" rIns="0" bIns="0" rtlCol="0" anchor="ctr"/>
          <a:lstStyle/>
          <a:p>
            <a:pPr indent="0" marL="0">
              <a:buNone/>
            </a:pPr>
            <a:r>
              <a:rPr lang="en-US" sz="1800" b="1" dirty="0">
                <a:solidFill>
                  <a:srgbClr val="E8E8EC"/>
                </a:solidFill>
                <a:latin typeface="Trebuchet MS" pitchFamily="34" charset="0"/>
                <a:ea typeface="Trebuchet MS" pitchFamily="34" charset="-122"/>
                <a:cs typeface="Trebuchet MS" pitchFamily="34" charset="-120"/>
              </a:rPr>
              <a:t>How to read Vektor's strategy results.</a:t>
            </a:r>
            <a:endParaRPr lang="en-US" sz="1800" dirty="0"/>
          </a:p>
        </p:txBody>
      </p:sp>
      <p:sp>
        <p:nvSpPr>
          <p:cNvPr id="4" name="Text 2"/>
          <p:cNvSpPr/>
          <p:nvPr/>
        </p:nvSpPr>
        <p:spPr>
          <a:xfrm>
            <a:off x="365760" y="877824"/>
            <a:ext cx="8412480" cy="292608"/>
          </a:xfrm>
          <a:prstGeom prst="rect">
            <a:avLst/>
          </a:prstGeom>
          <a:noFill/>
          <a:ln/>
        </p:spPr>
        <p:txBody>
          <a:bodyPr wrap="square" lIns="0" tIns="0" rIns="0" bIns="0" rtlCol="0" anchor="ctr"/>
          <a:lstStyle/>
          <a:p>
            <a:pPr indent="0" marL="0">
              <a:buNone/>
            </a:pPr>
            <a:r>
              <a:rPr lang="en-US" sz="1000" i="1" dirty="0">
                <a:solidFill>
                  <a:srgbClr val="9A9086"/>
                </a:solidFill>
                <a:latin typeface="Calibri" pitchFamily="34" charset="0"/>
                <a:ea typeface="Calibri" pitchFamily="34" charset="-122"/>
                <a:cs typeface="Calibri" pitchFamily="34" charset="-120"/>
              </a:rPr>
              <a:t>Vektor uses Sharpe ratio as its optimisation objective — making it the directly applicable metric for evaluating every strategy output.</a:t>
            </a:r>
            <a:endParaRPr lang="en-US" sz="1000" dirty="0"/>
          </a:p>
        </p:txBody>
      </p:sp>
      <p:sp>
        <p:nvSpPr>
          <p:cNvPr id="5" name="Shape 3"/>
          <p:cNvSpPr/>
          <p:nvPr/>
        </p:nvSpPr>
        <p:spPr>
          <a:xfrm>
            <a:off x="365760" y="1325880"/>
            <a:ext cx="4114800" cy="1572768"/>
          </a:xfrm>
          <a:prstGeom prst="rect">
            <a:avLst/>
          </a:prstGeom>
          <a:solidFill>
            <a:srgbClr val="0D0D12"/>
          </a:solidFill>
          <a:ln w="12700">
            <a:solidFill>
              <a:srgbClr val="242428"/>
            </a:solidFill>
            <a:prstDash val="solid"/>
          </a:ln>
          <a:effectLst>
            <a:outerShdw sx="100000" sy="100000" kx="0" ky="0" algn="bl" rotWithShape="0" blurRad="101600" dist="25400" dir="8100000">
              <a:srgbClr val="000000">
                <a:alpha val="30000"/>
              </a:srgbClr>
            </a:outerShdw>
          </a:effectLst>
        </p:spPr>
        <p:txBody>
          <a:bodyPr/>
          <a:p/>
        </p:txBody>
      </p:sp>
      <p:sp>
        <p:nvSpPr>
          <p:cNvPr id="6" name="Shape 4"/>
          <p:cNvSpPr/>
          <p:nvPr/>
        </p:nvSpPr>
        <p:spPr>
          <a:xfrm>
            <a:off x="365760" y="1325880"/>
            <a:ext cx="4114800" cy="32004"/>
          </a:xfrm>
          <a:prstGeom prst="rect">
            <a:avLst/>
          </a:prstGeom>
          <a:solidFill>
            <a:srgbClr val="C8A96E"/>
          </a:solidFill>
          <a:ln w="12700">
            <a:solidFill>
              <a:srgbClr val="C8A96E"/>
            </a:solidFill>
            <a:prstDash val="solid"/>
          </a:ln>
        </p:spPr>
        <p:txBody>
          <a:bodyPr/>
          <a:p/>
        </p:txBody>
      </p:sp>
      <p:sp>
        <p:nvSpPr>
          <p:cNvPr id="7" name="Text 5"/>
          <p:cNvSpPr/>
          <p:nvPr/>
        </p:nvSpPr>
        <p:spPr>
          <a:xfrm>
            <a:off x="502920" y="1481328"/>
            <a:ext cx="3840480" cy="274320"/>
          </a:xfrm>
          <a:prstGeom prst="rect">
            <a:avLst/>
          </a:prstGeom>
          <a:noFill/>
          <a:ln/>
        </p:spPr>
        <p:txBody>
          <a:bodyPr wrap="square" lIns="0" tIns="0" rIns="0" bIns="0" rtlCol="0" anchor="ctr"/>
          <a:lstStyle/>
          <a:p>
            <a:pPr indent="0" marL="0">
              <a:buNone/>
            </a:pPr>
            <a:r>
              <a:rPr lang="en-US" sz="1100" b="1" dirty="0">
                <a:solidFill>
                  <a:srgbClr val="C8A96E"/>
                </a:solidFill>
                <a:latin typeface="Trebuchet MS" pitchFamily="34" charset="0"/>
                <a:ea typeface="Trebuchet MS" pitchFamily="34" charset="-122"/>
                <a:cs typeface="Trebuchet MS" pitchFamily="34" charset="-120"/>
              </a:rPr>
              <a:t>Sharpe ratio</a:t>
            </a:r>
            <a:endParaRPr lang="en-US" sz="1100" dirty="0"/>
          </a:p>
        </p:txBody>
      </p:sp>
      <p:sp>
        <p:nvSpPr>
          <p:cNvPr id="8" name="Text 6"/>
          <p:cNvSpPr/>
          <p:nvPr/>
        </p:nvSpPr>
        <p:spPr>
          <a:xfrm>
            <a:off x="502920" y="1810512"/>
            <a:ext cx="3840480" cy="1024128"/>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Primary metric. Vektor's optimisation objective. A backtest Sharpe above 1.0 is a reasonable starting point. Above 2.0 warrants overfitting questions. Expect 50–70% of backtest Sharpe in live conditions.</a:t>
            </a:r>
            <a:endParaRPr lang="en-US" sz="950" dirty="0"/>
          </a:p>
        </p:txBody>
      </p:sp>
      <p:sp>
        <p:nvSpPr>
          <p:cNvPr id="9" name="Shape 7"/>
          <p:cNvSpPr/>
          <p:nvPr/>
        </p:nvSpPr>
        <p:spPr>
          <a:xfrm>
            <a:off x="4754880" y="1325880"/>
            <a:ext cx="4114800" cy="1572768"/>
          </a:xfrm>
          <a:prstGeom prst="rect">
            <a:avLst/>
          </a:prstGeom>
          <a:solidFill>
            <a:srgbClr val="0D0D12"/>
          </a:solidFill>
          <a:ln w="12700">
            <a:solidFill>
              <a:srgbClr val="242428"/>
            </a:solidFill>
            <a:prstDash val="solid"/>
          </a:ln>
          <a:effectLst>
            <a:outerShdw sx="100000" sy="100000" kx="0" ky="0" algn="bl" rotWithShape="0" blurRad="101600" dist="25400" dir="8100000">
              <a:srgbClr val="000000">
                <a:alpha val="30000"/>
              </a:srgbClr>
            </a:outerShdw>
          </a:effectLst>
        </p:spPr>
        <p:txBody>
          <a:bodyPr/>
          <a:p/>
        </p:txBody>
      </p:sp>
      <p:sp>
        <p:nvSpPr>
          <p:cNvPr id="10" name="Shape 8"/>
          <p:cNvSpPr/>
          <p:nvPr/>
        </p:nvSpPr>
        <p:spPr>
          <a:xfrm>
            <a:off x="4754880" y="1325880"/>
            <a:ext cx="4114800" cy="32004"/>
          </a:xfrm>
          <a:prstGeom prst="rect">
            <a:avLst/>
          </a:prstGeom>
          <a:solidFill>
            <a:srgbClr val="C8A96E"/>
          </a:solidFill>
          <a:ln w="12700">
            <a:solidFill>
              <a:srgbClr val="C8A96E"/>
            </a:solidFill>
            <a:prstDash val="solid"/>
          </a:ln>
        </p:spPr>
        <p:txBody>
          <a:bodyPr/>
          <a:p/>
        </p:txBody>
      </p:sp>
      <p:sp>
        <p:nvSpPr>
          <p:cNvPr id="11" name="Text 9"/>
          <p:cNvSpPr/>
          <p:nvPr/>
        </p:nvSpPr>
        <p:spPr>
          <a:xfrm>
            <a:off x="4892040" y="1481328"/>
            <a:ext cx="3840480" cy="274320"/>
          </a:xfrm>
          <a:prstGeom prst="rect">
            <a:avLst/>
          </a:prstGeom>
          <a:noFill/>
          <a:ln/>
        </p:spPr>
        <p:txBody>
          <a:bodyPr wrap="square" lIns="0" tIns="0" rIns="0" bIns="0" rtlCol="0" anchor="ctr"/>
          <a:lstStyle/>
          <a:p>
            <a:pPr indent="0" marL="0">
              <a:buNone/>
            </a:pPr>
            <a:r>
              <a:rPr lang="en-US" sz="1100" b="1" dirty="0">
                <a:solidFill>
                  <a:srgbClr val="C8A96E"/>
                </a:solidFill>
                <a:latin typeface="Trebuchet MS" pitchFamily="34" charset="0"/>
                <a:ea typeface="Trebuchet MS" pitchFamily="34" charset="-122"/>
                <a:cs typeface="Trebuchet MS" pitchFamily="34" charset="-120"/>
              </a:rPr>
              <a:t>Drawdown</a:t>
            </a:r>
            <a:endParaRPr lang="en-US" sz="1100" dirty="0"/>
          </a:p>
        </p:txBody>
      </p:sp>
      <p:sp>
        <p:nvSpPr>
          <p:cNvPr id="12" name="Text 10"/>
          <p:cNvSpPr/>
          <p:nvPr/>
        </p:nvSpPr>
        <p:spPr>
          <a:xfrm>
            <a:off x="4892040" y="1810512"/>
            <a:ext cx="3840480" cy="1024128"/>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Assess depth and duration together. A 20% drawdown recovering in 3 months is a different client experience from one taking 3 years. Check performance across sub-periods, not just the full backtest window.</a:t>
            </a:r>
            <a:endParaRPr lang="en-US" sz="950" dirty="0"/>
          </a:p>
        </p:txBody>
      </p:sp>
      <p:sp>
        <p:nvSpPr>
          <p:cNvPr id="13" name="Shape 11"/>
          <p:cNvSpPr/>
          <p:nvPr/>
        </p:nvSpPr>
        <p:spPr>
          <a:xfrm>
            <a:off x="365760" y="3081528"/>
            <a:ext cx="4114800" cy="1572768"/>
          </a:xfrm>
          <a:prstGeom prst="rect">
            <a:avLst/>
          </a:prstGeom>
          <a:solidFill>
            <a:srgbClr val="0D0D12"/>
          </a:solidFill>
          <a:ln w="12700">
            <a:solidFill>
              <a:srgbClr val="242428"/>
            </a:solidFill>
            <a:prstDash val="solid"/>
          </a:ln>
          <a:effectLst>
            <a:outerShdw sx="100000" sy="100000" kx="0" ky="0" algn="bl" rotWithShape="0" blurRad="101600" dist="25400" dir="8100000">
              <a:srgbClr val="000000">
                <a:alpha val="30000"/>
              </a:srgbClr>
            </a:outerShdw>
          </a:effectLst>
        </p:spPr>
        <p:txBody>
          <a:bodyPr/>
          <a:p/>
        </p:txBody>
      </p:sp>
      <p:sp>
        <p:nvSpPr>
          <p:cNvPr id="14" name="Shape 12"/>
          <p:cNvSpPr/>
          <p:nvPr/>
        </p:nvSpPr>
        <p:spPr>
          <a:xfrm>
            <a:off x="365760" y="3081528"/>
            <a:ext cx="4114800" cy="32004"/>
          </a:xfrm>
          <a:prstGeom prst="rect">
            <a:avLst/>
          </a:prstGeom>
          <a:solidFill>
            <a:srgbClr val="C8A96E"/>
          </a:solidFill>
          <a:ln w="12700">
            <a:solidFill>
              <a:srgbClr val="C8A96E"/>
            </a:solidFill>
            <a:prstDash val="solid"/>
          </a:ln>
        </p:spPr>
        <p:txBody>
          <a:bodyPr/>
          <a:p/>
        </p:txBody>
      </p:sp>
      <p:sp>
        <p:nvSpPr>
          <p:cNvPr id="15" name="Text 13"/>
          <p:cNvSpPr/>
          <p:nvPr/>
        </p:nvSpPr>
        <p:spPr>
          <a:xfrm>
            <a:off x="502920" y="3236976"/>
            <a:ext cx="3840480" cy="274320"/>
          </a:xfrm>
          <a:prstGeom prst="rect">
            <a:avLst/>
          </a:prstGeom>
          <a:noFill/>
          <a:ln/>
        </p:spPr>
        <p:txBody>
          <a:bodyPr wrap="square" lIns="0" tIns="0" rIns="0" bIns="0" rtlCol="0" anchor="ctr"/>
          <a:lstStyle/>
          <a:p>
            <a:pPr indent="0" marL="0">
              <a:buNone/>
            </a:pPr>
            <a:r>
              <a:rPr lang="en-US" sz="1100" b="1" dirty="0">
                <a:solidFill>
                  <a:srgbClr val="C8A96E"/>
                </a:solidFill>
                <a:latin typeface="Trebuchet MS" pitchFamily="34" charset="0"/>
                <a:ea typeface="Trebuchet MS" pitchFamily="34" charset="-122"/>
                <a:cs typeface="Trebuchet MS" pitchFamily="34" charset="-120"/>
              </a:rPr>
              <a:t>Benchmark</a:t>
            </a:r>
            <a:endParaRPr lang="en-US" sz="1100" dirty="0"/>
          </a:p>
        </p:txBody>
      </p:sp>
      <p:sp>
        <p:nvSpPr>
          <p:cNvPr id="16" name="Text 14"/>
          <p:cNvSpPr/>
          <p:nvPr/>
        </p:nvSpPr>
        <p:spPr>
          <a:xfrm>
            <a:off x="502920" y="3566160"/>
            <a:ext cx="3840480" cy="1024128"/>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Use a sector-blended benchmark — not a single index. A concentrated ten-instrument portfolio will have different sector exposure from the STI or any single-country index.</a:t>
            </a:r>
            <a:endParaRPr lang="en-US" sz="950" dirty="0"/>
          </a:p>
        </p:txBody>
      </p:sp>
      <p:sp>
        <p:nvSpPr>
          <p:cNvPr id="17" name="Shape 15"/>
          <p:cNvSpPr/>
          <p:nvPr/>
        </p:nvSpPr>
        <p:spPr>
          <a:xfrm>
            <a:off x="4754880" y="3081528"/>
            <a:ext cx="4114800" cy="1572768"/>
          </a:xfrm>
          <a:prstGeom prst="rect">
            <a:avLst/>
          </a:prstGeom>
          <a:solidFill>
            <a:srgbClr val="0D0D12"/>
          </a:solidFill>
          <a:ln w="12700">
            <a:solidFill>
              <a:srgbClr val="242428"/>
            </a:solidFill>
            <a:prstDash val="solid"/>
          </a:ln>
          <a:effectLst>
            <a:outerShdw sx="100000" sy="100000" kx="0" ky="0" algn="bl" rotWithShape="0" blurRad="101600" dist="25400" dir="8100000">
              <a:srgbClr val="000000">
                <a:alpha val="30000"/>
              </a:srgbClr>
            </a:outerShdw>
          </a:effectLst>
        </p:spPr>
        <p:txBody>
          <a:bodyPr/>
          <a:p/>
        </p:txBody>
      </p:sp>
      <p:sp>
        <p:nvSpPr>
          <p:cNvPr id="18" name="Shape 16"/>
          <p:cNvSpPr/>
          <p:nvPr/>
        </p:nvSpPr>
        <p:spPr>
          <a:xfrm>
            <a:off x="4754880" y="3081528"/>
            <a:ext cx="4114800" cy="32004"/>
          </a:xfrm>
          <a:prstGeom prst="rect">
            <a:avLst/>
          </a:prstGeom>
          <a:solidFill>
            <a:srgbClr val="C8A96E"/>
          </a:solidFill>
          <a:ln w="12700">
            <a:solidFill>
              <a:srgbClr val="C8A96E"/>
            </a:solidFill>
            <a:prstDash val="solid"/>
          </a:ln>
        </p:spPr>
        <p:txBody>
          <a:bodyPr/>
          <a:p/>
        </p:txBody>
      </p:sp>
      <p:sp>
        <p:nvSpPr>
          <p:cNvPr id="19" name="Text 17"/>
          <p:cNvSpPr/>
          <p:nvPr/>
        </p:nvSpPr>
        <p:spPr>
          <a:xfrm>
            <a:off x="4892040" y="3236976"/>
            <a:ext cx="3840480" cy="274320"/>
          </a:xfrm>
          <a:prstGeom prst="rect">
            <a:avLst/>
          </a:prstGeom>
          <a:noFill/>
          <a:ln/>
        </p:spPr>
        <p:txBody>
          <a:bodyPr wrap="square" lIns="0" tIns="0" rIns="0" bIns="0" rtlCol="0" anchor="ctr"/>
          <a:lstStyle/>
          <a:p>
            <a:pPr indent="0" marL="0">
              <a:buNone/>
            </a:pPr>
            <a:r>
              <a:rPr lang="en-US" sz="1100" b="1" dirty="0">
                <a:solidFill>
                  <a:srgbClr val="C8A96E"/>
                </a:solidFill>
                <a:latin typeface="Trebuchet MS" pitchFamily="34" charset="0"/>
                <a:ea typeface="Trebuchet MS" pitchFamily="34" charset="-122"/>
                <a:cs typeface="Trebuchet MS" pitchFamily="34" charset="-120"/>
              </a:rPr>
              <a:t>Walk-forward validation</a:t>
            </a:r>
            <a:endParaRPr lang="en-US" sz="1100" dirty="0"/>
          </a:p>
        </p:txBody>
      </p:sp>
      <p:sp>
        <p:nvSpPr>
          <p:cNvPr id="20" name="Text 18"/>
          <p:cNvSpPr/>
          <p:nvPr/>
        </p:nvSpPr>
        <p:spPr>
          <a:xfrm>
            <a:off x="4892040" y="3566160"/>
            <a:ext cx="3840480" cy="1024128"/>
          </a:xfrm>
          <a:prstGeom prst="rect">
            <a:avLst/>
          </a:prstGeom>
          <a:noFill/>
          <a:ln/>
        </p:spPr>
        <p:txBody>
          <a:bodyPr wrap="square" lIns="0" tIns="0" rIns="0" bIns="0" rtlCol="0" anchor="ctr"/>
          <a:lstStyle/>
          <a:p>
            <a:pPr indent="0" marL="0">
              <a:buNone/>
            </a:pPr>
            <a:r>
              <a:rPr lang="en-US" sz="950" dirty="0">
                <a:solidFill>
                  <a:srgbClr val="9A9086"/>
                </a:solidFill>
                <a:latin typeface="Calibri" pitchFamily="34" charset="0"/>
                <a:ea typeface="Calibri" pitchFamily="34" charset="-122"/>
                <a:cs typeface="Calibri" pitchFamily="34" charset="-120"/>
              </a:rPr>
              <a:t>The most honest test: optimise on in-sample data, test on out-of-sample period, advance window, repeat. On the Vektor near-term roadmap. Until then, XGBoost validation is the live signal quality check.</a:t>
            </a:r>
            <a:endParaRPr lang="en-US" sz="950" dirty="0"/>
          </a:p>
        </p:txBody>
      </p:sp>
      <p:sp>
        <p:nvSpPr>
          <p:cNvPr id="21" name="Text 19"/>
          <p:cNvSpPr/>
          <p:nvPr/>
        </p:nvSpPr>
        <p:spPr>
          <a:xfrm>
            <a:off x="365760" y="4828032"/>
            <a:ext cx="8412480" cy="219456"/>
          </a:xfrm>
          <a:prstGeom prst="rect">
            <a:avLst/>
          </a:prstGeom>
          <a:noFill/>
          <a:ln/>
        </p:spPr>
        <p:txBody>
          <a:bodyPr wrap="square" lIns="0" tIns="0" rIns="0" bIns="0" rtlCol="0" anchor="ctr"/>
          <a:lstStyle/>
          <a:p>
            <a:pPr indent="0" marL="0">
              <a:buNone/>
            </a:pPr>
            <a:r>
              <a:rPr lang="en-US" sz="800" i="1" dirty="0">
                <a:solidFill>
                  <a:srgbClr val="5A5A60"/>
                </a:solidFill>
                <a:latin typeface="Calibri" pitchFamily="34" charset="0"/>
                <a:ea typeface="Calibri" pitchFamily="34" charset="-122"/>
                <a:cs typeface="Calibri" pitchFamily="34" charset="-120"/>
              </a:rPr>
              <a:t>Full methodology: WP-10 · Evaluating Systematic Strategy Performance</a:t>
            </a:r>
            <a:endParaRPr lang="en-US" sz="800" dirty="0"/>
          </a:p>
        </p:txBody>
      </p:sp>
      <p:sp>
        <p:nvSpPr>
          <p:cNvPr id="22" name="Text 20"/>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23" name="Picture 22"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C8A96E"/>
          </a:solidFill>
          <a:ln w="12700">
            <a:solidFill>
              <a:srgbClr val="C8A96E"/>
            </a:solidFill>
            <a:prstDash val="solid"/>
          </a:ln>
        </p:spPr>
        <p:txBody>
          <a:bodyPr/>
          <a:p/>
        </p:txBody>
      </p:sp>
      <p:sp>
        <p:nvSpPr>
          <p:cNvPr id="3" name="Text 1"/>
          <p:cNvSpPr/>
          <p:nvPr/>
        </p:nvSpPr>
        <p:spPr>
          <a:xfrm>
            <a:off x="365760" y="228600"/>
            <a:ext cx="3657600" cy="201168"/>
          </a:xfrm>
          <a:prstGeom prst="rect">
            <a:avLst/>
          </a:prstGeom>
          <a:noFill/>
          <a:ln/>
        </p:spPr>
        <p:txBody>
          <a:bodyPr wrap="square" lIns="0" tIns="0" rIns="0" bIns="0" rtlCol="0" anchor="ctr"/>
          <a:lstStyle/>
          <a:p>
            <a:pPr indent="0" marL="0">
              <a:buNone/>
            </a:pPr>
            <a:r>
              <a:rPr lang="en-US" sz="700" b="1" spc="400" kern="0" dirty="0">
                <a:solidFill>
                  <a:srgbClr val="C8A96E"/>
                </a:solidFill>
                <a:latin typeface="Calibri" pitchFamily="34" charset="0"/>
                <a:ea typeface="Calibri" pitchFamily="34" charset="-122"/>
                <a:cs typeface="Calibri" pitchFamily="34" charset="-120"/>
              </a:rPr>
              <a:t>THE HONEST QUESTION</a:t>
            </a:r>
            <a:endParaRPr lang="en-US" sz="700" dirty="0"/>
          </a:p>
        </p:txBody>
      </p:sp>
      <p:sp>
        <p:nvSpPr>
          <p:cNvPr id="4" name="Text 2"/>
          <p:cNvSpPr/>
          <p:nvPr/>
        </p:nvSpPr>
        <p:spPr>
          <a:xfrm>
            <a:off x="365760" y="512064"/>
            <a:ext cx="8412480" cy="457200"/>
          </a:xfrm>
          <a:prstGeom prst="rect">
            <a:avLst/>
          </a:prstGeom>
          <a:noFill/>
          <a:ln/>
        </p:spPr>
        <p:txBody>
          <a:bodyPr wrap="square" lIns="0" tIns="0" rIns="0" bIns="0" rtlCol="0" anchor="ctr"/>
          <a:lstStyle/>
          <a:p>
            <a:pPr indent="0" marL="0">
              <a:buNone/>
            </a:pPr>
            <a:r>
              <a:rPr lang="en-US" sz="2800" b="1" dirty="0">
                <a:solidFill>
                  <a:srgbClr val="E8E8EC"/>
                </a:solidFill>
                <a:latin typeface="Trebuchet MS" pitchFamily="34" charset="0"/>
                <a:ea typeface="Trebuchet MS" pitchFamily="34" charset="-122"/>
                <a:cs typeface="Trebuchet MS" pitchFamily="34" charset="-120"/>
              </a:rPr>
              <a:t>Isn't this just curve-fitting?</a:t>
            </a:r>
            <a:endParaRPr lang="en-US" sz="2800" dirty="0"/>
          </a:p>
        </p:txBody>
      </p:sp>
      <p:sp>
        <p:nvSpPr>
          <p:cNvPr id="5" name="Text 3"/>
          <p:cNvSpPr/>
          <p:nvPr/>
        </p:nvSpPr>
        <p:spPr>
          <a:xfrm>
            <a:off x="365760" y="1042416"/>
            <a:ext cx="8412480" cy="329184"/>
          </a:xfrm>
          <a:prstGeom prst="rect">
            <a:avLst/>
          </a:prstGeom>
          <a:noFill/>
          <a:ln/>
        </p:spPr>
        <p:txBody>
          <a:bodyPr wrap="square" lIns="0" tIns="0" rIns="0" bIns="0" rtlCol="0" anchor="ctr"/>
          <a:lstStyle/>
          <a:p>
            <a:pPr indent="0" marL="0">
              <a:buNone/>
            </a:pPr>
            <a:r>
              <a:rPr lang="en-US" sz="1400" i="1" dirty="0">
                <a:solidFill>
                  <a:srgbClr val="C8A96E"/>
                </a:solidFill>
                <a:latin typeface="Calibri" pitchFamily="34" charset="0"/>
                <a:ea typeface="Calibri" pitchFamily="34" charset="-122"/>
                <a:cs typeface="Calibri" pitchFamily="34" charset="-120"/>
              </a:rPr>
              <a:t>Yes. And here is what we do about it.</a:t>
            </a:r>
            <a:endParaRPr lang="en-US" sz="1400" dirty="0"/>
          </a:p>
        </p:txBody>
      </p:sp>
      <p:sp>
        <p:nvSpPr>
          <p:cNvPr id="6" name="Shape 4"/>
          <p:cNvSpPr/>
          <p:nvPr/>
        </p:nvSpPr>
        <p:spPr>
          <a:xfrm>
            <a:off x="365760" y="1572768"/>
            <a:ext cx="4114800" cy="1335024"/>
          </a:xfrm>
          <a:prstGeom prst="rect">
            <a:avLst/>
          </a:prstGeom>
          <a:solidFill>
            <a:srgbClr val="0D0D12"/>
          </a:solidFill>
          <a:ln w="12700">
            <a:solidFill>
              <a:srgbClr val="242428"/>
            </a:solidFill>
            <a:prstDash val="solid"/>
          </a:ln>
        </p:spPr>
        <p:txBody>
          <a:bodyPr/>
          <a:p/>
        </p:txBody>
      </p:sp>
      <p:sp>
        <p:nvSpPr>
          <p:cNvPr id="7" name="Shape 5"/>
          <p:cNvSpPr/>
          <p:nvPr/>
        </p:nvSpPr>
        <p:spPr>
          <a:xfrm>
            <a:off x="365760" y="1572768"/>
            <a:ext cx="4114800" cy="32004"/>
          </a:xfrm>
          <a:prstGeom prst="rect">
            <a:avLst/>
          </a:prstGeom>
          <a:solidFill>
            <a:srgbClr val="C8A96E"/>
          </a:solidFill>
          <a:ln w="12700">
            <a:solidFill>
              <a:srgbClr val="C8A96E"/>
            </a:solidFill>
            <a:prstDash val="solid"/>
          </a:ln>
        </p:spPr>
        <p:txBody>
          <a:bodyPr/>
          <a:p/>
        </p:txBody>
      </p:sp>
      <p:sp>
        <p:nvSpPr>
          <p:cNvPr id="8" name="Text 6"/>
          <p:cNvSpPr/>
          <p:nvPr/>
        </p:nvSpPr>
        <p:spPr>
          <a:xfrm>
            <a:off x="502920" y="1700784"/>
            <a:ext cx="3886200" cy="274320"/>
          </a:xfrm>
          <a:prstGeom prst="rect">
            <a:avLst/>
          </a:prstGeom>
          <a:noFill/>
          <a:ln/>
        </p:spPr>
        <p:txBody>
          <a:bodyPr wrap="square" lIns="0" tIns="0" rIns="0" bIns="0" rtlCol="0" anchor="ctr"/>
          <a:lstStyle/>
          <a:p>
            <a:pPr indent="0" marL="0">
              <a:buNone/>
            </a:pPr>
            <a:r>
              <a:rPr lang="en-US" sz="1000" b="1" dirty="0">
                <a:solidFill>
                  <a:srgbClr val="C8A96E"/>
                </a:solidFill>
                <a:latin typeface="Trebuchet MS" pitchFamily="34" charset="0"/>
                <a:ea typeface="Trebuchet MS" pitchFamily="34" charset="-122"/>
                <a:cs typeface="Trebuchet MS" pitchFamily="34" charset="-120"/>
              </a:rPr>
              <a:t>The risk</a:t>
            </a:r>
            <a:endParaRPr lang="en-US" sz="1000" dirty="0"/>
          </a:p>
        </p:txBody>
      </p:sp>
      <p:sp>
        <p:nvSpPr>
          <p:cNvPr id="9" name="Text 7"/>
          <p:cNvSpPr/>
          <p:nvPr/>
        </p:nvSpPr>
        <p:spPr>
          <a:xfrm>
            <a:off x="502920" y="2029968"/>
            <a:ext cx="3886200" cy="777240"/>
          </a:xfrm>
          <a:prstGeom prst="rect">
            <a:avLst/>
          </a:prstGeom>
          <a:noFill/>
          <a:ln/>
        </p:spPr>
        <p:txBody>
          <a:bodyPr wrap="square" lIns="0" tIns="0" rIns="0" bIns="0" rtlCol="0" anchor="ctr"/>
          <a:lstStyle/>
          <a:p>
            <a:pPr indent="0" marL="0">
              <a:buNone/>
            </a:pPr>
            <a:r>
              <a:rPr lang="en-US" sz="900" dirty="0">
                <a:solidFill>
                  <a:srgbClr val="9A9086"/>
                </a:solidFill>
                <a:latin typeface="Calibri" pitchFamily="34" charset="0"/>
                <a:ea typeface="Calibri" pitchFamily="34" charset="-122"/>
                <a:cs typeface="Calibri" pitchFamily="34" charset="-120"/>
              </a:rPr>
              <a:t>A grid search across three years of historical data will always find parameters that performed well in that period. The question is whether those parameters reflect genuine alpha or historical noise.</a:t>
            </a:r>
            <a:endParaRPr lang="en-US" sz="900" dirty="0"/>
          </a:p>
        </p:txBody>
      </p:sp>
      <p:sp>
        <p:nvSpPr>
          <p:cNvPr id="10" name="Shape 8"/>
          <p:cNvSpPr/>
          <p:nvPr/>
        </p:nvSpPr>
        <p:spPr>
          <a:xfrm>
            <a:off x="365760" y="3054096"/>
            <a:ext cx="4114800" cy="1335024"/>
          </a:xfrm>
          <a:prstGeom prst="rect">
            <a:avLst/>
          </a:prstGeom>
          <a:solidFill>
            <a:srgbClr val="0D0D12"/>
          </a:solidFill>
          <a:ln w="12700">
            <a:solidFill>
              <a:srgbClr val="242428"/>
            </a:solidFill>
            <a:prstDash val="solid"/>
          </a:ln>
        </p:spPr>
        <p:txBody>
          <a:bodyPr/>
          <a:p/>
        </p:txBody>
      </p:sp>
      <p:sp>
        <p:nvSpPr>
          <p:cNvPr id="11" name="Shape 9"/>
          <p:cNvSpPr/>
          <p:nvPr/>
        </p:nvSpPr>
        <p:spPr>
          <a:xfrm>
            <a:off x="365760" y="3054096"/>
            <a:ext cx="4114800" cy="32004"/>
          </a:xfrm>
          <a:prstGeom prst="rect">
            <a:avLst/>
          </a:prstGeom>
          <a:solidFill>
            <a:srgbClr val="C8A96E"/>
          </a:solidFill>
          <a:ln w="12700">
            <a:solidFill>
              <a:srgbClr val="C8A96E"/>
            </a:solidFill>
            <a:prstDash val="solid"/>
          </a:ln>
        </p:spPr>
        <p:txBody>
          <a:bodyPr/>
          <a:p/>
        </p:txBody>
      </p:sp>
      <p:sp>
        <p:nvSpPr>
          <p:cNvPr id="12" name="Text 10"/>
          <p:cNvSpPr/>
          <p:nvPr/>
        </p:nvSpPr>
        <p:spPr>
          <a:xfrm>
            <a:off x="502920" y="3182112"/>
            <a:ext cx="3886200" cy="274320"/>
          </a:xfrm>
          <a:prstGeom prst="rect">
            <a:avLst/>
          </a:prstGeom>
          <a:noFill/>
          <a:ln/>
        </p:spPr>
        <p:txBody>
          <a:bodyPr wrap="square" lIns="0" tIns="0" rIns="0" bIns="0" rtlCol="0" anchor="ctr"/>
          <a:lstStyle/>
          <a:p>
            <a:pPr indent="0" marL="0">
              <a:buNone/>
            </a:pPr>
            <a:r>
              <a:rPr lang="en-US" sz="1000" b="1" dirty="0">
                <a:solidFill>
                  <a:srgbClr val="C8A96E"/>
                </a:solidFill>
                <a:latin typeface="Trebuchet MS" pitchFamily="34" charset="0"/>
                <a:ea typeface="Trebuchet MS" pitchFamily="34" charset="-122"/>
                <a:cs typeface="Trebuchet MS" pitchFamily="34" charset="-120"/>
              </a:rPr>
              <a:t>Structural mitigation 1</a:t>
            </a:r>
            <a:endParaRPr lang="en-US" sz="1000" dirty="0"/>
          </a:p>
        </p:txBody>
      </p:sp>
      <p:sp>
        <p:nvSpPr>
          <p:cNvPr id="13" name="Text 11"/>
          <p:cNvSpPr/>
          <p:nvPr/>
        </p:nvSpPr>
        <p:spPr>
          <a:xfrm>
            <a:off x="502920" y="3511296"/>
            <a:ext cx="3886200" cy="777240"/>
          </a:xfrm>
          <a:prstGeom prst="rect">
            <a:avLst/>
          </a:prstGeom>
          <a:noFill/>
          <a:ln/>
        </p:spPr>
        <p:txBody>
          <a:bodyPr wrap="square" lIns="0" tIns="0" rIns="0" bIns="0" rtlCol="0" anchor="ctr"/>
          <a:lstStyle/>
          <a:p>
            <a:pPr indent="0" marL="0">
              <a:buNone/>
            </a:pPr>
            <a:r>
              <a:rPr lang="en-US" sz="900" dirty="0">
                <a:solidFill>
                  <a:srgbClr val="9A9086"/>
                </a:solidFill>
                <a:latin typeface="Calibri" pitchFamily="34" charset="0"/>
                <a:ea typeface="Calibri" pitchFamily="34" charset="-122"/>
                <a:cs typeface="Calibri" pitchFamily="34" charset="-120"/>
              </a:rPr>
              <a:t>Sharpe ratio as the objective function. Sharpe is more robust to outliers than raw return — it penalises volatility and rewards consistency, making it harder to overfit to a single strong period.</a:t>
            </a:r>
            <a:endParaRPr lang="en-US" sz="900" dirty="0"/>
          </a:p>
        </p:txBody>
      </p:sp>
      <p:sp>
        <p:nvSpPr>
          <p:cNvPr id="14" name="Shape 12"/>
          <p:cNvSpPr/>
          <p:nvPr/>
        </p:nvSpPr>
        <p:spPr>
          <a:xfrm>
            <a:off x="4754880" y="1572768"/>
            <a:ext cx="4114800" cy="1335024"/>
          </a:xfrm>
          <a:prstGeom prst="rect">
            <a:avLst/>
          </a:prstGeom>
          <a:solidFill>
            <a:srgbClr val="0D0D12"/>
          </a:solidFill>
          <a:ln w="12700">
            <a:solidFill>
              <a:srgbClr val="242428"/>
            </a:solidFill>
            <a:prstDash val="solid"/>
          </a:ln>
        </p:spPr>
        <p:txBody>
          <a:bodyPr/>
          <a:p/>
        </p:txBody>
      </p:sp>
      <p:sp>
        <p:nvSpPr>
          <p:cNvPr id="15" name="Shape 13"/>
          <p:cNvSpPr/>
          <p:nvPr/>
        </p:nvSpPr>
        <p:spPr>
          <a:xfrm>
            <a:off x="4754880" y="1572768"/>
            <a:ext cx="4114800" cy="32004"/>
          </a:xfrm>
          <a:prstGeom prst="rect">
            <a:avLst/>
          </a:prstGeom>
          <a:solidFill>
            <a:srgbClr val="C8A96E"/>
          </a:solidFill>
          <a:ln w="12700">
            <a:solidFill>
              <a:srgbClr val="C8A96E"/>
            </a:solidFill>
            <a:prstDash val="solid"/>
          </a:ln>
        </p:spPr>
        <p:txBody>
          <a:bodyPr/>
          <a:p/>
        </p:txBody>
      </p:sp>
      <p:sp>
        <p:nvSpPr>
          <p:cNvPr id="16" name="Text 14"/>
          <p:cNvSpPr/>
          <p:nvPr/>
        </p:nvSpPr>
        <p:spPr>
          <a:xfrm>
            <a:off x="4892040" y="1700784"/>
            <a:ext cx="3886200" cy="274320"/>
          </a:xfrm>
          <a:prstGeom prst="rect">
            <a:avLst/>
          </a:prstGeom>
          <a:noFill/>
          <a:ln/>
        </p:spPr>
        <p:txBody>
          <a:bodyPr wrap="square" lIns="0" tIns="0" rIns="0" bIns="0" rtlCol="0" anchor="ctr"/>
          <a:lstStyle/>
          <a:p>
            <a:pPr indent="0" marL="0">
              <a:buNone/>
            </a:pPr>
            <a:r>
              <a:rPr lang="en-US" sz="1000" b="1" dirty="0">
                <a:solidFill>
                  <a:srgbClr val="C8A96E"/>
                </a:solidFill>
                <a:latin typeface="Trebuchet MS" pitchFamily="34" charset="0"/>
                <a:ea typeface="Trebuchet MS" pitchFamily="34" charset="-122"/>
                <a:cs typeface="Trebuchet MS" pitchFamily="34" charset="-120"/>
              </a:rPr>
              <a:t>Structural mitigation 2</a:t>
            </a:r>
            <a:endParaRPr lang="en-US" sz="1000" dirty="0"/>
          </a:p>
        </p:txBody>
      </p:sp>
      <p:sp>
        <p:nvSpPr>
          <p:cNvPr id="17" name="Text 15"/>
          <p:cNvSpPr/>
          <p:nvPr/>
        </p:nvSpPr>
        <p:spPr>
          <a:xfrm>
            <a:off x="4892040" y="2029968"/>
            <a:ext cx="3886200" cy="777240"/>
          </a:xfrm>
          <a:prstGeom prst="rect">
            <a:avLst/>
          </a:prstGeom>
          <a:noFill/>
          <a:ln/>
        </p:spPr>
        <p:txBody>
          <a:bodyPr wrap="square" lIns="0" tIns="0" rIns="0" bIns="0" rtlCol="0" anchor="ctr"/>
          <a:lstStyle/>
          <a:p>
            <a:pPr indent="0" marL="0">
              <a:buNone/>
            </a:pPr>
            <a:r>
              <a:rPr lang="en-US" sz="900" dirty="0">
                <a:solidFill>
                  <a:srgbClr val="9A9086"/>
                </a:solidFill>
                <a:latin typeface="Calibri" pitchFamily="34" charset="0"/>
                <a:ea typeface="Calibri" pitchFamily="34" charset="-122"/>
                <a:cs typeface="Calibri" pitchFamily="34" charset="-120"/>
              </a:rPr>
              <a:t>Three-year look-back window. Long enough to include multiple market regimes — trending and mean-reverting periods, high and low volatility. Parameters that work across regimes are more likely to be genuine.</a:t>
            </a:r>
            <a:endParaRPr lang="en-US" sz="900" dirty="0"/>
          </a:p>
        </p:txBody>
      </p:sp>
      <p:sp>
        <p:nvSpPr>
          <p:cNvPr id="18" name="Shape 16"/>
          <p:cNvSpPr/>
          <p:nvPr/>
        </p:nvSpPr>
        <p:spPr>
          <a:xfrm>
            <a:off x="4754880" y="3054096"/>
            <a:ext cx="4114800" cy="1335024"/>
          </a:xfrm>
          <a:prstGeom prst="rect">
            <a:avLst/>
          </a:prstGeom>
          <a:solidFill>
            <a:srgbClr val="0D0D12"/>
          </a:solidFill>
          <a:ln w="12700">
            <a:solidFill>
              <a:srgbClr val="242428"/>
            </a:solidFill>
            <a:prstDash val="solid"/>
          </a:ln>
        </p:spPr>
        <p:txBody>
          <a:bodyPr/>
          <a:p/>
        </p:txBody>
      </p:sp>
      <p:sp>
        <p:nvSpPr>
          <p:cNvPr id="19" name="Shape 17"/>
          <p:cNvSpPr/>
          <p:nvPr/>
        </p:nvSpPr>
        <p:spPr>
          <a:xfrm>
            <a:off x="4754880" y="3054096"/>
            <a:ext cx="4114800" cy="32004"/>
          </a:xfrm>
          <a:prstGeom prst="rect">
            <a:avLst/>
          </a:prstGeom>
          <a:solidFill>
            <a:srgbClr val="C8A96E"/>
          </a:solidFill>
          <a:ln w="12700">
            <a:solidFill>
              <a:srgbClr val="C8A96E"/>
            </a:solidFill>
            <a:prstDash val="solid"/>
          </a:ln>
        </p:spPr>
        <p:txBody>
          <a:bodyPr/>
          <a:p/>
        </p:txBody>
      </p:sp>
      <p:sp>
        <p:nvSpPr>
          <p:cNvPr id="20" name="Text 18"/>
          <p:cNvSpPr/>
          <p:nvPr/>
        </p:nvSpPr>
        <p:spPr>
          <a:xfrm>
            <a:off x="4892040" y="3182112"/>
            <a:ext cx="3886200" cy="274320"/>
          </a:xfrm>
          <a:prstGeom prst="rect">
            <a:avLst/>
          </a:prstGeom>
          <a:noFill/>
          <a:ln/>
        </p:spPr>
        <p:txBody>
          <a:bodyPr wrap="square" lIns="0" tIns="0" rIns="0" bIns="0" rtlCol="0" anchor="ctr"/>
          <a:lstStyle/>
          <a:p>
            <a:pPr indent="0" marL="0">
              <a:buNone/>
            </a:pPr>
            <a:r>
              <a:rPr lang="en-US" sz="1000" b="1" dirty="0">
                <a:solidFill>
                  <a:srgbClr val="C8A96E"/>
                </a:solidFill>
                <a:latin typeface="Trebuchet MS" pitchFamily="34" charset="0"/>
                <a:ea typeface="Trebuchet MS" pitchFamily="34" charset="-122"/>
                <a:cs typeface="Trebuchet MS" pitchFamily="34" charset="-120"/>
              </a:rPr>
              <a:t>Structural mitigation 3</a:t>
            </a:r>
            <a:endParaRPr lang="en-US" sz="1000" dirty="0"/>
          </a:p>
        </p:txBody>
      </p:sp>
      <p:sp>
        <p:nvSpPr>
          <p:cNvPr id="21" name="Text 19"/>
          <p:cNvSpPr/>
          <p:nvPr/>
        </p:nvSpPr>
        <p:spPr>
          <a:xfrm>
            <a:off x="4892040" y="3511296"/>
            <a:ext cx="3886200" cy="777240"/>
          </a:xfrm>
          <a:prstGeom prst="rect">
            <a:avLst/>
          </a:prstGeom>
          <a:noFill/>
          <a:ln/>
        </p:spPr>
        <p:txBody>
          <a:bodyPr wrap="square" lIns="0" tIns="0" rIns="0" bIns="0" rtlCol="0" anchor="ctr"/>
          <a:lstStyle/>
          <a:p>
            <a:pPr indent="0" marL="0">
              <a:buNone/>
            </a:pPr>
            <a:r>
              <a:rPr lang="en-US" sz="900" dirty="0">
                <a:solidFill>
                  <a:srgbClr val="9A9086"/>
                </a:solidFill>
                <a:latin typeface="Calibri" pitchFamily="34" charset="0"/>
                <a:ea typeface="Calibri" pitchFamily="34" charset="-122"/>
                <a:cs typeface="Calibri" pitchFamily="34" charset="-120"/>
              </a:rPr>
              <a:t>XGBoost validation. Live signals are validated against current market conditions before the PM sees them. A historically strong signal that looks anomalous now is filtered before it reaches approval.</a:t>
            </a:r>
            <a:endParaRPr lang="en-US" sz="900" dirty="0"/>
          </a:p>
        </p:txBody>
      </p:sp>
      <p:sp>
        <p:nvSpPr>
          <p:cNvPr id="22" name="Shape 20"/>
          <p:cNvSpPr/>
          <p:nvPr/>
        </p:nvSpPr>
        <p:spPr>
          <a:xfrm>
            <a:off x="365760" y="4553712"/>
            <a:ext cx="8412480" cy="420624"/>
          </a:xfrm>
          <a:prstGeom prst="rect">
            <a:avLst/>
          </a:prstGeom>
          <a:solidFill>
            <a:srgbClr val="1A0D0D"/>
          </a:solidFill>
          <a:ln w="12700">
            <a:solidFill>
              <a:srgbClr val="242428"/>
            </a:solidFill>
            <a:prstDash val="solid"/>
          </a:ln>
        </p:spPr>
        <p:txBody>
          <a:bodyPr/>
          <a:p/>
        </p:txBody>
      </p:sp>
      <p:sp>
        <p:nvSpPr>
          <p:cNvPr id="23" name="Shape 21"/>
          <p:cNvSpPr/>
          <p:nvPr/>
        </p:nvSpPr>
        <p:spPr>
          <a:xfrm>
            <a:off x="365760" y="4553712"/>
            <a:ext cx="8412480" cy="36576"/>
          </a:xfrm>
          <a:prstGeom prst="rect">
            <a:avLst/>
          </a:prstGeom>
          <a:solidFill>
            <a:srgbClr val="8A3030"/>
          </a:solidFill>
          <a:ln w="12700">
            <a:solidFill>
              <a:srgbClr val="8A3030"/>
            </a:solidFill>
            <a:prstDash val="solid"/>
          </a:ln>
        </p:spPr>
        <p:txBody>
          <a:bodyPr/>
          <a:p/>
        </p:txBody>
      </p:sp>
      <p:sp>
        <p:nvSpPr>
          <p:cNvPr id="24" name="Text 22"/>
          <p:cNvSpPr/>
          <p:nvPr/>
        </p:nvSpPr>
        <p:spPr>
          <a:xfrm>
            <a:off x="502920" y="4590288"/>
            <a:ext cx="8229600" cy="347472"/>
          </a:xfrm>
          <a:prstGeom prst="rect">
            <a:avLst/>
          </a:prstGeom>
          <a:noFill/>
          <a:ln/>
        </p:spPr>
        <p:txBody>
          <a:bodyPr wrap="square" lIns="0" tIns="0" rIns="0" bIns="0" rtlCol="0" anchor="ctr"/>
          <a:lstStyle/>
          <a:p>
            <a:pPr indent="0" marL="0">
              <a:buNone/>
            </a:pPr>
            <a:r>
              <a:rPr lang="en-US" sz="850" i="1" dirty="0">
                <a:solidFill>
                  <a:srgbClr val="9A9086"/>
                </a:solidFill>
                <a:latin typeface="Calibri" pitchFamily="34" charset="0"/>
                <a:ea typeface="Calibri" pitchFamily="34" charset="-122"/>
                <a:cs typeface="Calibri" pitchFamily="34" charset="-120"/>
              </a:rPr>
              <a:t>What we do not yet have — Formal walk-forward validation — testing optimised parameters against genuinely out-of-sample data. This is on the near-term roadmap. Until then, the three mitigations above are the controls.</a:t>
            </a:r>
            <a:endParaRPr lang="en-US" sz="850" dirty="0"/>
          </a:p>
        </p:txBody>
      </p:sp>
      <p:sp>
        <p:nvSpPr>
          <p:cNvPr id="25" name="Text 23"/>
          <p:cNvSpPr/>
          <p:nvPr/>
        </p:nvSpPr>
        <p:spPr>
          <a:xfrm>
            <a:off x="365760" y="4919472"/>
            <a:ext cx="8412480" cy="164592"/>
          </a:xfrm>
          <a:prstGeom prst="rect">
            <a:avLst/>
          </a:prstGeom>
          <a:noFill/>
          <a:ln/>
        </p:spPr>
        <p:txBody>
          <a:bodyPr wrap="square" lIns="0" tIns="0" rIns="0" bIns="0" rtlCol="0" anchor="ctr"/>
          <a:lstStyle/>
          <a:p>
            <a:pPr algn="ctr" indent="0" marL="0">
              <a:buNone/>
            </a:pPr>
            <a:r>
              <a:rPr lang="en-US" sz="700" dirty="0">
                <a:solidFill>
                  <a:srgbClr val="5A5A60"/>
                </a:solidFill>
                <a:latin typeface="Calibri" pitchFamily="34" charset="0"/>
                <a:ea typeface="Calibri" pitchFamily="34" charset="-122"/>
                <a:cs typeface="Calibri" pitchFamily="34" charset="-120"/>
              </a:rPr>
              <a:t>Vektor by InvestPuppy  ·  Technical Deep Dive</a:t>
            </a:r>
            <a:endParaRPr lang="en-US" sz="700" dirty="0"/>
          </a:p>
        </p:txBody>
      </p:sp>
      <p:pic>
        <p:nvPicPr>
          <p:cNvPr id="26" name="Picture 25" descr="IPHorizontalClear.png"/>
          <p:cNvPicPr>
            <a:picLocks noChangeAspect="1"/>
          </p:cNvPicPr>
          <p:nvPr/>
        </p:nvPicPr>
        <p:blipFill>
          <a:blip r:embed="rId3"/>
          <a:stretch>
            <a:fillRect/>
          </a:stretch>
        </p:blipFill>
        <p:spPr>
          <a:xfrm>
            <a:off x="468000" y="4608000"/>
            <a:ext cx="864000" cy="3697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8A96E"/>
          </a:solidFill>
          <a:ln w="12700">
            <a:solidFill>
              <a:srgbClr val="C8A96E"/>
            </a:solidFill>
            <a:prstDash val="solid"/>
          </a:ln>
        </p:spPr>
        <p:txBody>
          <a:bodyPr/>
          <a:p/>
        </p:txBody>
      </p:sp>
      <p:sp>
        <p:nvSpPr>
          <p:cNvPr id="3" name="Shape 1"/>
          <p:cNvSpPr/>
          <p:nvPr/>
        </p:nvSpPr>
        <p:spPr>
          <a:xfrm>
            <a:off x="0" y="5088636"/>
            <a:ext cx="9144000" cy="54864"/>
          </a:xfrm>
          <a:prstGeom prst="rect">
            <a:avLst/>
          </a:prstGeom>
          <a:solidFill>
            <a:srgbClr val="C8A96E"/>
          </a:solidFill>
          <a:ln w="12700">
            <a:solidFill>
              <a:srgbClr val="C8A96E"/>
            </a:solidFill>
            <a:prstDash val="solid"/>
          </a:ln>
        </p:spPr>
        <p:txBody>
          <a:bodyPr/>
          <a:p/>
        </p:txBody>
      </p:sp>
      <p:pic>
        <p:nvPicPr>
          <p:cNvPr id="4" name="Image 0" descr="/mnt/user-data/uploads/VEKTOR-transparent.png"/>
          <p:cNvPicPr>
            <a:picLocks noChangeAspect="1"/>
          </p:cNvPicPr>
          <p:nvPr/>
        </p:nvPicPr>
        <p:blipFill>
          <a:blip r:embed="rId1"/>
          <a:stretch>
            <a:fillRect/>
          </a:stretch>
        </p:blipFill>
        <p:spPr>
          <a:xfrm>
            <a:off x="3017520" y="914400"/>
            <a:ext cx="3108960" cy="1088136"/>
          </a:xfrm>
          <a:prstGeom prst="rect">
            <a:avLst/>
          </a:prstGeom>
        </p:spPr>
      </p:pic>
      <p:sp>
        <p:nvSpPr>
          <p:cNvPr id="5" name="Shape 2"/>
          <p:cNvSpPr/>
          <p:nvPr/>
        </p:nvSpPr>
        <p:spPr>
          <a:xfrm>
            <a:off x="1828800" y="2286000"/>
            <a:ext cx="5486400" cy="0"/>
          </a:xfrm>
          <a:prstGeom prst="line">
            <a:avLst/>
          </a:prstGeom>
          <a:noFill/>
          <a:ln w="12700">
            <a:solidFill>
              <a:srgbClr val="5A5A60"/>
            </a:solidFill>
            <a:prstDash val="solid"/>
          </a:ln>
        </p:spPr>
        <p:txBody>
          <a:bodyPr/>
          <a:p/>
        </p:txBody>
      </p:sp>
      <p:sp>
        <p:nvSpPr>
          <p:cNvPr id="6" name="Text 3"/>
          <p:cNvSpPr/>
          <p:nvPr/>
        </p:nvSpPr>
        <p:spPr>
          <a:xfrm>
            <a:off x="2743200" y="2423160"/>
            <a:ext cx="3657600" cy="182880"/>
          </a:xfrm>
          <a:prstGeom prst="rect">
            <a:avLst/>
          </a:prstGeom>
          <a:noFill/>
          <a:ln/>
        </p:spPr>
        <p:txBody>
          <a:bodyPr wrap="square" lIns="0" tIns="0" rIns="0" bIns="0" rtlCol="0" anchor="ctr"/>
          <a:lstStyle/>
          <a:p>
            <a:pPr algn="ctr" indent="0" marL="0">
              <a:buNone/>
            </a:pPr>
            <a:r>
              <a:rPr lang="en-US" sz="700" spc="500" kern="0" dirty="0">
                <a:solidFill>
                  <a:srgbClr val="9A9086"/>
                </a:solidFill>
                <a:latin typeface="Calibri" pitchFamily="34" charset="0"/>
                <a:ea typeface="Calibri" pitchFamily="34" charset="-122"/>
                <a:cs typeface="Calibri" pitchFamily="34" charset="-120"/>
              </a:rPr>
              <a:t>BY INVESTPUPPY</a:t>
            </a:r>
            <a:endParaRPr lang="en-US" sz="700" dirty="0"/>
          </a:p>
        </p:txBody>
      </p:sp>
      <p:sp>
        <p:nvSpPr>
          <p:cNvPr id="7" name="Text 4"/>
          <p:cNvSpPr/>
          <p:nvPr/>
        </p:nvSpPr>
        <p:spPr>
          <a:xfrm>
            <a:off x="914400" y="2926080"/>
            <a:ext cx="7315200" cy="320040"/>
          </a:xfrm>
          <a:prstGeom prst="rect">
            <a:avLst/>
          </a:prstGeom>
          <a:noFill/>
          <a:ln/>
        </p:spPr>
        <p:txBody>
          <a:bodyPr wrap="square" lIns="0" tIns="0" rIns="0" bIns="0" rtlCol="0" anchor="ctr"/>
          <a:lstStyle/>
          <a:p>
            <a:pPr algn="ctr" indent="0" marL="0">
              <a:buNone/>
            </a:pPr>
            <a:r>
              <a:rPr lang="en-US" sz="1100" i="1" dirty="0">
                <a:solidFill>
                  <a:srgbClr val="9A9086"/>
                </a:solidFill>
                <a:latin typeface="Calibri" pitchFamily="34" charset="0"/>
                <a:ea typeface="Calibri" pitchFamily="34" charset="-122"/>
                <a:cs typeface="Calibri" pitchFamily="34" charset="-120"/>
              </a:rPr>
              <a:t>Request the full research series — ten white papers.</a:t>
            </a:r>
            <a:endParaRPr lang="en-US" sz="1100" dirty="0"/>
          </a:p>
        </p:txBody>
      </p:sp>
      <p:sp>
        <p:nvSpPr>
          <p:cNvPr id="8" name="Text 5"/>
          <p:cNvSpPr/>
          <p:nvPr/>
        </p:nvSpPr>
        <p:spPr>
          <a:xfrm>
            <a:off x="914400" y="3337560"/>
            <a:ext cx="7315200" cy="365760"/>
          </a:xfrm>
          <a:prstGeom prst="rect">
            <a:avLst/>
          </a:prstGeom>
          <a:noFill/>
          <a:ln/>
        </p:spPr>
        <p:txBody>
          <a:bodyPr wrap="square" lIns="0" tIns="0" rIns="0" bIns="0" rtlCol="0" anchor="ctr"/>
          <a:lstStyle/>
          <a:p>
            <a:pPr algn="ctr" indent="0" marL="0">
              <a:buNone/>
            </a:pPr>
            <a:r>
              <a:rPr lang="en-US" sz="1800" b="1" dirty="0">
                <a:solidFill>
                  <a:srgbClr val="C8A96E"/>
                </a:solidFill>
                <a:latin typeface="Trebuchet MS" pitchFamily="34" charset="0"/>
                <a:ea typeface="Trebuchet MS" pitchFamily="34" charset="-122"/>
                <a:cs typeface="Trebuchet MS" pitchFamily="34" charset="-120"/>
              </a:rPr>
              <a:t>investpuppy.com</a:t>
            </a:r>
            <a:endParaRPr lang="en-US" sz="1800" dirty="0"/>
          </a:p>
        </p:txBody>
      </p:sp>
      <p:sp>
        <p:nvSpPr>
          <p:cNvPr id="9" name="Text 6"/>
          <p:cNvSpPr/>
          <p:nvPr/>
        </p:nvSpPr>
        <p:spPr>
          <a:xfrm>
            <a:off x="914400" y="3794760"/>
            <a:ext cx="7315200" cy="256032"/>
          </a:xfrm>
          <a:prstGeom prst="rect">
            <a:avLst/>
          </a:prstGeom>
          <a:noFill/>
          <a:ln/>
        </p:spPr>
        <p:txBody>
          <a:bodyPr wrap="square" lIns="0" tIns="0" rIns="0" bIns="0" rtlCol="0" anchor="ctr"/>
          <a:lstStyle/>
          <a:p>
            <a:pPr algn="ctr" indent="0" marL="0">
              <a:buNone/>
            </a:pPr>
            <a:r>
              <a:rPr lang="en-US" sz="1100" dirty="0">
                <a:solidFill>
                  <a:srgbClr val="9A9086"/>
                </a:solidFill>
                <a:latin typeface="Calibri" pitchFamily="34" charset="0"/>
                <a:ea typeface="Calibri" pitchFamily="34" charset="-122"/>
                <a:cs typeface="Calibri" pitchFamily="34" charset="-120"/>
              </a:rPr>
              <a:t>contact@investpuppy.com</a:t>
            </a:r>
            <a:endParaRPr lang="en-US" sz="1100" dirty="0"/>
          </a:p>
        </p:txBody>
      </p:sp>
      <p:pic>
        <p:nvPicPr>
          <p:cNvPr id="10" name="Picture 9" descr="IPHorizontalClear.png"/>
          <p:cNvPicPr>
            <a:picLocks noChangeAspect="1"/>
          </p:cNvPicPr>
          <p:nvPr/>
        </p:nvPicPr>
        <p:blipFill>
          <a:blip r:embed="rId4"/>
          <a:stretch>
            <a:fillRect/>
          </a:stretch>
        </p:blipFill>
        <p:spPr>
          <a:xfrm>
            <a:off x="7596000" y="4248000"/>
            <a:ext cx="1080000" cy="462130"/>
          </a:xfrm>
          <a:prstGeom prst="rect">
            <a:avLst/>
          </a:prstGeom>
        </p:spPr>
      </p:pic>
      <p:sp>
        <p:nvSpPr>
          <p:cNvPr id="11" name="TextBox 10"/>
          <p:cNvSpPr txBox="1"/>
          <p:nvPr/>
        </p:nvSpPr>
        <p:spPr>
          <a:xfrm>
            <a:off x="914400" y="2592000"/>
            <a:ext cx="7315200" cy="288000"/>
          </a:xfrm>
          <a:prstGeom prst="rect">
            <a:avLst/>
          </a:prstGeom>
          <a:noFill/>
        </p:spPr>
        <p:txBody>
          <a:bodyPr wrap="none">
            <a:spAutoFit/>
          </a:bodyPr>
          <a:lstStyle/>
          <a:p>
            <a:pPr algn="ctr"/>
            <a:r>
              <a:rPr sz="1000" i="1">
                <a:solidFill>
                  <a:srgbClr val="9A9086"/>
                </a:solidFill>
                <a:latin typeface="Helvetica"/>
              </a:rPr>
              <a:t>Serious when it matters.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Vektor — Technical Deep Dive v2</dc:title>
  <dc:subject>PptxGenJS Presentation</dc:subject>
  <dc:creator>PptxGenJS</dc:creator>
  <cp:lastModifiedBy>PptxGenJS</cp:lastModifiedBy>
  <cp:revision>1</cp:revision>
  <dcterms:created xsi:type="dcterms:W3CDTF">2026-05-05T08:04:34Z</dcterms:created>
  <dcterms:modified xsi:type="dcterms:W3CDTF">2026-05-05T08:04:34Z</dcterms:modified>
</cp:coreProperties>
</file>