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743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459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2608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5661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062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463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2648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7665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066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32688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96696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60704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247120" y="0"/>
            <a:ext cx="2743200" cy="2743200"/>
          </a:xfrm>
          <a:prstGeom prst="line">
            <a:avLst/>
          </a:prstGeom>
          <a:noFill/>
          <a:ln w="12700">
            <a:solidFill>
              <a:srgbClr val="14141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/mnt/user-data/uploads/VEKTOR-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822960"/>
            <a:ext cx="3291840" cy="11521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SIXTY-MINUTE MEETING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371600" y="2578608"/>
            <a:ext cx="6400800" cy="0"/>
          </a:xfrm>
          <a:prstGeom prst="line">
            <a:avLst/>
          </a:prstGeom>
          <a:noFill/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Size Fits None.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1097280" y="37307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wealth teams the quantitative infrastructure institutional asset managers take for granted.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investpuppy.com  ·  contact@investpuppy.com  ·  For professional and institutional investors only</a:t>
            </a:r>
            <a:endParaRPr lang="en-US" sz="650" dirty="0"/>
          </a:p>
        </p:txBody>
      </p:sp>
      <p:pic>
        <p:nvPicPr>
          <p:cNvPr id="30" name="Picture 29" descr="IPHorizontalCl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000" y="4140000"/>
            <a:ext cx="1080000" cy="46213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3456000"/>
            <a:ext cx="82296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9A9086"/>
                </a:solidFill>
                <a:latin typeface="Helvetica"/>
              </a:rPr>
              <a:t>Serious when it matters.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 that generate genuine alpha have always required institutional infrastructure.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don't cut it. Institutional platforms are out of reach. Retail robo-tools were built for someone else entirely.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347472"/>
            <a:ext cx="3017520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06440" y="347472"/>
            <a:ext cx="301752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484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process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7863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allocation. No systematic signal selection.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764792"/>
            <a:ext cx="3017520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06440" y="1764792"/>
            <a:ext cx="301752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2037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undocumented. Compliance exposure.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3182112"/>
            <a:ext cx="3017520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3182112"/>
            <a:ext cx="301752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ceiling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6210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mandates means adding headcount.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19" name="Picture 18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Systematic listed equity portfolio management.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or integrated. Complement, not replace.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329184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Universe to portfolio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500+ instruments down to a target portfolio using liquidity, sector, and dividend criteria. 10,000 portfolio configurations map the efficient frontier; Modern Portfolio Theory identifies the max-Sharpe allocation.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743200" cy="329184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Per-instrument signal selection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9339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across six technical indicators per holding. XGBoost validates every live signal before it reaches the portfolio manager's review screen.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743200" cy="329184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allocation precision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99339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weights become exact share quantities at live prices, with lot-size rounding and cash buffer management. 99.94%+ allocation efficiency.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18" name="Picture 17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Eleven steps. From universe screening to funded positions.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87552"/>
            <a:ext cx="1298448" cy="36576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38988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universe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92224" y="987552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92224" y="987552"/>
            <a:ext cx="1298448" cy="36576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10607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65376" y="138988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90672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36976" y="987552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987552"/>
            <a:ext cx="1298448" cy="36576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10607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38988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35424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81728" y="987552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987552"/>
            <a:ext cx="1298448" cy="36576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0607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38988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diversification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0176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987552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87552"/>
            <a:ext cx="1298448" cy="36576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0607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9632" y="138988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signals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24928" y="146304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71232" y="987552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71232" y="987552"/>
            <a:ext cx="1298448" cy="36576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10607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44384" y="138988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review &amp; approval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2523744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2523744"/>
            <a:ext cx="1298448" cy="36576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5968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0624" y="292608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client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645920" y="299923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92224" y="2523744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792224" y="2523744"/>
            <a:ext cx="1298448" cy="36576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92224" y="25968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865376" y="292608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allocation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090672" y="299923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36976" y="2523744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36976" y="2523744"/>
            <a:ext cx="1298448" cy="36576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36976" y="25968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310128" y="292608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mandate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35424" y="299923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81728" y="2523744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81728" y="2523744"/>
            <a:ext cx="1298448" cy="36576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25968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754880" y="292608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orders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80176" y="299923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60"/>
                </a:solidFill>
              </a:rPr>
              <a:t>→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26480" y="2523744"/>
            <a:ext cx="1298448" cy="126187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26480" y="2523744"/>
            <a:ext cx="1298448" cy="36576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59689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199632" y="292608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4645152"/>
            <a:ext cx="164592" cy="164592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Analyst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377440" y="4645152"/>
            <a:ext cx="164592" cy="164592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0604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389120" y="4645152"/>
            <a:ext cx="164592" cy="164592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64" name="Picture 63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VEKTOR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reasons a DPM switches from spreadsheets to systematic.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743200" cy="15727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Scalability without headcount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514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client mandates is a database operation. The platform scales; your team doesn't have to.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987552"/>
            <a:ext cx="2743200" cy="15727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875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247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Audit trail by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514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with user identity and timestamp. Compliance documentation is a by-product of normal operation.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987552"/>
            <a:ext cx="2743200" cy="15727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875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247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Signal quality, per instrument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514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indicator for the whole portfolio. The optimal technical indicator, selected and validated, for every individual holding.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16352"/>
            <a:ext cx="4114800" cy="15727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16352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53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Capital 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3886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99.94%+ capital allocation efficiency. Percentage weights become exact quantities at live prices.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16352"/>
            <a:ext cx="4114800" cy="157276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816352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53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Any market, any currency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291840"/>
            <a:ext cx="3886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Exchange, benchmark, and currency are configuration parameters. SGX today. Any listed market tomorrow.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25" name="Picture 24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platform produces.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6420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configurations — efficient frontier mapped, MPT selects max-Sharpe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66420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704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99.94%+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937760" y="20482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 efficiency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66420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906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48640" y="39684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evaluated per instrument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66420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906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years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937760" y="39684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 history for signal optimisation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21" name="Picture 20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are, and what we are not.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365760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52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systematic portfolio construction platform for listed equities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 eleven-step workflow from screening to funded positions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platform built for DPMs managing client capital, not retail investors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Market-agnostic — any exchange, any currency, any benchmark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24128"/>
            <a:ext cx="4114800" cy="3657600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24128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52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5727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black box — every decision is visible, logged, and human-approved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2311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replacement for the portfolio manager's judgement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8895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robo-advisor — institutional controls at every stage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5478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 production with live client capital yet — we are building that 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20" name="Picture 19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will run the platform on your market, your benchmark, your currency.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listed equity market, any currency, any benchmark. We will run the full Vektor workflow and show you the output live — the efficient frontier, the correlation matrix, the max-Sharpe allocation, and the per-instrument signal selection.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slides. No promises. Just the platform, working on your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36576" cy="9144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3090672"/>
            <a:ext cx="8284464" cy="914400"/>
          </a:xfrm>
          <a:prstGeom prst="rect">
            <a:avLst/>
          </a:prstGeom>
          <a:solidFill>
            <a:srgbClr val="161618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3136392"/>
            <a:ext cx="8065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SGX is the demonstrated market. Any listed equity exchange with sufficient price history is supported — configure the exchange, lot sizes, and benchmark. The engine runs identically.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11" name="Picture 10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INTEGRATION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changes. What stays exactly as it is.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 task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834640" y="987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Vektor's role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987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8430768" cy="22860"/>
          </a:xfrm>
          <a:prstGeom prst="rect">
            <a:avLst/>
          </a:prstGeom>
          <a:solidFill>
            <a:srgbClr val="5A5A60"/>
          </a:solidFill>
          <a:ln w="12700">
            <a:solidFill>
              <a:srgbClr val="5A5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8430768" cy="53035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533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screening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07792" y="1353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3533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screening vs configured criteria. Replaces manual Bloomberg filters.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8430768" cy="530352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019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07792" y="19019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90195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portfolio configurations → efficient frontier → MPT max-Sharpe allocation. Replaces Excel model.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8430768" cy="53035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4505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selection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07792" y="24505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4505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across 6 indicators per instrument. XGBoost validated.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30768" cy="530352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992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approval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07792" y="29992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29992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reviews complete strategy and approves. Structurally required. Better-informed.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8430768" cy="530352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547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→ share quantities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07792" y="35478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35478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lot-rounded quantities at live prices. 99.94%+ allocation efficiency.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041648"/>
            <a:ext cx="8430768" cy="530352"/>
          </a:xfrm>
          <a:prstGeom prst="rect">
            <a:avLst/>
          </a:prstGeom>
          <a:solidFill>
            <a:srgbClr val="0D0D12"/>
          </a:solidFill>
          <a:ln w="12700">
            <a:solidFill>
              <a:srgbClr val="0D0D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0965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relationships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07792" y="40965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40965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Suitability, reporting, communication — entirely with the portfolio manager.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33" name="Picture 32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YOU TO KNOW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we will tell you before you ask.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743200" cy="349300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live track record yet.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operational in simulation mode. The complete workflow — research through order execution — is tested and running. A live track record begins with the first Founding Mandate client. We say this directly because it is a material fact.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78992"/>
            <a:ext cx="2743200" cy="349300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7899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is not live trading.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993392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IBKR connection currently runs on a simulation account. Market impact, partial fills, and liquidity constraints are not yet modelled in live conditions. Live execution is activated before the first client onboards — that is a defined trigger, not a vague roadmap item.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78992"/>
            <a:ext cx="2743200" cy="3493008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7899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Backtest ≠ live performance.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993392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strategies optimised on historical data will not perform identically in live markets. XGBoost validation reduces this gap. Walk-forward validation — the most rigorous proxy — is on the near-term roadmap. The PM approval gate is the final human check before any capital moves.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disclosure: WP-09 · Risk &amp; Limitation Disclosure — available in the document suite.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22" name="Picture 21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MANDATE PROGRAMME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window is closing.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five Founding Mandate positions. When the cohort is complete, these terms are gone permanently.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1335024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Commercial terms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Mandate pricing — locked permanently. Never increases.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4114800" cy="1335024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72768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access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20299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around your specific instruments, markets, and client profile.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4114800" cy="1335024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54096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input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5112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input into product development. Your workflow shapes the platform.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054096"/>
            <a:ext cx="4114800" cy="1335024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54096"/>
            <a:ext cx="41148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5112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as a Founding Mandate partner in all communications.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23" name="Picture 22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FROM THE FOUNDER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Vektor was built because the tools that generate genuine alpha have always been out of reach for the firms that need them most.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321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DPMs, boutique family offices, emerging market asset managers — these firms are doing real work with real clients, and they deserve institutional-grade tools.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is not a robo-advisor. It is not built for retail investors. It is built for professionals who manage capital seriously, who want systematic rigour without sacrificing their own judgement, and who believe that a well-constructed, well-governed quantitative process is better than an undocumented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Mandate programme is how we build this together. Not by selling a finished product — by partnering with the firms whose workflows shape what gets built.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46451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INVESTPUPPY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9" name="Picture 8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SUITE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you need for a complete due diligence process.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743200" cy="162763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 + Brochure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and eleven-step workflow.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and four pages. First read.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91840" y="987552"/>
            <a:ext cx="2743200" cy="162763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875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15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29000" y="1389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Vektor + Brand Story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773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argument and the origin of the platform.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29000" y="2304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PM and the principal.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17920" y="987552"/>
            <a:ext cx="2743200" cy="162763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875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115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55080" y="1389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WP-01 through WP-05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1773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construction, signal optimisation, allocation, multi-currency.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55080" y="2304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quant analysts and technical reviewers.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816352"/>
            <a:ext cx="2743200" cy="162763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163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9443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2920" y="32186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WP-06, WP-08, WP-09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6027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AI governance, risk disclosure.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133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compliance officers and risk committees.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91840" y="2816352"/>
            <a:ext cx="2743200" cy="162763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8163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29443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29000" y="32186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WP-07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9000" y="36027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architecture, decision log, integration patterns.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29000" y="4133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CTOs and technical due diligence.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217920" y="2816352"/>
            <a:ext cx="2743200" cy="1627632"/>
          </a:xfrm>
          <a:prstGeom prst="rect">
            <a:avLst/>
          </a:prstGeom>
          <a:solidFill>
            <a:srgbClr val="0D0D12"/>
          </a:solidFill>
          <a:ln w="12700">
            <a:solidFill>
              <a:srgbClr val="24242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816352"/>
            <a:ext cx="2743200" cy="3200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9443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55080" y="32186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 Navigation Guide + FAQ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6027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document answers which question. Twelve plain-language answers.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55080" y="4133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if the suite feels large.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The Sixty-Minute Meeting</a:t>
            </a:r>
            <a:endParaRPr lang="en-US" sz="700" dirty="0"/>
          </a:p>
        </p:txBody>
      </p:sp>
      <p:pic>
        <p:nvPicPr>
          <p:cNvPr id="41" name="Picture 40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936000" cy="4005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pic>
        <p:nvPicPr>
          <p:cNvPr id="4" name="Image 0" descr="/mnt/user-data/uploads/VEKTOR-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914400"/>
            <a:ext cx="3108960" cy="10881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2286000"/>
            <a:ext cx="5486400" cy="0"/>
          </a:xfrm>
          <a:prstGeom prst="line">
            <a:avLst/>
          </a:prstGeom>
          <a:noFill/>
          <a:ln w="12700">
            <a:solidFill>
              <a:srgbClr val="5A5A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0" y="2423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INVESTPUPPY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Enquire about Founding Mandate availability.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investpuppy.com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contact@investpuppy.com</a:t>
            </a:r>
            <a:endParaRPr lang="en-US" sz="1100" dirty="0"/>
          </a:p>
        </p:txBody>
      </p:sp>
      <p:pic>
        <p:nvPicPr>
          <p:cNvPr id="10" name="Picture 9" descr="IPHorizontalCl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000" y="4248000"/>
            <a:ext cx="1080000" cy="4621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2592000"/>
            <a:ext cx="73152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9A9086"/>
                </a:solidFill>
                <a:latin typeface="Helvetica"/>
              </a:rPr>
              <a:t>Serious when it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Vektor — The Sixty-Minute Meeting</dc:title>
  <dc:subject>PptxGenJS Presentation</dc:subject>
  <dc:creator>PptxGenJS</dc:creator>
  <cp:lastModifiedBy>PptxGenJS</cp:lastModifiedBy>
  <cp:revision>1</cp:revision>
  <dcterms:created xsi:type="dcterms:W3CDTF">2026-05-05T08:04:34Z</dcterms:created>
  <dcterms:modified xsi:type="dcterms:W3CDTF">2026-05-05T08:04:34Z</dcterms:modified>
</cp:coreProperties>
</file>