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914400" y="0"/>
            <a:ext cx="2743200" cy="2743200"/>
          </a:xfrm>
          <a:prstGeom prst="line">
            <a:avLst/>
          </a:prstGeom>
          <a:noFill/>
          <a:ln w="12700">
            <a:solidFill>
              <a:srgbClr val="141418"/>
            </a:solidFill>
            <a:prstDash val="solid"/>
          </a:ln>
        </p:spPr>
        <p:txBody>
          <a:bodyPr/>
          <a:p/>
        </p:txBody>
      </p:sp>
      <p:sp>
        <p:nvSpPr>
          <p:cNvPr id="3" name="Shape 1"/>
          <p:cNvSpPr/>
          <p:nvPr/>
        </p:nvSpPr>
        <p:spPr>
          <a:xfrm>
            <a:off x="-274320" y="0"/>
            <a:ext cx="2743200" cy="2743200"/>
          </a:xfrm>
          <a:prstGeom prst="line">
            <a:avLst/>
          </a:prstGeom>
          <a:noFill/>
          <a:ln w="12700">
            <a:solidFill>
              <a:srgbClr val="141418"/>
            </a:solidFill>
            <a:prstDash val="solid"/>
          </a:ln>
        </p:spPr>
        <p:txBody>
          <a:bodyPr/>
          <a:p/>
        </p:txBody>
      </p:sp>
      <p:sp>
        <p:nvSpPr>
          <p:cNvPr id="4" name="Shape 2"/>
          <p:cNvSpPr/>
          <p:nvPr/>
        </p:nvSpPr>
        <p:spPr>
          <a:xfrm>
            <a:off x="365760" y="0"/>
            <a:ext cx="2743200" cy="2743200"/>
          </a:xfrm>
          <a:prstGeom prst="line">
            <a:avLst/>
          </a:prstGeom>
          <a:noFill/>
          <a:ln w="12700">
            <a:solidFill>
              <a:srgbClr val="141418"/>
            </a:solidFill>
            <a:prstDash val="solid"/>
          </a:ln>
        </p:spPr>
        <p:txBody>
          <a:bodyPr/>
          <a:p/>
        </p:txBody>
      </p:sp>
      <p:sp>
        <p:nvSpPr>
          <p:cNvPr id="5" name="Shape 3"/>
          <p:cNvSpPr/>
          <p:nvPr/>
        </p:nvSpPr>
        <p:spPr>
          <a:xfrm>
            <a:off x="1005840" y="0"/>
            <a:ext cx="2743200" cy="2743200"/>
          </a:xfrm>
          <a:prstGeom prst="line">
            <a:avLst/>
          </a:prstGeom>
          <a:noFill/>
          <a:ln w="12700">
            <a:solidFill>
              <a:srgbClr val="141418"/>
            </a:solidFill>
            <a:prstDash val="solid"/>
          </a:ln>
        </p:spPr>
        <p:txBody>
          <a:bodyPr/>
          <a:p/>
        </p:txBody>
      </p:sp>
      <p:sp>
        <p:nvSpPr>
          <p:cNvPr id="6" name="Shape 4"/>
          <p:cNvSpPr/>
          <p:nvPr/>
        </p:nvSpPr>
        <p:spPr>
          <a:xfrm>
            <a:off x="1645920" y="0"/>
            <a:ext cx="2743200" cy="2743200"/>
          </a:xfrm>
          <a:prstGeom prst="line">
            <a:avLst/>
          </a:prstGeom>
          <a:noFill/>
          <a:ln w="12700">
            <a:solidFill>
              <a:srgbClr val="141418"/>
            </a:solidFill>
            <a:prstDash val="solid"/>
          </a:ln>
        </p:spPr>
        <p:txBody>
          <a:bodyPr/>
          <a:p/>
        </p:txBody>
      </p:sp>
      <p:sp>
        <p:nvSpPr>
          <p:cNvPr id="7" name="Shape 5"/>
          <p:cNvSpPr/>
          <p:nvPr/>
        </p:nvSpPr>
        <p:spPr>
          <a:xfrm>
            <a:off x="2286000" y="0"/>
            <a:ext cx="2743200" cy="2743200"/>
          </a:xfrm>
          <a:prstGeom prst="line">
            <a:avLst/>
          </a:prstGeom>
          <a:noFill/>
          <a:ln w="12700">
            <a:solidFill>
              <a:srgbClr val="141418"/>
            </a:solidFill>
            <a:prstDash val="solid"/>
          </a:ln>
        </p:spPr>
        <p:txBody>
          <a:bodyPr/>
          <a:p/>
        </p:txBody>
      </p:sp>
      <p:sp>
        <p:nvSpPr>
          <p:cNvPr id="8" name="Shape 6"/>
          <p:cNvSpPr/>
          <p:nvPr/>
        </p:nvSpPr>
        <p:spPr>
          <a:xfrm>
            <a:off x="2926080" y="0"/>
            <a:ext cx="2743200" cy="2743200"/>
          </a:xfrm>
          <a:prstGeom prst="line">
            <a:avLst/>
          </a:prstGeom>
          <a:noFill/>
          <a:ln w="12700">
            <a:solidFill>
              <a:srgbClr val="141418"/>
            </a:solidFill>
            <a:prstDash val="solid"/>
          </a:ln>
        </p:spPr>
        <p:txBody>
          <a:bodyPr/>
          <a:p/>
        </p:txBody>
      </p:sp>
      <p:sp>
        <p:nvSpPr>
          <p:cNvPr id="9" name="Shape 7"/>
          <p:cNvSpPr/>
          <p:nvPr/>
        </p:nvSpPr>
        <p:spPr>
          <a:xfrm>
            <a:off x="3566160" y="0"/>
            <a:ext cx="2743200" cy="2743200"/>
          </a:xfrm>
          <a:prstGeom prst="line">
            <a:avLst/>
          </a:prstGeom>
          <a:noFill/>
          <a:ln w="12700">
            <a:solidFill>
              <a:srgbClr val="141418"/>
            </a:solidFill>
            <a:prstDash val="solid"/>
          </a:ln>
        </p:spPr>
        <p:txBody>
          <a:bodyPr/>
          <a:p/>
        </p:txBody>
      </p:sp>
      <p:sp>
        <p:nvSpPr>
          <p:cNvPr id="10" name="Shape 8"/>
          <p:cNvSpPr/>
          <p:nvPr/>
        </p:nvSpPr>
        <p:spPr>
          <a:xfrm>
            <a:off x="4206240" y="0"/>
            <a:ext cx="2743200" cy="2743200"/>
          </a:xfrm>
          <a:prstGeom prst="line">
            <a:avLst/>
          </a:prstGeom>
          <a:noFill/>
          <a:ln w="12700">
            <a:solidFill>
              <a:srgbClr val="141418"/>
            </a:solidFill>
            <a:prstDash val="solid"/>
          </a:ln>
        </p:spPr>
        <p:txBody>
          <a:bodyPr/>
          <a:p/>
        </p:txBody>
      </p:sp>
      <p:sp>
        <p:nvSpPr>
          <p:cNvPr id="11" name="Shape 9"/>
          <p:cNvSpPr/>
          <p:nvPr/>
        </p:nvSpPr>
        <p:spPr>
          <a:xfrm>
            <a:off x="4846320" y="0"/>
            <a:ext cx="2743200" cy="2743200"/>
          </a:xfrm>
          <a:prstGeom prst="line">
            <a:avLst/>
          </a:prstGeom>
          <a:noFill/>
          <a:ln w="12700">
            <a:solidFill>
              <a:srgbClr val="141418"/>
            </a:solidFill>
            <a:prstDash val="solid"/>
          </a:ln>
        </p:spPr>
        <p:txBody>
          <a:bodyPr/>
          <a:p/>
        </p:txBody>
      </p:sp>
      <p:sp>
        <p:nvSpPr>
          <p:cNvPr id="12" name="Shape 10"/>
          <p:cNvSpPr/>
          <p:nvPr/>
        </p:nvSpPr>
        <p:spPr>
          <a:xfrm>
            <a:off x="5486400" y="0"/>
            <a:ext cx="2743200" cy="2743200"/>
          </a:xfrm>
          <a:prstGeom prst="line">
            <a:avLst/>
          </a:prstGeom>
          <a:noFill/>
          <a:ln w="12700">
            <a:solidFill>
              <a:srgbClr val="141418"/>
            </a:solidFill>
            <a:prstDash val="solid"/>
          </a:ln>
        </p:spPr>
        <p:txBody>
          <a:bodyPr/>
          <a:p/>
        </p:txBody>
      </p:sp>
      <p:sp>
        <p:nvSpPr>
          <p:cNvPr id="13" name="Shape 11"/>
          <p:cNvSpPr/>
          <p:nvPr/>
        </p:nvSpPr>
        <p:spPr>
          <a:xfrm>
            <a:off x="6126480" y="0"/>
            <a:ext cx="2743200" cy="2743200"/>
          </a:xfrm>
          <a:prstGeom prst="line">
            <a:avLst/>
          </a:prstGeom>
          <a:noFill/>
          <a:ln w="12700">
            <a:solidFill>
              <a:srgbClr val="141418"/>
            </a:solidFill>
            <a:prstDash val="solid"/>
          </a:ln>
        </p:spPr>
        <p:txBody>
          <a:bodyPr/>
          <a:p/>
        </p:txBody>
      </p:sp>
      <p:sp>
        <p:nvSpPr>
          <p:cNvPr id="14" name="Shape 12"/>
          <p:cNvSpPr/>
          <p:nvPr/>
        </p:nvSpPr>
        <p:spPr>
          <a:xfrm>
            <a:off x="6766560" y="0"/>
            <a:ext cx="2743200" cy="2743200"/>
          </a:xfrm>
          <a:prstGeom prst="line">
            <a:avLst/>
          </a:prstGeom>
          <a:noFill/>
          <a:ln w="12700">
            <a:solidFill>
              <a:srgbClr val="141418"/>
            </a:solidFill>
            <a:prstDash val="solid"/>
          </a:ln>
        </p:spPr>
        <p:txBody>
          <a:bodyPr/>
          <a:p/>
        </p:txBody>
      </p:sp>
      <p:sp>
        <p:nvSpPr>
          <p:cNvPr id="15" name="Shape 13"/>
          <p:cNvSpPr/>
          <p:nvPr/>
        </p:nvSpPr>
        <p:spPr>
          <a:xfrm>
            <a:off x="7406640" y="0"/>
            <a:ext cx="2743200" cy="2743200"/>
          </a:xfrm>
          <a:prstGeom prst="line">
            <a:avLst/>
          </a:prstGeom>
          <a:noFill/>
          <a:ln w="12700">
            <a:solidFill>
              <a:srgbClr val="141418"/>
            </a:solidFill>
            <a:prstDash val="solid"/>
          </a:ln>
        </p:spPr>
        <p:txBody>
          <a:bodyPr/>
          <a:p/>
        </p:txBody>
      </p:sp>
      <p:sp>
        <p:nvSpPr>
          <p:cNvPr id="16" name="Shape 14"/>
          <p:cNvSpPr/>
          <p:nvPr/>
        </p:nvSpPr>
        <p:spPr>
          <a:xfrm>
            <a:off x="8046720" y="0"/>
            <a:ext cx="2743200" cy="2743200"/>
          </a:xfrm>
          <a:prstGeom prst="line">
            <a:avLst/>
          </a:prstGeom>
          <a:noFill/>
          <a:ln w="12700">
            <a:solidFill>
              <a:srgbClr val="141418"/>
            </a:solidFill>
            <a:prstDash val="solid"/>
          </a:ln>
        </p:spPr>
        <p:txBody>
          <a:bodyPr/>
          <a:p/>
        </p:txBody>
      </p:sp>
      <p:sp>
        <p:nvSpPr>
          <p:cNvPr id="17" name="Shape 15"/>
          <p:cNvSpPr/>
          <p:nvPr/>
        </p:nvSpPr>
        <p:spPr>
          <a:xfrm>
            <a:off x="8686800" y="0"/>
            <a:ext cx="2743200" cy="2743200"/>
          </a:xfrm>
          <a:prstGeom prst="line">
            <a:avLst/>
          </a:prstGeom>
          <a:noFill/>
          <a:ln w="12700">
            <a:solidFill>
              <a:srgbClr val="141418"/>
            </a:solidFill>
            <a:prstDash val="solid"/>
          </a:ln>
        </p:spPr>
        <p:txBody>
          <a:bodyPr/>
          <a:p/>
        </p:txBody>
      </p:sp>
      <p:sp>
        <p:nvSpPr>
          <p:cNvPr id="18" name="Shape 16"/>
          <p:cNvSpPr/>
          <p:nvPr/>
        </p:nvSpPr>
        <p:spPr>
          <a:xfrm>
            <a:off x="9326880" y="0"/>
            <a:ext cx="2743200" cy="2743200"/>
          </a:xfrm>
          <a:prstGeom prst="line">
            <a:avLst/>
          </a:prstGeom>
          <a:noFill/>
          <a:ln w="12700">
            <a:solidFill>
              <a:srgbClr val="141418"/>
            </a:solidFill>
            <a:prstDash val="solid"/>
          </a:ln>
        </p:spPr>
        <p:txBody>
          <a:bodyPr/>
          <a:p/>
        </p:txBody>
      </p:sp>
      <p:sp>
        <p:nvSpPr>
          <p:cNvPr id="19" name="Shape 17"/>
          <p:cNvSpPr/>
          <p:nvPr/>
        </p:nvSpPr>
        <p:spPr>
          <a:xfrm>
            <a:off x="9966960" y="0"/>
            <a:ext cx="2743200" cy="2743200"/>
          </a:xfrm>
          <a:prstGeom prst="line">
            <a:avLst/>
          </a:prstGeom>
          <a:noFill/>
          <a:ln w="12700">
            <a:solidFill>
              <a:srgbClr val="141418"/>
            </a:solidFill>
            <a:prstDash val="solid"/>
          </a:ln>
        </p:spPr>
        <p:txBody>
          <a:bodyPr/>
          <a:p/>
        </p:txBody>
      </p:sp>
      <p:sp>
        <p:nvSpPr>
          <p:cNvPr id="20" name="Shape 18"/>
          <p:cNvSpPr/>
          <p:nvPr/>
        </p:nvSpPr>
        <p:spPr>
          <a:xfrm>
            <a:off x="10607040" y="0"/>
            <a:ext cx="2743200" cy="2743200"/>
          </a:xfrm>
          <a:prstGeom prst="line">
            <a:avLst/>
          </a:prstGeom>
          <a:noFill/>
          <a:ln w="12700">
            <a:solidFill>
              <a:srgbClr val="141418"/>
            </a:solidFill>
            <a:prstDash val="solid"/>
          </a:ln>
        </p:spPr>
        <p:txBody>
          <a:bodyPr/>
          <a:p/>
        </p:txBody>
      </p:sp>
      <p:sp>
        <p:nvSpPr>
          <p:cNvPr id="21" name="Shape 19"/>
          <p:cNvSpPr/>
          <p:nvPr/>
        </p:nvSpPr>
        <p:spPr>
          <a:xfrm>
            <a:off x="11247120" y="0"/>
            <a:ext cx="2743200" cy="2743200"/>
          </a:xfrm>
          <a:prstGeom prst="line">
            <a:avLst/>
          </a:prstGeom>
          <a:noFill/>
          <a:ln w="12700">
            <a:solidFill>
              <a:srgbClr val="141418"/>
            </a:solidFill>
            <a:prstDash val="solid"/>
          </a:ln>
        </p:spPr>
        <p:txBody>
          <a:bodyPr/>
          <a:p/>
        </p:txBody>
      </p:sp>
      <p:sp>
        <p:nvSpPr>
          <p:cNvPr id="22" name="Shape 20"/>
          <p:cNvSpPr/>
          <p:nvPr/>
        </p:nvSpPr>
        <p:spPr>
          <a:xfrm>
            <a:off x="0" y="0"/>
            <a:ext cx="9144000" cy="54864"/>
          </a:xfrm>
          <a:prstGeom prst="rect">
            <a:avLst/>
          </a:prstGeom>
          <a:solidFill>
            <a:srgbClr val="C8A96E"/>
          </a:solidFill>
          <a:ln w="12700">
            <a:solidFill>
              <a:srgbClr val="C8A96E"/>
            </a:solidFill>
            <a:prstDash val="solid"/>
          </a:ln>
        </p:spPr>
        <p:txBody>
          <a:bodyPr/>
          <a:p/>
        </p:txBody>
      </p:sp>
      <p:pic>
        <p:nvPicPr>
          <p:cNvPr id="23" name="Image 0" descr="/mnt/user-data/uploads/VEKTOR-transparent.png"/>
          <p:cNvPicPr>
            <a:picLocks noChangeAspect="1"/>
          </p:cNvPicPr>
          <p:nvPr/>
        </p:nvPicPr>
        <p:blipFill>
          <a:blip r:embed="rId1"/>
          <a:stretch>
            <a:fillRect/>
          </a:stretch>
        </p:blipFill>
        <p:spPr>
          <a:xfrm>
            <a:off x="2926080" y="822960"/>
            <a:ext cx="3291840" cy="1152144"/>
          </a:xfrm>
          <a:prstGeom prst="rect">
            <a:avLst/>
          </a:prstGeom>
        </p:spPr>
      </p:pic>
      <p:sp>
        <p:nvSpPr>
          <p:cNvPr id="24" name="Text 21"/>
          <p:cNvSpPr/>
          <p:nvPr/>
        </p:nvSpPr>
        <p:spPr>
          <a:xfrm>
            <a:off x="457200" y="2286000"/>
            <a:ext cx="8229600" cy="228600"/>
          </a:xfrm>
          <a:prstGeom prst="rect">
            <a:avLst/>
          </a:prstGeom>
          <a:noFill/>
          <a:ln/>
        </p:spPr>
        <p:txBody>
          <a:bodyPr wrap="square" lIns="0" tIns="0" rIns="0" bIns="0" rtlCol="0" anchor="ctr"/>
          <a:lstStyle/>
          <a:p>
            <a:pPr algn="ctr" indent="0" marL="0">
              <a:buNone/>
            </a:pPr>
            <a:r>
              <a:rPr lang="en-US" sz="800" spc="500" kern="0" dirty="0">
                <a:solidFill>
                  <a:srgbClr val="9A9086"/>
                </a:solidFill>
                <a:latin typeface="Calibri" pitchFamily="34" charset="0"/>
                <a:ea typeface="Calibri" pitchFamily="34" charset="-122"/>
                <a:cs typeface="Calibri" pitchFamily="34" charset="-120"/>
              </a:rPr>
              <a:t>THE INSTITUTIONAL PARTNER</a:t>
            </a:r>
            <a:endParaRPr lang="en-US" sz="800" dirty="0"/>
          </a:p>
        </p:txBody>
      </p:sp>
      <p:sp>
        <p:nvSpPr>
          <p:cNvPr id="25" name="Shape 22"/>
          <p:cNvSpPr/>
          <p:nvPr/>
        </p:nvSpPr>
        <p:spPr>
          <a:xfrm>
            <a:off x="1371600" y="2578608"/>
            <a:ext cx="6400800" cy="0"/>
          </a:xfrm>
          <a:prstGeom prst="line">
            <a:avLst/>
          </a:prstGeom>
          <a:noFill/>
          <a:ln w="12700">
            <a:solidFill>
              <a:srgbClr val="C8A96E"/>
            </a:solidFill>
            <a:prstDash val="solid"/>
          </a:ln>
        </p:spPr>
        <p:txBody>
          <a:bodyPr/>
          <a:p/>
        </p:txBody>
      </p:sp>
      <p:sp>
        <p:nvSpPr>
          <p:cNvPr id="26" name="Text 23"/>
          <p:cNvSpPr/>
          <p:nvPr/>
        </p:nvSpPr>
        <p:spPr>
          <a:xfrm>
            <a:off x="457200" y="2697480"/>
            <a:ext cx="8229600" cy="914400"/>
          </a:xfrm>
          <a:prstGeom prst="rect">
            <a:avLst/>
          </a:prstGeom>
          <a:noFill/>
          <a:ln/>
        </p:spPr>
        <p:txBody>
          <a:bodyPr wrap="square" lIns="0" tIns="0" rIns="0" bIns="0" rtlCol="0" anchor="ctr"/>
          <a:lstStyle/>
          <a:p>
            <a:pPr algn="ctr" indent="0" marL="0">
              <a:buNone/>
            </a:pPr>
            <a:r>
              <a:rPr lang="en-US" sz="2800" b="1" dirty="0">
                <a:solidFill>
                  <a:srgbClr val="E8E8EC"/>
                </a:solidFill>
                <a:latin typeface="Trebuchet MS" pitchFamily="34" charset="0"/>
                <a:ea typeface="Trebuchet MS" pitchFamily="34" charset="-122"/>
                <a:cs typeface="Trebuchet MS" pitchFamily="34" charset="-120"/>
              </a:rPr>
              <a:t>One Size Fits None.</a:t>
            </a:r>
            <a:endParaRPr lang="en-US" sz="2800" dirty="0"/>
          </a:p>
        </p:txBody>
      </p:sp>
      <p:sp>
        <p:nvSpPr>
          <p:cNvPr id="27" name="Text 24"/>
          <p:cNvSpPr/>
          <p:nvPr/>
        </p:nvSpPr>
        <p:spPr>
          <a:xfrm>
            <a:off x="1097280" y="3730752"/>
            <a:ext cx="6949440" cy="457200"/>
          </a:xfrm>
          <a:prstGeom prst="rect">
            <a:avLst/>
          </a:prstGeom>
          <a:noFill/>
          <a:ln/>
        </p:spPr>
        <p:txBody>
          <a:bodyPr wrap="square" lIns="0" tIns="0" rIns="0" bIns="0" rtlCol="0" anchor="ctr"/>
          <a:lstStyle/>
          <a:p>
            <a:pPr algn="ctr" indent="0" marL="0">
              <a:buNone/>
            </a:pPr>
            <a:r>
              <a:rPr lang="en-US" sz="1100" i="1" dirty="0">
                <a:solidFill>
                  <a:srgbClr val="9A9086"/>
                </a:solidFill>
                <a:latin typeface="Calibri" pitchFamily="34" charset="0"/>
                <a:ea typeface="Calibri" pitchFamily="34" charset="-122"/>
                <a:cs typeface="Calibri" pitchFamily="34" charset="-120"/>
              </a:rPr>
              <a:t>For established DPMs and family offices evaluating systematic infrastructure — a different kind of partnership.</a:t>
            </a:r>
            <a:endParaRPr lang="en-US" sz="1100" dirty="0"/>
          </a:p>
        </p:txBody>
      </p:sp>
      <p:sp>
        <p:nvSpPr>
          <p:cNvPr id="29" name="Text 26"/>
          <p:cNvSpPr/>
          <p:nvPr/>
        </p:nvSpPr>
        <p:spPr>
          <a:xfrm>
            <a:off x="457200" y="4846320"/>
            <a:ext cx="8229600" cy="182880"/>
          </a:xfrm>
          <a:prstGeom prst="rect">
            <a:avLst/>
          </a:prstGeom>
          <a:noFill/>
          <a:ln/>
        </p:spPr>
        <p:txBody>
          <a:bodyPr wrap="square" lIns="0" tIns="0" rIns="0" bIns="0" rtlCol="0" anchor="ctr"/>
          <a:lstStyle/>
          <a:p>
            <a:pPr algn="ctr" indent="0" marL="0">
              <a:buNone/>
            </a:pPr>
            <a:r>
              <a:rPr lang="en-US" sz="650" dirty="0">
                <a:solidFill>
                  <a:srgbClr val="5A5A60"/>
                </a:solidFill>
                <a:latin typeface="Calibri" pitchFamily="34" charset="0"/>
                <a:ea typeface="Calibri" pitchFamily="34" charset="-122"/>
                <a:cs typeface="Calibri" pitchFamily="34" charset="-120"/>
              </a:rPr>
              <a:t>investpuppy.com  ·  contact@investpuppy.com  ·  For professional and institutional investors only</a:t>
            </a:r>
            <a:endParaRPr lang="en-US" sz="650" dirty="0"/>
          </a:p>
        </p:txBody>
      </p:sp>
      <p:pic>
        <p:nvPicPr>
          <p:cNvPr id="30" name="Picture 29" descr="IPHorizontalClear.png"/>
          <p:cNvPicPr>
            <a:picLocks noChangeAspect="1"/>
          </p:cNvPicPr>
          <p:nvPr/>
        </p:nvPicPr>
        <p:blipFill>
          <a:blip r:embed="rId4"/>
          <a:stretch>
            <a:fillRect/>
          </a:stretch>
        </p:blipFill>
        <p:spPr>
          <a:xfrm>
            <a:off x="7596000" y="4140000"/>
            <a:ext cx="1080000" cy="462130"/>
          </a:xfrm>
          <a:prstGeom prst="rect">
            <a:avLst/>
          </a:prstGeom>
        </p:spPr>
      </p:pic>
      <p:sp>
        <p:nvSpPr>
          <p:cNvPr id="31" name="TextBox 30"/>
          <p:cNvSpPr txBox="1"/>
          <p:nvPr/>
        </p:nvSpPr>
        <p:spPr>
          <a:xfrm>
            <a:off x="457200" y="3456000"/>
            <a:ext cx="8229600" cy="251999"/>
          </a:xfrm>
          <a:prstGeom prst="rect">
            <a:avLst/>
          </a:prstGeom>
          <a:noFill/>
        </p:spPr>
        <p:txBody>
          <a:bodyPr wrap="none">
            <a:spAutoFit/>
          </a:bodyPr>
          <a:lstStyle/>
          <a:p>
            <a:pPr algn="ctr"/>
            <a:r>
              <a:rPr sz="900" i="1">
                <a:solidFill>
                  <a:srgbClr val="9A9086"/>
                </a:solidFill>
                <a:latin typeface="Helvetica"/>
              </a:rPr>
              <a:t>Serious when it matters.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WHERE YOU ARE</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You have built something real.</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An established DPM or family office has clients, AUM, and a process that works. The question is not whether to build systematic capability — it is whether to build it alone, buy an off-the-shelf platform that was not designed for your workflow, or partner with a platform that will configure itself around you.</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Vektor is the third option. Not a product you adopt. A platform built with you.</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THE INFRASTRUCTURE GAP</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The tools you actually need have always been out of reach.</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Institutional systematic platforms — the kind with full quantitative portfolio construction, per-instrument signal optimisation, XGBoost validation, and a complete three-role audit trail — have historically required a minimum AUM that most boutique firms never reach, or an in-house quant team that most boutique firms cannot afford.</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Vektor is built to close this gap. Not by simplifying the methodology — by making institutional-grade methodology accessible without institutional-scale infrastructure costs.</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THE VEKTOR ENGINE</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The quantitative layer your team doesn't have to build.</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Universe screening. Efficient frontier optimisation across 10,000 portfolio configurations with MPT max-Sharpe selection. Per-instrument signal selection across six technical indicators. XGBoost signal validation. Lot-size-precise capital allocation. A three-role audit trail that documents every decision from research to funded position.</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All of this runs on AWS infrastructure that is region-agnostic, enterprise-SSO compatible, and designed to integrate with your existing PMS via REST API.</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STANDALONE OR INTEGRATED</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Complement, not replace.</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Vektor produces a trade-ready allocation table via API — instruments, target quantities, target values — that feeds into your existing order management workflow. Your PMS, your custody interface, your client reporting: all unchanged. Vektor is the systematic construction layer that sits upstream of everything you already use.</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A two-to-four week integration project connects Vektor's allocation endpoint to your existing PMS. Bloomberg continues to serve price discovery, news, and client reporting. Vektor handles the quantitative construction workflow.</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THE THREE-ROLE MODEL</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Institutional governance from the first mandate.</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Stock Analyst. Portfolio Manager. Operations. Three structurally separated roles — each with distinct capabilities and explicit approval requirements. No user can perform actions outside their role. Every action across all eleven workflow steps is logged with user identity and timestamp.</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The PM approval gate is the central control: no strategy reaches a client portfolio without an explicit PM approval action. No allocation executes without PM confirmation. No cash moves without Operations recording the wire. This is not a compliance feature — it is the architecture of the platform.</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THE AUDIT TRAIL</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Every decision, documented. Every action, attributed.</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Vektor produces a complete audit trail as a by-product of normal platform operation. Strategy creation and approval. Client onboarding and risk profile assignment. Allocation calculation and confirmation. Cash funding with wire reference. Market order submission and execution. Every step logged, every user identified, every timestamp recorded.</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A compliance officer reviewing any position can retrieve the complete chain — from the universe screening that produced the strategy, through the PM approval, to the market orders that funded the position — without reconstruction. The audit trail is not a separate system. It is the platform.</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TECHNICAL ARCHITECTURE</a:t>
            </a:r>
            <a:endParaRPr lang="en-US" sz="700" dirty="0"/>
          </a:p>
        </p:txBody>
      </p:sp>
      <p:sp>
        <p:nvSpPr>
          <p:cNvPr id="3" name="Text 1"/>
          <p:cNvSpPr/>
          <p:nvPr/>
        </p:nvSpPr>
        <p:spPr>
          <a:xfrm>
            <a:off x="365760" y="475488"/>
            <a:ext cx="8412480" cy="34747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Integration architecture.</a:t>
            </a:r>
            <a:endParaRPr lang="en-US" sz="1800" dirty="0"/>
          </a:p>
        </p:txBody>
      </p:sp>
      <p:sp>
        <p:nvSpPr>
          <p:cNvPr id="4" name="Shape 2"/>
          <p:cNvSpPr/>
          <p:nvPr/>
        </p:nvSpPr>
        <p:spPr>
          <a:xfrm>
            <a:off x="365760" y="987552"/>
            <a:ext cx="8412480" cy="841248"/>
          </a:xfrm>
          <a:prstGeom prst="rect">
            <a:avLst/>
          </a:prstGeom>
          <a:solidFill>
            <a:srgbClr val="0D0D12"/>
          </a:solidFill>
          <a:ln w="12700">
            <a:solidFill>
              <a:srgbClr val="242428"/>
            </a:solidFill>
            <a:prstDash val="solid"/>
          </a:ln>
        </p:spPr>
      </p:sp>
      <p:sp>
        <p:nvSpPr>
          <p:cNvPr id="5" name="Shape 3"/>
          <p:cNvSpPr/>
          <p:nvPr/>
        </p:nvSpPr>
        <p:spPr>
          <a:xfrm>
            <a:off x="365760" y="987552"/>
            <a:ext cx="45720" cy="841248"/>
          </a:xfrm>
          <a:prstGeom prst="rect">
            <a:avLst/>
          </a:prstGeom>
          <a:solidFill>
            <a:srgbClr val="4A7A9A"/>
          </a:solidFill>
          <a:ln w="12700">
            <a:solidFill>
              <a:srgbClr val="4A7A9A"/>
            </a:solidFill>
            <a:prstDash val="solid"/>
          </a:ln>
        </p:spPr>
      </p:sp>
      <p:sp>
        <p:nvSpPr>
          <p:cNvPr id="6" name="Text 4"/>
          <p:cNvSpPr/>
          <p:nvPr/>
        </p:nvSpPr>
        <p:spPr>
          <a:xfrm>
            <a:off x="502920" y="1042416"/>
            <a:ext cx="1280160" cy="256032"/>
          </a:xfrm>
          <a:prstGeom prst="rect">
            <a:avLst/>
          </a:prstGeom>
          <a:noFill/>
          <a:ln/>
        </p:spPr>
        <p:txBody>
          <a:bodyPr wrap="square" lIns="0" tIns="0" rIns="0" bIns="0" rtlCol="0" anchor="ctr"/>
          <a:lstStyle/>
          <a:p>
            <a:pPr indent="0" marL="0">
              <a:buNone/>
            </a:pPr>
            <a:r>
              <a:rPr lang="en-US" sz="700" b="1" spc="150" kern="0" dirty="0">
                <a:solidFill>
                  <a:srgbClr val="4A7A9A"/>
                </a:solidFill>
                <a:latin typeface="Calibri" pitchFamily="34" charset="0"/>
                <a:ea typeface="Calibri" pitchFamily="34" charset="-122"/>
                <a:cs typeface="Calibri" pitchFamily="34" charset="-120"/>
              </a:rPr>
              <a:t>USERS</a:t>
            </a:r>
            <a:endParaRPr lang="en-US" sz="700" dirty="0"/>
          </a:p>
        </p:txBody>
      </p:sp>
      <p:sp>
        <p:nvSpPr>
          <p:cNvPr id="7" name="Shape 5"/>
          <p:cNvSpPr/>
          <p:nvPr/>
        </p:nvSpPr>
        <p:spPr>
          <a:xfrm>
            <a:off x="548640" y="1335024"/>
            <a:ext cx="2633472" cy="402336"/>
          </a:xfrm>
          <a:prstGeom prst="rect">
            <a:avLst/>
          </a:prstGeom>
          <a:solidFill>
            <a:srgbClr val="0D0D12"/>
          </a:solidFill>
          <a:ln w="12700">
            <a:solidFill>
              <a:srgbClr val="242428"/>
            </a:solidFill>
            <a:prstDash val="solid"/>
          </a:ln>
        </p:spPr>
      </p:sp>
      <p:sp>
        <p:nvSpPr>
          <p:cNvPr id="8" name="Text 6"/>
          <p:cNvSpPr/>
          <p:nvPr/>
        </p:nvSpPr>
        <p:spPr>
          <a:xfrm>
            <a:off x="621792" y="1389888"/>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Stock Analyst</a:t>
            </a:r>
            <a:endParaRPr lang="en-US" sz="850" dirty="0"/>
          </a:p>
        </p:txBody>
      </p:sp>
      <p:sp>
        <p:nvSpPr>
          <p:cNvPr id="9" name="Shape 7"/>
          <p:cNvSpPr/>
          <p:nvPr/>
        </p:nvSpPr>
        <p:spPr>
          <a:xfrm>
            <a:off x="3364992" y="1335024"/>
            <a:ext cx="2633472" cy="402336"/>
          </a:xfrm>
          <a:prstGeom prst="rect">
            <a:avLst/>
          </a:prstGeom>
          <a:solidFill>
            <a:srgbClr val="0D0D12"/>
          </a:solidFill>
          <a:ln w="12700">
            <a:solidFill>
              <a:srgbClr val="242428"/>
            </a:solidFill>
            <a:prstDash val="solid"/>
          </a:ln>
        </p:spPr>
      </p:sp>
      <p:sp>
        <p:nvSpPr>
          <p:cNvPr id="10" name="Text 8"/>
          <p:cNvSpPr/>
          <p:nvPr/>
        </p:nvSpPr>
        <p:spPr>
          <a:xfrm>
            <a:off x="3438144" y="1389888"/>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Portfolio Manager</a:t>
            </a:r>
            <a:endParaRPr lang="en-US" sz="850" dirty="0"/>
          </a:p>
        </p:txBody>
      </p:sp>
      <p:sp>
        <p:nvSpPr>
          <p:cNvPr id="11" name="Shape 9"/>
          <p:cNvSpPr/>
          <p:nvPr/>
        </p:nvSpPr>
        <p:spPr>
          <a:xfrm>
            <a:off x="6181344" y="1335024"/>
            <a:ext cx="2633472" cy="402336"/>
          </a:xfrm>
          <a:prstGeom prst="rect">
            <a:avLst/>
          </a:prstGeom>
          <a:solidFill>
            <a:srgbClr val="0D0D12"/>
          </a:solidFill>
          <a:ln w="12700">
            <a:solidFill>
              <a:srgbClr val="242428"/>
            </a:solidFill>
            <a:prstDash val="solid"/>
          </a:ln>
        </p:spPr>
      </p:sp>
      <p:sp>
        <p:nvSpPr>
          <p:cNvPr id="12" name="Text 10"/>
          <p:cNvSpPr/>
          <p:nvPr/>
        </p:nvSpPr>
        <p:spPr>
          <a:xfrm>
            <a:off x="6254496" y="1389888"/>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Operations</a:t>
            </a:r>
            <a:endParaRPr lang="en-US" sz="850" dirty="0"/>
          </a:p>
        </p:txBody>
      </p:sp>
      <p:sp>
        <p:nvSpPr>
          <p:cNvPr id="13" name="Shape 11"/>
          <p:cNvSpPr/>
          <p:nvPr/>
        </p:nvSpPr>
        <p:spPr>
          <a:xfrm>
            <a:off x="365760" y="1956816"/>
            <a:ext cx="8412480" cy="841248"/>
          </a:xfrm>
          <a:prstGeom prst="rect">
            <a:avLst/>
          </a:prstGeom>
          <a:solidFill>
            <a:srgbClr val="0D0D12"/>
          </a:solidFill>
          <a:ln w="12700">
            <a:solidFill>
              <a:srgbClr val="242428"/>
            </a:solidFill>
            <a:prstDash val="solid"/>
          </a:ln>
        </p:spPr>
      </p:sp>
      <p:sp>
        <p:nvSpPr>
          <p:cNvPr id="14" name="Shape 12"/>
          <p:cNvSpPr/>
          <p:nvPr/>
        </p:nvSpPr>
        <p:spPr>
          <a:xfrm>
            <a:off x="365760" y="1956816"/>
            <a:ext cx="45720" cy="841248"/>
          </a:xfrm>
          <a:prstGeom prst="rect">
            <a:avLst/>
          </a:prstGeom>
          <a:solidFill>
            <a:srgbClr val="8A5A9A"/>
          </a:solidFill>
          <a:ln w="12700">
            <a:solidFill>
              <a:srgbClr val="8A5A9A"/>
            </a:solidFill>
            <a:prstDash val="solid"/>
          </a:ln>
        </p:spPr>
      </p:sp>
      <p:sp>
        <p:nvSpPr>
          <p:cNvPr id="15" name="Text 13"/>
          <p:cNvSpPr/>
          <p:nvPr/>
        </p:nvSpPr>
        <p:spPr>
          <a:xfrm>
            <a:off x="502920" y="2011680"/>
            <a:ext cx="1280160" cy="256032"/>
          </a:xfrm>
          <a:prstGeom prst="rect">
            <a:avLst/>
          </a:prstGeom>
          <a:noFill/>
          <a:ln/>
        </p:spPr>
        <p:txBody>
          <a:bodyPr wrap="square" lIns="0" tIns="0" rIns="0" bIns="0" rtlCol="0" anchor="ctr"/>
          <a:lstStyle/>
          <a:p>
            <a:pPr indent="0" marL="0">
              <a:buNone/>
            </a:pPr>
            <a:r>
              <a:rPr lang="en-US" sz="700" b="1" spc="150" kern="0" dirty="0">
                <a:solidFill>
                  <a:srgbClr val="8A5A9A"/>
                </a:solidFill>
                <a:latin typeface="Calibri" pitchFamily="34" charset="0"/>
                <a:ea typeface="Calibri" pitchFamily="34" charset="-122"/>
                <a:cs typeface="Calibri" pitchFamily="34" charset="-120"/>
              </a:rPr>
              <a:t>FRONTEND / API</a:t>
            </a:r>
            <a:endParaRPr lang="en-US" sz="700" dirty="0"/>
          </a:p>
        </p:txBody>
      </p:sp>
      <p:sp>
        <p:nvSpPr>
          <p:cNvPr id="16" name="Shape 14"/>
          <p:cNvSpPr/>
          <p:nvPr/>
        </p:nvSpPr>
        <p:spPr>
          <a:xfrm>
            <a:off x="548640" y="2304288"/>
            <a:ext cx="2633472" cy="402336"/>
          </a:xfrm>
          <a:prstGeom prst="rect">
            <a:avLst/>
          </a:prstGeom>
          <a:solidFill>
            <a:srgbClr val="0D0D12"/>
          </a:solidFill>
          <a:ln w="12700">
            <a:solidFill>
              <a:srgbClr val="242428"/>
            </a:solidFill>
            <a:prstDash val="solid"/>
          </a:ln>
        </p:spPr>
      </p:sp>
      <p:sp>
        <p:nvSpPr>
          <p:cNvPr id="17" name="Text 15"/>
          <p:cNvSpPr/>
          <p:nvPr/>
        </p:nvSpPr>
        <p:spPr>
          <a:xfrm>
            <a:off x="621792" y="2359152"/>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React Admin Portal</a:t>
            </a:r>
            <a:endParaRPr lang="en-US" sz="850" dirty="0"/>
          </a:p>
        </p:txBody>
      </p:sp>
      <p:sp>
        <p:nvSpPr>
          <p:cNvPr id="18" name="Shape 16"/>
          <p:cNvSpPr/>
          <p:nvPr/>
        </p:nvSpPr>
        <p:spPr>
          <a:xfrm>
            <a:off x="3364992" y="2304288"/>
            <a:ext cx="2633472" cy="402336"/>
          </a:xfrm>
          <a:prstGeom prst="rect">
            <a:avLst/>
          </a:prstGeom>
          <a:solidFill>
            <a:srgbClr val="0D0D12"/>
          </a:solidFill>
          <a:ln w="12700">
            <a:solidFill>
              <a:srgbClr val="242428"/>
            </a:solidFill>
            <a:prstDash val="solid"/>
          </a:ln>
        </p:spPr>
      </p:sp>
      <p:sp>
        <p:nvSpPr>
          <p:cNvPr id="19" name="Text 17"/>
          <p:cNvSpPr/>
          <p:nvPr/>
        </p:nvSpPr>
        <p:spPr>
          <a:xfrm>
            <a:off x="3438144" y="2359152"/>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AWS API Gateway</a:t>
            </a:r>
            <a:endParaRPr lang="en-US" sz="850" dirty="0"/>
          </a:p>
        </p:txBody>
      </p:sp>
      <p:sp>
        <p:nvSpPr>
          <p:cNvPr id="20" name="Shape 18"/>
          <p:cNvSpPr/>
          <p:nvPr/>
        </p:nvSpPr>
        <p:spPr>
          <a:xfrm>
            <a:off x="6181344" y="2304288"/>
            <a:ext cx="2633472" cy="402336"/>
          </a:xfrm>
          <a:prstGeom prst="rect">
            <a:avLst/>
          </a:prstGeom>
          <a:solidFill>
            <a:srgbClr val="0D0D12"/>
          </a:solidFill>
          <a:ln w="12700">
            <a:solidFill>
              <a:srgbClr val="242428"/>
            </a:solidFill>
            <a:prstDash val="solid"/>
          </a:ln>
        </p:spPr>
      </p:sp>
      <p:sp>
        <p:nvSpPr>
          <p:cNvPr id="21" name="Text 19"/>
          <p:cNvSpPr/>
          <p:nvPr/>
        </p:nvSpPr>
        <p:spPr>
          <a:xfrm>
            <a:off x="6254496" y="2359152"/>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Cognito + Azure EntraID SSO</a:t>
            </a:r>
            <a:endParaRPr lang="en-US" sz="850" dirty="0"/>
          </a:p>
        </p:txBody>
      </p:sp>
      <p:sp>
        <p:nvSpPr>
          <p:cNvPr id="22" name="Shape 20"/>
          <p:cNvSpPr/>
          <p:nvPr/>
        </p:nvSpPr>
        <p:spPr>
          <a:xfrm>
            <a:off x="365760" y="2926080"/>
            <a:ext cx="8412480" cy="841248"/>
          </a:xfrm>
          <a:prstGeom prst="rect">
            <a:avLst/>
          </a:prstGeom>
          <a:solidFill>
            <a:srgbClr val="0D0D12"/>
          </a:solidFill>
          <a:ln w="12700">
            <a:solidFill>
              <a:srgbClr val="242428"/>
            </a:solidFill>
            <a:prstDash val="solid"/>
          </a:ln>
        </p:spPr>
      </p:sp>
      <p:sp>
        <p:nvSpPr>
          <p:cNvPr id="23" name="Shape 21"/>
          <p:cNvSpPr/>
          <p:nvPr/>
        </p:nvSpPr>
        <p:spPr>
          <a:xfrm>
            <a:off x="365760" y="2926080"/>
            <a:ext cx="45720" cy="841248"/>
          </a:xfrm>
          <a:prstGeom prst="rect">
            <a:avLst/>
          </a:prstGeom>
          <a:solidFill>
            <a:srgbClr val="4A8A5A"/>
          </a:solidFill>
          <a:ln w="12700">
            <a:solidFill>
              <a:srgbClr val="4A8A5A"/>
            </a:solidFill>
            <a:prstDash val="solid"/>
          </a:ln>
        </p:spPr>
      </p:sp>
      <p:sp>
        <p:nvSpPr>
          <p:cNvPr id="24" name="Text 22"/>
          <p:cNvSpPr/>
          <p:nvPr/>
        </p:nvSpPr>
        <p:spPr>
          <a:xfrm>
            <a:off x="502920" y="2980944"/>
            <a:ext cx="1280160" cy="256032"/>
          </a:xfrm>
          <a:prstGeom prst="rect">
            <a:avLst/>
          </a:prstGeom>
          <a:noFill/>
          <a:ln/>
        </p:spPr>
        <p:txBody>
          <a:bodyPr wrap="square" lIns="0" tIns="0" rIns="0" bIns="0" rtlCol="0" anchor="ctr"/>
          <a:lstStyle/>
          <a:p>
            <a:pPr indent="0" marL="0">
              <a:buNone/>
            </a:pPr>
            <a:r>
              <a:rPr lang="en-US" sz="700" b="1" spc="150" kern="0" dirty="0">
                <a:solidFill>
                  <a:srgbClr val="4A8A5A"/>
                </a:solidFill>
                <a:latin typeface="Calibri" pitchFamily="34" charset="0"/>
                <a:ea typeface="Calibri" pitchFamily="34" charset="-122"/>
                <a:cs typeface="Calibri" pitchFamily="34" charset="-120"/>
              </a:rPr>
              <a:t>COMPUTE</a:t>
            </a:r>
            <a:endParaRPr lang="en-US" sz="700" dirty="0"/>
          </a:p>
        </p:txBody>
      </p:sp>
      <p:sp>
        <p:nvSpPr>
          <p:cNvPr id="25" name="Shape 23"/>
          <p:cNvSpPr/>
          <p:nvPr/>
        </p:nvSpPr>
        <p:spPr>
          <a:xfrm>
            <a:off x="548640" y="3273552"/>
            <a:ext cx="2633472" cy="402336"/>
          </a:xfrm>
          <a:prstGeom prst="rect">
            <a:avLst/>
          </a:prstGeom>
          <a:solidFill>
            <a:srgbClr val="0D0D12"/>
          </a:solidFill>
          <a:ln w="12700">
            <a:solidFill>
              <a:srgbClr val="242428"/>
            </a:solidFill>
            <a:prstDash val="solid"/>
          </a:ln>
        </p:spPr>
      </p:sp>
      <p:sp>
        <p:nvSpPr>
          <p:cNvPr id="26" name="Text 24"/>
          <p:cNvSpPr/>
          <p:nvPr/>
        </p:nvSpPr>
        <p:spPr>
          <a:xfrm>
            <a:off x="621792" y="3328416"/>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ECS Microservices</a:t>
            </a:r>
            <a:endParaRPr lang="en-US" sz="850" dirty="0"/>
          </a:p>
        </p:txBody>
      </p:sp>
      <p:sp>
        <p:nvSpPr>
          <p:cNvPr id="27" name="Shape 25"/>
          <p:cNvSpPr/>
          <p:nvPr/>
        </p:nvSpPr>
        <p:spPr>
          <a:xfrm>
            <a:off x="3364992" y="3273552"/>
            <a:ext cx="2633472" cy="402336"/>
          </a:xfrm>
          <a:prstGeom prst="rect">
            <a:avLst/>
          </a:prstGeom>
          <a:solidFill>
            <a:srgbClr val="0D0D12"/>
          </a:solidFill>
          <a:ln w="12700">
            <a:solidFill>
              <a:srgbClr val="242428"/>
            </a:solidFill>
            <a:prstDash val="solid"/>
          </a:ln>
        </p:spPr>
      </p:sp>
      <p:sp>
        <p:nvSpPr>
          <p:cNvPr id="28" name="Text 26"/>
          <p:cNvSpPr/>
          <p:nvPr/>
        </p:nvSpPr>
        <p:spPr>
          <a:xfrm>
            <a:off x="3438144" y="3328416"/>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SageMaker (Research + XGBoost endpoint)</a:t>
            </a:r>
            <a:endParaRPr lang="en-US" sz="850" dirty="0"/>
          </a:p>
        </p:txBody>
      </p:sp>
      <p:sp>
        <p:nvSpPr>
          <p:cNvPr id="29" name="Shape 27"/>
          <p:cNvSpPr/>
          <p:nvPr/>
        </p:nvSpPr>
        <p:spPr>
          <a:xfrm>
            <a:off x="6181344" y="3273552"/>
            <a:ext cx="2633472" cy="402336"/>
          </a:xfrm>
          <a:prstGeom prst="rect">
            <a:avLst/>
          </a:prstGeom>
          <a:solidFill>
            <a:srgbClr val="0D0D12"/>
          </a:solidFill>
          <a:ln w="12700">
            <a:solidFill>
              <a:srgbClr val="242428"/>
            </a:solidFill>
            <a:prstDash val="solid"/>
          </a:ln>
        </p:spPr>
      </p:sp>
      <p:sp>
        <p:nvSpPr>
          <p:cNvPr id="30" name="Text 28"/>
          <p:cNvSpPr/>
          <p:nvPr/>
        </p:nvSpPr>
        <p:spPr>
          <a:xfrm>
            <a:off x="6254496" y="3328416"/>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EC2 IBKR Gateway</a:t>
            </a:r>
            <a:endParaRPr lang="en-US" sz="850" dirty="0"/>
          </a:p>
        </p:txBody>
      </p:sp>
      <p:sp>
        <p:nvSpPr>
          <p:cNvPr id="31" name="Shape 29"/>
          <p:cNvSpPr/>
          <p:nvPr/>
        </p:nvSpPr>
        <p:spPr>
          <a:xfrm>
            <a:off x="365760" y="3895344"/>
            <a:ext cx="8412480" cy="841248"/>
          </a:xfrm>
          <a:prstGeom prst="rect">
            <a:avLst/>
          </a:prstGeom>
          <a:solidFill>
            <a:srgbClr val="0D0D12"/>
          </a:solidFill>
          <a:ln w="12700">
            <a:solidFill>
              <a:srgbClr val="242428"/>
            </a:solidFill>
            <a:prstDash val="solid"/>
          </a:ln>
        </p:spPr>
      </p:sp>
      <p:sp>
        <p:nvSpPr>
          <p:cNvPr id="32" name="Shape 30"/>
          <p:cNvSpPr/>
          <p:nvPr/>
        </p:nvSpPr>
        <p:spPr>
          <a:xfrm>
            <a:off x="365760" y="3895344"/>
            <a:ext cx="45720" cy="841248"/>
          </a:xfrm>
          <a:prstGeom prst="rect">
            <a:avLst/>
          </a:prstGeom>
          <a:solidFill>
            <a:srgbClr val="9A8A4A"/>
          </a:solidFill>
          <a:ln w="12700">
            <a:solidFill>
              <a:srgbClr val="9A8A4A"/>
            </a:solidFill>
            <a:prstDash val="solid"/>
          </a:ln>
        </p:spPr>
      </p:sp>
      <p:sp>
        <p:nvSpPr>
          <p:cNvPr id="33" name="Text 31"/>
          <p:cNvSpPr/>
          <p:nvPr/>
        </p:nvSpPr>
        <p:spPr>
          <a:xfrm>
            <a:off x="502920" y="3950208"/>
            <a:ext cx="1280160" cy="256032"/>
          </a:xfrm>
          <a:prstGeom prst="rect">
            <a:avLst/>
          </a:prstGeom>
          <a:noFill/>
          <a:ln/>
        </p:spPr>
        <p:txBody>
          <a:bodyPr wrap="square" lIns="0" tIns="0" rIns="0" bIns="0" rtlCol="0" anchor="ctr"/>
          <a:lstStyle/>
          <a:p>
            <a:pPr indent="0" marL="0">
              <a:buNone/>
            </a:pPr>
            <a:r>
              <a:rPr lang="en-US" sz="700" b="1" spc="150" kern="0" dirty="0">
                <a:solidFill>
                  <a:srgbClr val="9A8A4A"/>
                </a:solidFill>
                <a:latin typeface="Calibri" pitchFamily="34" charset="0"/>
                <a:ea typeface="Calibri" pitchFamily="34" charset="-122"/>
                <a:cs typeface="Calibri" pitchFamily="34" charset="-120"/>
              </a:rPr>
              <a:t>DATA / INFRA</a:t>
            </a:r>
            <a:endParaRPr lang="en-US" sz="700" dirty="0"/>
          </a:p>
        </p:txBody>
      </p:sp>
      <p:sp>
        <p:nvSpPr>
          <p:cNvPr id="34" name="Shape 32"/>
          <p:cNvSpPr/>
          <p:nvPr/>
        </p:nvSpPr>
        <p:spPr>
          <a:xfrm>
            <a:off x="548640" y="4242816"/>
            <a:ext cx="2633472" cy="402336"/>
          </a:xfrm>
          <a:prstGeom prst="rect">
            <a:avLst/>
          </a:prstGeom>
          <a:solidFill>
            <a:srgbClr val="0D0D12"/>
          </a:solidFill>
          <a:ln w="12700">
            <a:solidFill>
              <a:srgbClr val="242428"/>
            </a:solidFill>
            <a:prstDash val="solid"/>
          </a:ln>
        </p:spPr>
      </p:sp>
      <p:sp>
        <p:nvSpPr>
          <p:cNvPr id="35" name="Text 33"/>
          <p:cNvSpPr/>
          <p:nvPr/>
        </p:nvSpPr>
        <p:spPr>
          <a:xfrm>
            <a:off x="621792" y="4297680"/>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RDS PostgreSQL</a:t>
            </a:r>
            <a:endParaRPr lang="en-US" sz="850" dirty="0"/>
          </a:p>
        </p:txBody>
      </p:sp>
      <p:sp>
        <p:nvSpPr>
          <p:cNvPr id="36" name="Shape 34"/>
          <p:cNvSpPr/>
          <p:nvPr/>
        </p:nvSpPr>
        <p:spPr>
          <a:xfrm>
            <a:off x="3364992" y="4242816"/>
            <a:ext cx="2633472" cy="402336"/>
          </a:xfrm>
          <a:prstGeom prst="rect">
            <a:avLst/>
          </a:prstGeom>
          <a:solidFill>
            <a:srgbClr val="0D0D12"/>
          </a:solidFill>
          <a:ln w="12700">
            <a:solidFill>
              <a:srgbClr val="242428"/>
            </a:solidFill>
            <a:prstDash val="solid"/>
          </a:ln>
        </p:spPr>
      </p:sp>
      <p:sp>
        <p:nvSpPr>
          <p:cNvPr id="37" name="Text 35"/>
          <p:cNvSpPr/>
          <p:nvPr/>
        </p:nvSpPr>
        <p:spPr>
          <a:xfrm>
            <a:off x="3438144" y="4297680"/>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S3 + KMS</a:t>
            </a:r>
            <a:endParaRPr lang="en-US" sz="850" dirty="0"/>
          </a:p>
        </p:txBody>
      </p:sp>
      <p:sp>
        <p:nvSpPr>
          <p:cNvPr id="38" name="Shape 36"/>
          <p:cNvSpPr/>
          <p:nvPr/>
        </p:nvSpPr>
        <p:spPr>
          <a:xfrm>
            <a:off x="6181344" y="4242816"/>
            <a:ext cx="2633472" cy="402336"/>
          </a:xfrm>
          <a:prstGeom prst="rect">
            <a:avLst/>
          </a:prstGeom>
          <a:solidFill>
            <a:srgbClr val="0D0D12"/>
          </a:solidFill>
          <a:ln w="12700">
            <a:solidFill>
              <a:srgbClr val="242428"/>
            </a:solidFill>
            <a:prstDash val="solid"/>
          </a:ln>
        </p:spPr>
      </p:sp>
      <p:sp>
        <p:nvSpPr>
          <p:cNvPr id="39" name="Text 37"/>
          <p:cNvSpPr/>
          <p:nvPr/>
        </p:nvSpPr>
        <p:spPr>
          <a:xfrm>
            <a:off x="6254496" y="4297680"/>
            <a:ext cx="2487168" cy="292608"/>
          </a:xfrm>
          <a:prstGeom prst="rect">
            <a:avLst/>
          </a:prstGeom>
          <a:noFill/>
          <a:ln/>
        </p:spPr>
        <p:txBody>
          <a:bodyPr wrap="square" lIns="0" tIns="0" rIns="0" bIns="0" rtlCol="0" anchor="ctr"/>
          <a:lstStyle/>
          <a:p>
            <a:pPr algn="ctr" indent="0" marL="0">
              <a:buNone/>
            </a:pPr>
            <a:r>
              <a:rPr lang="en-US" sz="850" dirty="0">
                <a:solidFill>
                  <a:srgbClr val="9A9086"/>
                </a:solidFill>
                <a:latin typeface="Calibri" pitchFamily="34" charset="0"/>
                <a:ea typeface="Calibri" pitchFamily="34" charset="-122"/>
                <a:cs typeface="Calibri" pitchFamily="34" charset="-120"/>
              </a:rPr>
              <a:t>EventBridge + Step Functions + SQS</a:t>
            </a:r>
            <a:endParaRPr lang="en-US" sz="850" dirty="0"/>
          </a:p>
        </p:txBody>
      </p:sp>
      <p:sp>
        <p:nvSpPr>
          <p:cNvPr id="40" name="Text 38"/>
          <p:cNvSpPr/>
          <p:nvPr/>
        </p:nvSpPr>
        <p:spPr>
          <a:xfrm>
            <a:off x="365760" y="4846320"/>
            <a:ext cx="8412480" cy="219456"/>
          </a:xfrm>
          <a:prstGeom prst="rect">
            <a:avLst/>
          </a:prstGeom>
          <a:noFill/>
          <a:ln/>
        </p:spPr>
        <p:txBody>
          <a:bodyPr wrap="square" lIns="0" tIns="0" rIns="0" bIns="0" rtlCol="0" anchor="ctr"/>
          <a:lstStyle/>
          <a:p>
            <a:pPr indent="0" marL="0">
              <a:buNone/>
            </a:pPr>
            <a:r>
              <a:rPr lang="en-US" sz="800" i="1" dirty="0">
                <a:solidFill>
                  <a:srgbClr val="5A5A60"/>
                </a:solidFill>
                <a:latin typeface="Calibri" pitchFamily="34" charset="0"/>
                <a:ea typeface="Calibri" pitchFamily="34" charset="-122"/>
                <a:cs typeface="Calibri" pitchFamily="34" charset="-120"/>
              </a:rPr>
              <a:t>Region-agnostic. Current: ap-southeast-1 (Singapore). Any AWS region configurable via CI/CD pipeline.</a:t>
            </a:r>
            <a:endParaRPr lang="en-US" sz="800" dirty="0"/>
          </a:p>
        </p:txBody>
      </p:sp>
      <p:sp>
        <p:nvSpPr>
          <p:cNvPr id="41" name="Text 39"/>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42" name="Picture 41"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THE PARTNERSHIP STRUCTURE</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A different kind of founding mandate.</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The Founding Mandate is not a discount on a standard product. It is a partnership in which your workflow shapes what gets built. Vektor is configured around your specific instruments, markets, and client profiles — not the other way around.</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Founding Mandate partners receive preferential pricing locked for the duration of the relationship, formal input into the product roadmap, and direct access to the founding team. In exchange, they are building the platform alongside us — their operational experience during the early stage informs every subsequent development decision.</a:t>
            </a:r>
            <a:endParaRPr lang="en-US" sz="900" dirty="0"/>
          </a:p>
        </p:txBody>
      </p:sp>
      <p:sp>
        <p:nvSpPr>
          <p:cNvPr id="7" name="Text 5"/>
          <p:cNvSpPr/>
          <p:nvPr/>
        </p:nvSpPr>
        <p:spPr>
          <a:xfrm>
            <a:off x="365760" y="4828032"/>
            <a:ext cx="8412480" cy="219456"/>
          </a:xfrm>
          <a:prstGeom prst="rect">
            <a:avLst/>
          </a:prstGeom>
          <a:noFill/>
          <a:ln/>
        </p:spPr>
        <p:txBody>
          <a:bodyPr wrap="square" lIns="0" tIns="0" rIns="0" bIns="0" rtlCol="0" anchor="ctr"/>
          <a:lstStyle/>
          <a:p>
            <a:pPr indent="0" marL="0">
              <a:buNone/>
            </a:pPr>
            <a:r>
              <a:rPr lang="en-US" sz="800" i="1" dirty="0">
                <a:solidFill>
                  <a:srgbClr val="5A5A60"/>
                </a:solidFill>
                <a:latin typeface="Calibri" pitchFamily="34" charset="0"/>
                <a:ea typeface="Calibri" pitchFamily="34" charset="-122"/>
                <a:cs typeface="Calibri" pitchFamily="34" charset="-120"/>
              </a:rPr>
              <a:t>Risk disclosure: WP-09 · Risk &amp; Limitation Disclosure — available in the document suite.</a:t>
            </a:r>
            <a:endParaRPr lang="en-US" sz="800" dirty="0"/>
          </a:p>
        </p:txBody>
      </p:sp>
      <p:sp>
        <p:nvSpPr>
          <p:cNvPr id="8" name="Text 6"/>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9" name="Picture 8"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RISK &amp; DUE DILIGENCE</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Full disclosure available. We mean that.</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The document suite includes WP-09: Risk &amp; Limitation Disclosure — a structured, practitioner-level analysis of every significant risk category: model risk, execution risk, data risk, and operational risk. Each risk is assessed for likelihood and impact, with mitigations in place and those on the roadmap stated explicitly.</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The suite also includes WP-06 (Audit Trail &amp; Compliance), WP-07 (Technical Architecture with decision log), WP-08 (AI governance and MAS FEAT / SFC / FCA alignment), and WP-10 (how to evaluate systematic strategy performance). Full technical documentation — VPC architecture, RDS schema, IAM policies — available on request.</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WHAT IS NOT YET LIVE</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Three things we will tell you before you ask.</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Live trade execution: the IBKR Gateway currently runs on a simulation account. The full order flow is tested and operational. Live execution is activated before the first Founding Mandate client onboards — a defined trigger condition.</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Production environment: the current workload runs in the dev environment. Promotion to production occurs before the first client onboards.</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Live track record: the platform has been validated in simulation. A live track record begins with the first Founding Mandate client. This is stated directly because it is a material fact for any institutional due diligence process.</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THE ASK</a:t>
            </a:r>
            <a:endParaRPr lang="en-US" sz="700" dirty="0"/>
          </a:p>
        </p:txBody>
      </p:sp>
      <p:sp>
        <p:nvSpPr>
          <p:cNvPr id="3" name="Text 1"/>
          <p:cNvSpPr/>
          <p:nvPr/>
        </p:nvSpPr>
        <p:spPr>
          <a:xfrm>
            <a:off x="365760" y="475488"/>
            <a:ext cx="8412480" cy="43891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Three to five positions. Currently open.</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The Founding Mandate cohort is limited by design. Enough partners to build genuine operational breadth. Few enough that each one receives direct founding-team access and meaningful roadmap influence.</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The programme closes when the cohort is complete. There are no extensions and no standard commercial alternative at these terms. Founding Mandate pricing is locked for the duration of the relationship — it never increases, regardless of how the platform develops or how AUM grows.</a:t>
            </a:r>
            <a:endParaRPr lang="en-US" sz="900" dirty="0"/>
          </a:p>
          <a:p>
            <a:pPr indent="0" marL="0">
              <a:buNone/>
            </a:pPr>
            <a:endParaRPr lang="en-US" sz="900" dirty="0"/>
          </a:p>
          <a:p>
            <a:pPr indent="0" marL="0">
              <a:buNone/>
            </a:pPr>
            <a:r>
              <a:rPr lang="en-US" sz="900" i="1" dirty="0">
                <a:solidFill>
                  <a:srgbClr val="9A9086"/>
                </a:solidFill>
                <a:latin typeface="Calibri" pitchFamily="34" charset="0"/>
                <a:ea typeface="Calibri" pitchFamily="34" charset="-122"/>
                <a:cs typeface="Calibri" pitchFamily="34" charset="-120"/>
              </a:rPr>
              <a:t>What happens next: a live demonstration on your data. Your market, your benchmark, your currency. No slides. Just the platform, working.</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The Institutional Partner</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936000" cy="4005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8A96E"/>
          </a:solidFill>
          <a:ln w="12700">
            <a:solidFill>
              <a:srgbClr val="C8A96E"/>
            </a:solidFill>
            <a:prstDash val="solid"/>
          </a:ln>
        </p:spPr>
      </p:sp>
      <p:sp>
        <p:nvSpPr>
          <p:cNvPr id="3" name="Shape 1"/>
          <p:cNvSpPr/>
          <p:nvPr/>
        </p:nvSpPr>
        <p:spPr>
          <a:xfrm>
            <a:off x="0" y="5088636"/>
            <a:ext cx="9144000" cy="54864"/>
          </a:xfrm>
          <a:prstGeom prst="rect">
            <a:avLst/>
          </a:prstGeom>
          <a:solidFill>
            <a:srgbClr val="C8A96E"/>
          </a:solidFill>
          <a:ln w="12700">
            <a:solidFill>
              <a:srgbClr val="C8A96E"/>
            </a:solidFill>
            <a:prstDash val="solid"/>
          </a:ln>
        </p:spPr>
      </p:sp>
      <p:pic>
        <p:nvPicPr>
          <p:cNvPr id="4" name="Image 0" descr="/mnt/user-data/uploads/VEKTOR-transparent.png"/>
          <p:cNvPicPr>
            <a:picLocks noChangeAspect="1"/>
          </p:cNvPicPr>
          <p:nvPr/>
        </p:nvPicPr>
        <p:blipFill>
          <a:blip r:embed="rId1"/>
          <a:stretch>
            <a:fillRect/>
          </a:stretch>
        </p:blipFill>
        <p:spPr>
          <a:xfrm>
            <a:off x="3017520" y="914400"/>
            <a:ext cx="3108960" cy="1088136"/>
          </a:xfrm>
          <a:prstGeom prst="rect">
            <a:avLst/>
          </a:prstGeom>
        </p:spPr>
      </p:pic>
      <p:sp>
        <p:nvSpPr>
          <p:cNvPr id="5" name="Shape 2"/>
          <p:cNvSpPr/>
          <p:nvPr/>
        </p:nvSpPr>
        <p:spPr>
          <a:xfrm>
            <a:off x="1828800" y="2286000"/>
            <a:ext cx="5486400" cy="0"/>
          </a:xfrm>
          <a:prstGeom prst="line">
            <a:avLst/>
          </a:prstGeom>
          <a:noFill/>
          <a:ln w="12700">
            <a:solidFill>
              <a:srgbClr val="5A5A60"/>
            </a:solidFill>
            <a:prstDash val="solid"/>
          </a:ln>
        </p:spPr>
      </p:sp>
      <p:sp>
        <p:nvSpPr>
          <p:cNvPr id="6" name="Text 3"/>
          <p:cNvSpPr/>
          <p:nvPr/>
        </p:nvSpPr>
        <p:spPr>
          <a:xfrm>
            <a:off x="2743200" y="2423160"/>
            <a:ext cx="3657600" cy="182880"/>
          </a:xfrm>
          <a:prstGeom prst="rect">
            <a:avLst/>
          </a:prstGeom>
          <a:noFill/>
          <a:ln/>
        </p:spPr>
        <p:txBody>
          <a:bodyPr wrap="square" lIns="0" tIns="0" rIns="0" bIns="0" rtlCol="0" anchor="ctr"/>
          <a:lstStyle/>
          <a:p>
            <a:pPr algn="ctr" indent="0" marL="0">
              <a:buNone/>
            </a:pPr>
            <a:r>
              <a:rPr lang="en-US" sz="700" spc="500" kern="0" dirty="0">
                <a:solidFill>
                  <a:srgbClr val="9A9086"/>
                </a:solidFill>
                <a:latin typeface="Calibri" pitchFamily="34" charset="0"/>
                <a:ea typeface="Calibri" pitchFamily="34" charset="-122"/>
                <a:cs typeface="Calibri" pitchFamily="34" charset="-120"/>
              </a:rPr>
              <a:t>BY INVESTPUPPY</a:t>
            </a:r>
            <a:endParaRPr lang="en-US" sz="700" dirty="0"/>
          </a:p>
        </p:txBody>
      </p:sp>
      <p:sp>
        <p:nvSpPr>
          <p:cNvPr id="7" name="Text 4"/>
          <p:cNvSpPr/>
          <p:nvPr/>
        </p:nvSpPr>
        <p:spPr>
          <a:xfrm>
            <a:off x="914400" y="2926080"/>
            <a:ext cx="7315200" cy="320040"/>
          </a:xfrm>
          <a:prstGeom prst="rect">
            <a:avLst/>
          </a:prstGeom>
          <a:noFill/>
          <a:ln/>
        </p:spPr>
        <p:txBody>
          <a:bodyPr wrap="square" lIns="0" tIns="0" rIns="0" bIns="0" rtlCol="0" anchor="ctr"/>
          <a:lstStyle/>
          <a:p>
            <a:pPr algn="ctr" indent="0" marL="0">
              <a:buNone/>
            </a:pPr>
            <a:r>
              <a:rPr lang="en-US" sz="1100" i="1" dirty="0">
                <a:solidFill>
                  <a:srgbClr val="9A9086"/>
                </a:solidFill>
                <a:latin typeface="Calibri" pitchFamily="34" charset="0"/>
                <a:ea typeface="Calibri" pitchFamily="34" charset="-122"/>
                <a:cs typeface="Calibri" pitchFamily="34" charset="-120"/>
              </a:rPr>
              <a:t>Request Founding Mandate terms and the full document suite.</a:t>
            </a:r>
            <a:endParaRPr lang="en-US" sz="1100" dirty="0"/>
          </a:p>
        </p:txBody>
      </p:sp>
      <p:sp>
        <p:nvSpPr>
          <p:cNvPr id="8" name="Text 5"/>
          <p:cNvSpPr/>
          <p:nvPr/>
        </p:nvSpPr>
        <p:spPr>
          <a:xfrm>
            <a:off x="914400" y="3337560"/>
            <a:ext cx="7315200" cy="365760"/>
          </a:xfrm>
          <a:prstGeom prst="rect">
            <a:avLst/>
          </a:prstGeom>
          <a:noFill/>
          <a:ln/>
        </p:spPr>
        <p:txBody>
          <a:bodyPr wrap="square" lIns="0" tIns="0" rIns="0" bIns="0" rtlCol="0" anchor="ctr"/>
          <a:lstStyle/>
          <a:p>
            <a:pPr algn="ctr" indent="0" marL="0">
              <a:buNone/>
            </a:pPr>
            <a:r>
              <a:rPr lang="en-US" sz="1800" b="1" dirty="0">
                <a:solidFill>
                  <a:srgbClr val="C8A96E"/>
                </a:solidFill>
                <a:latin typeface="Trebuchet MS" pitchFamily="34" charset="0"/>
                <a:ea typeface="Trebuchet MS" pitchFamily="34" charset="-122"/>
                <a:cs typeface="Trebuchet MS" pitchFamily="34" charset="-120"/>
              </a:rPr>
              <a:t>investpuppy.com</a:t>
            </a:r>
            <a:endParaRPr lang="en-US" sz="1800" dirty="0"/>
          </a:p>
        </p:txBody>
      </p:sp>
      <p:sp>
        <p:nvSpPr>
          <p:cNvPr id="9" name="Text 6"/>
          <p:cNvSpPr/>
          <p:nvPr/>
        </p:nvSpPr>
        <p:spPr>
          <a:xfrm>
            <a:off x="914400" y="3794760"/>
            <a:ext cx="7315200" cy="256032"/>
          </a:xfrm>
          <a:prstGeom prst="rect">
            <a:avLst/>
          </a:prstGeom>
          <a:noFill/>
          <a:ln/>
        </p:spPr>
        <p:txBody>
          <a:bodyPr wrap="square" lIns="0" tIns="0" rIns="0" bIns="0" rtlCol="0" anchor="ctr"/>
          <a:lstStyle/>
          <a:p>
            <a:pPr algn="ctr" indent="0" marL="0">
              <a:buNone/>
            </a:pPr>
            <a:r>
              <a:rPr lang="en-US" sz="1100" dirty="0">
                <a:solidFill>
                  <a:srgbClr val="9A9086"/>
                </a:solidFill>
                <a:latin typeface="Calibri" pitchFamily="34" charset="0"/>
                <a:ea typeface="Calibri" pitchFamily="34" charset="-122"/>
                <a:cs typeface="Calibri" pitchFamily="34" charset="-120"/>
              </a:rPr>
              <a:t>contact@investpuppy.com</a:t>
            </a:r>
            <a:endParaRPr lang="en-US" sz="1100" dirty="0"/>
          </a:p>
        </p:txBody>
      </p:sp>
      <p:pic>
        <p:nvPicPr>
          <p:cNvPr id="10" name="Picture 9" descr="IPHorizontalClear.png"/>
          <p:cNvPicPr>
            <a:picLocks noChangeAspect="1"/>
          </p:cNvPicPr>
          <p:nvPr/>
        </p:nvPicPr>
        <p:blipFill>
          <a:blip r:embed="rId4"/>
          <a:stretch>
            <a:fillRect/>
          </a:stretch>
        </p:blipFill>
        <p:spPr>
          <a:xfrm>
            <a:off x="7596000" y="4248000"/>
            <a:ext cx="1080000" cy="462130"/>
          </a:xfrm>
          <a:prstGeom prst="rect">
            <a:avLst/>
          </a:prstGeom>
        </p:spPr>
      </p:pic>
      <p:sp>
        <p:nvSpPr>
          <p:cNvPr id="11" name="TextBox 10"/>
          <p:cNvSpPr txBox="1"/>
          <p:nvPr/>
        </p:nvSpPr>
        <p:spPr>
          <a:xfrm>
            <a:off x="914400" y="2592000"/>
            <a:ext cx="7315200" cy="288000"/>
          </a:xfrm>
          <a:prstGeom prst="rect">
            <a:avLst/>
          </a:prstGeom>
          <a:noFill/>
        </p:spPr>
        <p:txBody>
          <a:bodyPr wrap="none">
            <a:spAutoFit/>
          </a:bodyPr>
          <a:lstStyle/>
          <a:p>
            <a:pPr algn="ctr"/>
            <a:r>
              <a:rPr sz="1000" i="1">
                <a:solidFill>
                  <a:srgbClr val="9A9086"/>
                </a:solidFill>
                <a:latin typeface="Helvetica"/>
              </a:rPr>
              <a:t>Serious when it matters.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Vektor — The Institutional Partner</dc:title>
  <dc:subject>PptxGenJS Presentation</dc:subject>
  <dc:creator>PptxGenJS</dc:creator>
  <cp:lastModifiedBy>PptxGenJS</cp:lastModifiedBy>
  <cp:revision>1</cp:revision>
  <dcterms:created xsi:type="dcterms:W3CDTF">2026-05-05T08:04:34Z</dcterms:created>
  <dcterms:modified xsi:type="dcterms:W3CDTF">2026-05-05T08:04:34Z</dcterms:modified>
</cp:coreProperties>
</file>