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PRESENTATION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Risk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Controls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answers the four questions a compliance officer, risk committee, or CTO will ask when evaluating Vektor for institutional adoption. Every claim is supported by a document in the due diligence suite.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3657600" cy="18288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340156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compliance officers, CTOs, and risk committees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0" y="477316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investpuppy.com  ·  contact@investpuppy.com</a:t>
            </a:r>
            <a:endParaRPr lang="en-US" sz="800" dirty="0"/>
          </a:p>
        </p:txBody>
      </p:sp>
      <p:pic>
        <p:nvPicPr>
          <p:cNvPr id="11" name="Picture 10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000" y="4140000"/>
            <a:ext cx="1080000" cy="4621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456000"/>
            <a:ext cx="82296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9A9086"/>
                </a:solidFill>
                <a:latin typeface="Helvetica"/>
              </a:rPr>
              <a:t>Serious when it matters.</a:t>
            </a:r>
          </a:p>
        </p:txBody>
      </p:sp>
      <p:pic>
        <p:nvPicPr>
          <p:cNvPr id="13" name="Picture 12" descr="VEKTOR-transparent-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73152"/>
            <a:ext cx="2743200" cy="13209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questions. This presentation answers all four.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officer evaluating a systematic portfolio management platform needs answers to four questions. This presentation works through them in order.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8321040" cy="694944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44752"/>
            <a:ext cx="45720" cy="694944"/>
          </a:xfrm>
          <a:prstGeom prst="rect">
            <a:avLst/>
          </a:prstGeom>
          <a:solidFill>
            <a:srgbClr val="8A5A9A"/>
          </a:solidFill>
          <a:ln w="12700">
            <a:solidFill>
              <a:srgbClr val="8A5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361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15361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288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what specific points does a human act? Can the machine trade without approval?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9424"/>
            <a:ext cx="8321040" cy="694944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49424"/>
            <a:ext cx="45720" cy="694944"/>
          </a:xfrm>
          <a:prstGeom prst="rect">
            <a:avLst/>
          </a:prstGeom>
          <a:solidFill>
            <a:srgbClr val="4A8A5A"/>
          </a:solidFill>
          <a:ln w="12700">
            <a:solidFill>
              <a:srgbClr val="4A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4086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0432" y="23408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26334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machine learning used? What does it do — and what does it not do?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8321040" cy="694944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54096"/>
            <a:ext cx="45720" cy="694944"/>
          </a:xfrm>
          <a:prstGeom prst="rect">
            <a:avLst/>
          </a:prstGeom>
          <a:solidFill>
            <a:srgbClr val="4A7A9A"/>
          </a:solidFill>
          <a:ln w="12700">
            <a:solidFill>
              <a:srgbClr val="4A7A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4553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0432" y="31455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343814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logged? Who has access? How is the compliance record produced?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8321040" cy="694944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58768"/>
            <a:ext cx="45720" cy="694944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5020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70432" y="3950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infrastructure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4242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platform risks? How is it built and where does data reside?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Due Diligence Presentation</a:t>
            </a:r>
            <a:endParaRPr lang="en-US" sz="800" dirty="0"/>
          </a:p>
        </p:txBody>
      </p:sp>
      <p:pic>
        <p:nvPicPr>
          <p:cNvPr id="26" name="Picture 25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864000" cy="3697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01  ·  HUMAN OVERSIGHT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gates. Capital cannot move without human action at each one.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approval gates are structural — enforced by the platform workflow architecture, not configurable. The machine does not trade.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612648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45720" cy="612648"/>
          </a:xfrm>
          <a:prstGeom prst="rect">
            <a:avLst/>
          </a:prstGeom>
          <a:solidFill>
            <a:srgbClr val="8A5A9A"/>
          </a:solidFill>
          <a:ln w="12700">
            <a:solidFill>
              <a:srgbClr val="8A5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6245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approval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33472" y="1380744"/>
            <a:ext cx="10973" cy="457200"/>
          </a:xfrm>
          <a:prstGeom prst="rect">
            <a:avLst/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1362456"/>
            <a:ext cx="5943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reviews all instruments, weights, indicators, and XGBoost validation results. Explicit approval required. No strategy reaches a client without this record.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8412480" cy="612648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93392"/>
            <a:ext cx="45720" cy="612648"/>
          </a:xfrm>
          <a:prstGeom prst="rect">
            <a:avLst/>
          </a:prstGeom>
          <a:solidFill>
            <a:srgbClr val="8A5A9A"/>
          </a:solidFill>
          <a:ln w="12700">
            <a:solidFill>
              <a:srgbClr val="8A5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574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assignment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" y="232257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33472" y="2075688"/>
            <a:ext cx="10973" cy="457200"/>
          </a:xfrm>
          <a:prstGeom prst="rect">
            <a:avLst/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2057400"/>
            <a:ext cx="5943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creates client profile and assigns the approved strategy. Separate explicit action from strategy approval — cannot be combined.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688336"/>
            <a:ext cx="8412480" cy="612648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688336"/>
            <a:ext cx="45720" cy="612648"/>
          </a:xfrm>
          <a:prstGeom prst="rect">
            <a:avLst/>
          </a:prstGeom>
          <a:solidFill>
            <a:srgbClr val="8A5A9A"/>
          </a:solidFill>
          <a:ln w="12700">
            <a:solidFill>
              <a:srgbClr val="8A5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75234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execution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30175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33472" y="2770632"/>
            <a:ext cx="10973" cy="457200"/>
          </a:xfrm>
          <a:prstGeom prst="rect">
            <a:avLst/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24912" y="2752344"/>
            <a:ext cx="5943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reviews full position breakdown (symbols, quantities, prices, efficiency) and confirms. Cannot proceed without explicit PM confirmation.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383280"/>
            <a:ext cx="8412480" cy="612648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383280"/>
            <a:ext cx="45720" cy="612648"/>
          </a:xfrm>
          <a:prstGeom prst="rect">
            <a:avLst/>
          </a:prstGeom>
          <a:solidFill>
            <a:srgbClr val="9A8A4A"/>
          </a:solidFill>
          <a:ln w="12700">
            <a:solidFill>
              <a:srgbClr val="9A8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4472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funding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" y="37124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33472" y="3465576"/>
            <a:ext cx="10973" cy="457200"/>
          </a:xfrm>
          <a:prstGeom prst="rect">
            <a:avLst/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24912" y="3447288"/>
            <a:ext cx="5943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records wire transfer with currency, amount, and reference. Operations cannot approve strategies or initiate allocations — structurally separated.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078224"/>
            <a:ext cx="8412480" cy="612648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078224"/>
            <a:ext cx="45720" cy="612648"/>
          </a:xfrm>
          <a:prstGeom prst="rect">
            <a:avLst/>
          </a:prstGeom>
          <a:solidFill>
            <a:srgbClr val="4A8A5A"/>
          </a:solidFill>
          <a:ln w="12700">
            <a:solidFill>
              <a:srgbClr val="4A8A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14223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order submission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0352" y="44074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— post-approval only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33472" y="4160520"/>
            <a:ext cx="10973" cy="457200"/>
          </a:xfrm>
          <a:prstGeom prst="rect">
            <a:avLst/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24912" y="4142232"/>
            <a:ext cx="5943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submitted to IBKR Gateway only after all prior gates are complete. Executes only positions a human PM has already approved in full.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7731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WP-06 Audit Trail &amp; Compliance  ·  WP-08 AI as Instrument</a:t>
            </a:r>
            <a:endParaRPr lang="en-US" sz="800" dirty="0"/>
          </a:p>
        </p:txBody>
      </p:sp>
      <p:pic>
        <p:nvPicPr>
          <p:cNvPr id="36" name="Picture 35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864000" cy="3697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02  ·  AI GOVERNANCE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instrument. Not as decision-maker.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069080" cy="3657600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45720" cy="3657600"/>
          </a:xfrm>
          <a:prstGeom prst="rect">
            <a:avLst/>
          </a:prstGeom>
          <a:solidFill>
            <a:srgbClr val="4A8A5A"/>
          </a:solidFill>
          <a:ln w="12700">
            <a:solidFill>
              <a:srgbClr val="4A8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ML IS USED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screening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reduces 500+ instruments to target portfolio size. Every criterion is explicit and inspectable. Output reviewed by human analyst.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signal validation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2186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live signals before PM review. Produces a confidence score and pass/fail classification. Does not approve or act on signals — it is one input to the PM decision.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987552"/>
            <a:ext cx="4069080" cy="3657600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987552"/>
            <a:ext cx="45720" cy="3657600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789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8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ML IS NOT USED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0" y="13898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 </a:t>
            </a:r>
            <a:pPr indent="0" marL="0">
              <a:buNone/>
            </a:pPr>
            <a:r>
              <a:rPr lang="en-US" sz="10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decisions — PM approves every strategy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8470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 </a:t>
            </a:r>
            <a:pPr indent="0" marL="0">
              <a:buNone/>
            </a:pPr>
            <a:r>
              <a:rPr lang="en-US" sz="10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weight determination — efficient frontier optimisation (not ML); MPT identifies max-Sharpe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3042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 </a:t>
            </a:r>
            <a:pPr indent="0" marL="0">
              <a:buNone/>
            </a:pPr>
            <a:r>
              <a:rPr lang="en-US" sz="10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suitability assessment — PM judgement only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7614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 </a:t>
            </a:r>
            <a:pPr indent="0" marL="0">
              <a:buNone/>
            </a:pPr>
            <a:r>
              <a:rPr lang="en-US" sz="10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sign-off — human gates cannot be automated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2186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 </a:t>
            </a:r>
            <a:pPr indent="0" marL="0">
              <a:buNone/>
            </a:pPr>
            <a:r>
              <a:rPr lang="en-US" sz="10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selection — analyst selects from screened universe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681728"/>
            <a:ext cx="8412480" cy="16459"/>
          </a:xfrm>
          <a:prstGeom prst="rect">
            <a:avLst/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is structural, not configurable.  Reference: WP-08 AI as Instrument</a:t>
            </a:r>
            <a:endParaRPr lang="en-US" sz="800" dirty="0"/>
          </a:p>
        </p:txBody>
      </p:sp>
      <p:pic>
        <p:nvPicPr>
          <p:cNvPr id="21" name="Picture 20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864000" cy="369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03  ·  AUDIT TRAIL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action. Every actor. Every timestamp. Retrievable.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trail is produced as a by-product of normal platform operation — no separate documentation process required.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969264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5720" cy="969264"/>
          </a:xfrm>
          <a:prstGeom prst="rect">
            <a:avLst/>
          </a:prstGeom>
          <a:solidFill>
            <a:srgbClr val="4A7A9A"/>
          </a:solidFill>
          <a:ln w="12700">
            <a:solidFill>
              <a:srgbClr val="4A7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created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0992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identity · timestamp · instruments · weights · Sharpe ratio · XGBoost confidence scores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114800" cy="969264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423160"/>
            <a:ext cx="45720" cy="969264"/>
          </a:xfrm>
          <a:prstGeom prst="rect">
            <a:avLst/>
          </a:prstGeom>
          <a:solidFill>
            <a:srgbClr val="8A5A9A"/>
          </a:solidFill>
          <a:ln w="12700">
            <a:solidFill>
              <a:srgbClr val="8A5A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14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approval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80720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identity · timestamp · strategy ID · approval status — immutable record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4114800" cy="969264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520440"/>
            <a:ext cx="45720" cy="969264"/>
          </a:xfrm>
          <a:prstGeom prst="rect">
            <a:avLst/>
          </a:prstGeom>
          <a:solidFill>
            <a:srgbClr val="8A5A9A"/>
          </a:solidFill>
          <a:ln w="12700">
            <a:solidFill>
              <a:srgbClr val="8A5A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611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90448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identity · timestamp · client profile · strategy assigned · mandate capital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4114800" cy="969264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325880"/>
            <a:ext cx="45720" cy="969264"/>
          </a:xfrm>
          <a:prstGeom prst="rect">
            <a:avLst/>
          </a:prstGeom>
          <a:solidFill>
            <a:srgbClr val="8A5A9A"/>
          </a:solidFill>
          <a:ln w="12700">
            <a:solidFill>
              <a:srgbClr val="8A5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417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calculated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170992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identity · timestamp · symbols · quantities · live prices · efficiency figure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423160"/>
            <a:ext cx="4114800" cy="969264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423160"/>
            <a:ext cx="45720" cy="969264"/>
          </a:xfrm>
          <a:prstGeom prst="rect">
            <a:avLst/>
          </a:prstGeom>
          <a:solidFill>
            <a:srgbClr val="9A8A4A"/>
          </a:solidFill>
          <a:ln w="12700">
            <a:solidFill>
              <a:srgbClr val="9A8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514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funded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80720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identity · timestamp · currency · amount · wire reference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520440"/>
            <a:ext cx="4114800" cy="969264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520440"/>
            <a:ext cx="45720" cy="969264"/>
          </a:xfrm>
          <a:prstGeom prst="rect">
            <a:avLst/>
          </a:prstGeom>
          <a:solidFill>
            <a:srgbClr val="4A8A5A"/>
          </a:solidFill>
          <a:ln w="12700">
            <a:solidFill>
              <a:srgbClr val="4A8A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611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submitted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90448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· timestamp · instrument · quantity · order type · IBKR confirmation status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7731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WP-06 Audit Trail &amp; Compliance Architecture</a:t>
            </a:r>
            <a:endParaRPr lang="en-US" sz="800" dirty="0"/>
          </a:p>
        </p:txBody>
      </p:sp>
      <p:pic>
        <p:nvPicPr>
          <p:cNvPr id="30" name="Picture 29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864000" cy="3697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SEPARATION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roles. Structurally separated.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cannot approve strategies. Operations cannot initiate allocations. Role separation is enforced at the application layer today — infrastructure-level RBAC (AWS IAM) is on the next prototype roadmap.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70048" cy="3383280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45720" cy="3383280"/>
          </a:xfrm>
          <a:prstGeom prst="rect">
            <a:avLst/>
          </a:prstGeom>
          <a:solidFill>
            <a:srgbClr val="4A7A9A"/>
          </a:solidFill>
          <a:ln w="12700">
            <a:solidFill>
              <a:srgbClr val="4A7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ANALYST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10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screening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4942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10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optimisation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59689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10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grid search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94436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10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validation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401568"/>
            <a:ext cx="2423160" cy="13716"/>
          </a:xfrm>
          <a:prstGeom prst="rect">
            <a:avLst/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56432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environment only. Cannot approve strategies, assign clients, or initiate allocations.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73552" y="1463040"/>
            <a:ext cx="2670048" cy="3383280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73552" y="1463040"/>
            <a:ext cx="45720" cy="3383280"/>
          </a:xfrm>
          <a:prstGeom prst="rect">
            <a:avLst/>
          </a:prstGeom>
          <a:solidFill>
            <a:srgbClr val="8A5A9A"/>
          </a:solidFill>
          <a:ln w="12700">
            <a:solidFill>
              <a:srgbClr val="8A5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57276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10712" y="19019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10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approval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10712" y="224942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10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10712" y="259689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10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execution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10712" y="294436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10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review &amp; modification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10712" y="3401568"/>
            <a:ext cx="2423160" cy="13716"/>
          </a:xfrm>
          <a:prstGeom prst="rect">
            <a:avLst/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3456432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decision authority. Every capital-affecting action requires explicit PM approval and generates an audit record.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81344" y="1463040"/>
            <a:ext cx="2670048" cy="3383280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1344" y="1463040"/>
            <a:ext cx="45720" cy="3383280"/>
          </a:xfrm>
          <a:prstGeom prst="rect">
            <a:avLst/>
          </a:prstGeom>
          <a:solidFill>
            <a:srgbClr val="9A8A4A"/>
          </a:solidFill>
          <a:ln w="12700">
            <a:solidFill>
              <a:srgbClr val="9A8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8504" y="157276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18504" y="19019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10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funding records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18504" y="224942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10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reference logging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18504" y="259689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10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account activation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18504" y="294436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10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support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18504" y="3401568"/>
            <a:ext cx="2423160" cy="13716"/>
          </a:xfrm>
          <a:prstGeom prst="rect">
            <a:avLst/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3456432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management only. Cannot approve strategies, assign clients, or initiate allocations.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47731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WP-06 Audit Trail &amp; Compliance  ·  WP-08 AI as Instrument</a:t>
            </a:r>
            <a:endParaRPr lang="en-US" sz="800" dirty="0"/>
          </a:p>
        </p:txBody>
      </p:sp>
      <p:pic>
        <p:nvPicPr>
          <p:cNvPr id="33" name="Picture 32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864000" cy="3697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04  ·  RISK DISCLOSURE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Fourteen risks. Assessed. Mitigated. Disclosed.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WP-09: Risk &amp; Limitation Disclosure — likelihood, impact, and mitigation for each risk category.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1664208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45720" cy="1664208"/>
          </a:xfrm>
          <a:prstGeom prst="rect">
            <a:avLst/>
          </a:prstGeom>
          <a:solidFill>
            <a:srgbClr val="4A7A9A"/>
          </a:solidFill>
          <a:ln w="12700">
            <a:solidFill>
              <a:srgbClr val="4A7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8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vs live gap — XGBoost validation + PM gate; walk-forward validation on roadmap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8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— 3-year look-back, 6-indicator grid, Sharpe as objective function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8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decay — re-optimised per build; rebalancing trigger on roadmap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8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— correlation matrix verification required before PM approval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3090672"/>
            <a:ext cx="4114800" cy="1664208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090672"/>
            <a:ext cx="45720" cy="1664208"/>
          </a:xfrm>
          <a:prstGeom prst="rect">
            <a:avLst/>
          </a:prstGeom>
          <a:solidFill>
            <a:srgbClr val="9A8A4A"/>
          </a:solidFill>
          <a:ln w="12700">
            <a:solidFill>
              <a:srgbClr val="9A8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821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RISK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3438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8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vs live — live execution activated before first FM client onboards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8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IBKR connectivity — SQS queue decouples orders; queue, not fail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40599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8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rounding — 99.94%+ efficiency; minimum mandate SGD 100,000+ recommended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280160"/>
            <a:ext cx="4114800" cy="1664208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280160"/>
            <a:ext cx="45720" cy="1664208"/>
          </a:xfrm>
          <a:prstGeom prst="rect">
            <a:avLst/>
          </a:prstGeom>
          <a:solidFill>
            <a:srgbClr val="4A8A5A"/>
          </a:solidFill>
          <a:ln w="12700">
            <a:solidFill>
              <a:srgbClr val="4A8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371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RISK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00600" y="1627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8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dependency — quality checks on ingestion; institutional feed available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00600" y="1938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8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outage — 3-year RDS history unaffected; Slack alert on failure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00600" y="22494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8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accuracy — daily rates stored; position-level conversion per WP-05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3090672"/>
            <a:ext cx="4114800" cy="1664208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090672"/>
            <a:ext cx="45720" cy="1664208"/>
          </a:xfrm>
          <a:prstGeom prst="rect">
            <a:avLst/>
          </a:prstGeom>
          <a:solidFill>
            <a:srgbClr val="8A5A9A"/>
          </a:solidFill>
          <a:ln w="12700">
            <a:solidFill>
              <a:srgbClr val="8A5A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1821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00600" y="3438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8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 — full breakdown visible at approval; audit trail supports investigation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0060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8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availability — ECS auto-restarts; RDS backups; observability on roadmap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00600" y="40599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</a:t>
            </a:r>
            <a:pPr indent="0" marL="0">
              <a:buNone/>
            </a:pPr>
            <a:r>
              <a:rPr lang="en-US" sz="8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— obligations remain with operating firm; Vektor provides audit trail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7731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risk analysis: WP-09 Risk &amp; Limitation Disclosure</a:t>
            </a:r>
            <a:endParaRPr lang="en-US" sz="800" dirty="0"/>
          </a:p>
        </p:txBody>
      </p:sp>
      <p:pic>
        <p:nvPicPr>
          <p:cNvPr id="31" name="Picture 30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864000" cy="3697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microservices. Region-agnostic. Decision log available.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114800" cy="1188720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45720" cy="1188720"/>
          </a:xfrm>
          <a:prstGeom prst="rect">
            <a:avLst/>
          </a:prstGeom>
          <a:solidFill>
            <a:srgbClr val="4A7A9A"/>
          </a:solidFill>
          <a:ln w="12700">
            <a:solidFill>
              <a:srgbClr val="4A7A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(all microservices)  ·  SageMaker (research + XGBoost endpoint)  ·  EC2 IBKR Gateway  ·  EC2 Bastion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987552"/>
            <a:ext cx="4114800" cy="1188720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987552"/>
            <a:ext cx="45720" cy="1188720"/>
          </a:xfrm>
          <a:prstGeom prst="rect">
            <a:avLst/>
          </a:prstGeom>
          <a:solidFill>
            <a:srgbClr val="4A8A5A"/>
          </a:solidFill>
          <a:ln w="12700">
            <a:solidFill>
              <a:srgbClr val="4A8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789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00600" y="133502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 (app + market data + FX rates)  ·  S3 (model artefacts + backup)  ·  3 years daily equity prices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313432"/>
            <a:ext cx="4114800" cy="1188720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13432"/>
            <a:ext cx="45720" cy="1188720"/>
          </a:xfrm>
          <a:prstGeom prst="rect">
            <a:avLst/>
          </a:prstGeom>
          <a:solidFill>
            <a:srgbClr val="4A8A5A"/>
          </a:solidFill>
          <a:ln w="12700">
            <a:solidFill>
              <a:srgbClr val="4A8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048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266090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(market order queue)  ·  EventBridge (scheduled triggers)  ·  Step Functions (workflow orchestration)  ·  Slack (operational notifications)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2313432"/>
            <a:ext cx="4114800" cy="1188720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313432"/>
            <a:ext cx="45720" cy="1188720"/>
          </a:xfrm>
          <a:prstGeom prst="rect">
            <a:avLst/>
          </a:prstGeom>
          <a:solidFill>
            <a:srgbClr val="8A5A9A"/>
          </a:solidFill>
          <a:ln w="12700">
            <a:solidFill>
              <a:srgbClr val="8A5A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4048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00600" y="266090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+ Azure EntraID (SSO federation)  ·  KMS encryption at rest  ·  HTTPS all connections  ·  VPC network isolation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639312"/>
            <a:ext cx="4114800" cy="1188720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39312"/>
            <a:ext cx="45720" cy="1188720"/>
          </a:xfrm>
          <a:prstGeom prst="rect">
            <a:avLst/>
          </a:prstGeom>
          <a:solidFill>
            <a:srgbClr val="5A5A9A"/>
          </a:solidFill>
          <a:ln w="12700">
            <a:solidFill>
              <a:srgbClr val="5A5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307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398678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Two-account strategy: Shared CI/CD → Workload  ·  Dev now, Prod before first FM client  ·  AWS Amplify (React Admin Portal)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3639312"/>
            <a:ext cx="4114800" cy="1188720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639312"/>
            <a:ext cx="45720" cy="11887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7307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0600" y="3986784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ap-southeast-1 Singapore  ·  Region-agnostic — any AWS region configurable without architecture change  ·  Data residency follows region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77316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decision log (9 decisions with alternatives and rationale): WP-07 Production Infrastructure &amp; Technical Architecture</a:t>
            </a:r>
            <a:endParaRPr lang="en-US" sz="800" dirty="0"/>
          </a:p>
        </p:txBody>
      </p:sp>
      <p:pic>
        <p:nvPicPr>
          <p:cNvPr id="29" name="Picture 28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864000" cy="3697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jurisdictions. One convergent framework.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(Singapore), SFC/HKMA (Hong Kong), and FCA/PRA (UK) have independently converged on the same four requirements for responsible AI in financial services. Vektor was designed against these shared first principles — not retrofitted for compliance.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4114800" cy="1353312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81328"/>
            <a:ext cx="45720" cy="135331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outputs a confidence score and pass/fail per signal — stored in the strategy record, visible to the PM and any compliance reviewer who queries the audit log.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962656"/>
            <a:ext cx="4114800" cy="1353312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962656"/>
            <a:ext cx="45720" cy="135331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540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gates at every capital-at-risk stage. XGBoost output is an input to PM review, not a substitute for it. The PM makes the decision.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481328"/>
            <a:ext cx="4114800" cy="1353312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481328"/>
            <a:ext cx="45720" cy="135331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727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90195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output attributable to a specific model version, training dataset, and inference request. Every investment decision attributable to a specific human with timestamp.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962656"/>
            <a:ext cx="4114800" cy="1353312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962656"/>
            <a:ext cx="45720" cy="135331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0540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3832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call, validation result, strategy approval, and allocation logged with timestamp and identity. The complete chain from inference to trade is retrievable at any point.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773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references: MAS FEAT/Veritas  ·  HKMA TM-G-1  ·  SFC Circular March 2018  ·  PRA SS1/23  ·  FCA DP5/22  ·  Full detail: WP-08</a:t>
            </a:r>
            <a:endParaRPr lang="en-US" sz="800" dirty="0"/>
          </a:p>
        </p:txBody>
      </p:sp>
      <p:pic>
        <p:nvPicPr>
          <p:cNvPr id="22" name="Picture 21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864000" cy="3697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— WHAT IS NOT YET LIVE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 this before you ask.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capabilities have defined trigger conditions — not open-ended aspirations. Each one is resolved before the first Founding Mandate client onboards, or is on the near-term roadmap with a stated condition.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603504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" cy="603504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904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trade execution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99232" y="1508760"/>
            <a:ext cx="10973" cy="420624"/>
          </a:xfrm>
          <a:prstGeom prst="rect">
            <a:avLst/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27248" y="1490472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IBKR connection currently on simulation account. Full order flow tested. Live execution activated before first Founding Mandate client onboards.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12264"/>
            <a:ext cx="8412480" cy="603504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12264"/>
            <a:ext cx="45720" cy="603504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8541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environment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99232" y="2203704"/>
            <a:ext cx="10973" cy="420624"/>
          </a:xfrm>
          <a:prstGeom prst="rect">
            <a:avLst/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2185416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runs in dev environment. Two-account CI/CD is in place. Promotion to production before first Founding Mandate client onboards.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07208"/>
            <a:ext cx="8412480" cy="603504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07208"/>
            <a:ext cx="45720" cy="603504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803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Infrastructure-level RBAC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99232" y="2898648"/>
            <a:ext cx="10973" cy="420624"/>
          </a:xfrm>
          <a:prstGeom prst="rect">
            <a:avLst/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27248" y="288036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separation enforced at application layer today. AWS IAM-level RBAC on next prototype iteration roadmap.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02152"/>
            <a:ext cx="8412480" cy="603504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02152"/>
            <a:ext cx="45720" cy="603504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5753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observability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99232" y="3593592"/>
            <a:ext cx="10973" cy="420624"/>
          </a:xfrm>
          <a:prstGeom prst="rect">
            <a:avLst/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27248" y="3575304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logging in place. Alerting dashboards on near-term roadmap. Slack notifications provide current operational visibility.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197096"/>
            <a:ext cx="8412480" cy="603504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197096"/>
            <a:ext cx="45720" cy="603504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02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 record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99232" y="4288536"/>
            <a:ext cx="10973" cy="420624"/>
          </a:xfrm>
          <a:prstGeom prst="rect">
            <a:avLst/>
          </a:prstGeom>
          <a:solidFill>
            <a:srgbClr val="2A2A35"/>
          </a:solidFill>
          <a:ln w="12700">
            <a:solidFill>
              <a:srgbClr val="2A2A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27248" y="4270248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operational in simulation mode. Live track record begins with the first Founding Mandate client. This is a material fact stated directly.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7731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risk analysis: WP-09 Risk &amp; Limitation Disclosure</a:t>
            </a:r>
            <a:endParaRPr lang="en-US" sz="800" dirty="0"/>
          </a:p>
        </p:txBody>
      </p:sp>
      <p:pic>
        <p:nvPicPr>
          <p:cNvPr id="31" name="Picture 30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864000" cy="3697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DOCUMENT SUITE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this presentation has a supporting document.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114800" cy="1170432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45720" cy="1170432"/>
          </a:xfrm>
          <a:prstGeom prst="rect">
            <a:avLst/>
          </a:prstGeom>
          <a:solidFill>
            <a:srgbClr val="8A5A9A"/>
          </a:solidFill>
          <a:ln w="12700">
            <a:solidFill>
              <a:srgbClr val="8A5A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5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WP-06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325880" y="10789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Compliance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Three-role model, complete action logging, compliance architecture. First document for any compliance officer.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987552"/>
            <a:ext cx="4114800" cy="1170432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87552"/>
            <a:ext cx="45720" cy="1170432"/>
          </a:xfrm>
          <a:prstGeom prst="rect">
            <a:avLst/>
          </a:prstGeom>
          <a:solidFill>
            <a:srgbClr val="4A7A9A"/>
          </a:solidFill>
          <a:ln w="12700">
            <a:solidFill>
              <a:srgbClr val="4A7A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789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WP-07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23560" y="10789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371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 inventory, architecture diagram, 9-decision log, data flows, integration patterns, region-agnostic deployment.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114800" cy="1170432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286000"/>
            <a:ext cx="45720" cy="1170432"/>
          </a:xfrm>
          <a:prstGeom prst="rect">
            <a:avLst/>
          </a:prstGeom>
          <a:solidFill>
            <a:srgbClr val="4A8A5A"/>
          </a:solidFill>
          <a:ln w="12700">
            <a:solidFill>
              <a:srgbClr val="4A8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774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WP-08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25880" y="237744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Instrument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6700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principle, human approval gates, MAS FEAT / SFC / FCA alignment with specific regulatory document references.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286000"/>
            <a:ext cx="4114800" cy="1170432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286000"/>
            <a:ext cx="45720" cy="1170432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774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WP-09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23560" y="237744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Limitation Disclosure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6700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identified risks across 4 categories. Likelihood, impact, mitigations in place and on roadmap with trigger conditions.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584448"/>
            <a:ext cx="4114800" cy="1170432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584448"/>
            <a:ext cx="45720" cy="1170432"/>
          </a:xfrm>
          <a:prstGeom prst="rect">
            <a:avLst/>
          </a:prstGeom>
          <a:solidFill>
            <a:srgbClr val="9A8A4A"/>
          </a:solidFill>
          <a:ln w="12700">
            <a:solidFill>
              <a:srgbClr val="9A8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7588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WP-10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325880" y="367588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Performance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396849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ratio, drawdown, benchmark comparison, signal decay, walk-forward validation — how to evaluate Vektor strategy outputs.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584448"/>
            <a:ext cx="4114800" cy="1170432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584448"/>
            <a:ext cx="45720" cy="117043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7588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Guide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23560" y="367588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Navigation Guide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396849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15-document suite with question-based directory and 12-step recommended reading sequence for Founding Mandate partners.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77316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documents at investpuppy.com  ·  Full technical documentation available on request to Founding Mandate partners</a:t>
            </a:r>
            <a:endParaRPr lang="en-US" sz="800" dirty="0"/>
          </a:p>
        </p:txBody>
      </p:sp>
      <p:pic>
        <p:nvPicPr>
          <p:cNvPr id="35" name="Picture 34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864000" cy="3697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FOUNDING MANDATE — GOVERNANCE TERMS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institutional adoption looks like at this stage.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Founding Mandate programme is structured for institutional partners conducting full due diligence. Terms reflect the early stage — and the strategic advantage that comes with it.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1042416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" cy="1042416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terms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801368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Mandate pricing locked permanently — never increases as the platform develops or additional clients join.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114800" cy="1042416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417320"/>
            <a:ext cx="45720" cy="1042416"/>
          </a:xfrm>
          <a:prstGeom prst="rect">
            <a:avLst/>
          </a:prstGeom>
          <a:solidFill>
            <a:srgbClr val="4A7A9A"/>
          </a:solidFill>
          <a:ln w="12700">
            <a:solidFill>
              <a:srgbClr val="4A7A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508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configuration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0600" y="1801368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around your specific instruments, markets, client profiles, and compliance workflow — not a generic deployment.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587752"/>
            <a:ext cx="4114800" cy="1042416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87752"/>
            <a:ext cx="45720" cy="1042416"/>
          </a:xfrm>
          <a:prstGeom prst="rect">
            <a:avLst/>
          </a:prstGeom>
          <a:solidFill>
            <a:srgbClr val="4A8A5A"/>
          </a:solidFill>
          <a:ln w="12700">
            <a:solidFill>
              <a:srgbClr val="4A8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791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your required AWS region. Data residency guarantees follow the region. Specific commitments agreed in mandate terms.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587752"/>
            <a:ext cx="4114800" cy="1042416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587752"/>
            <a:ext cx="45720" cy="1042416"/>
          </a:xfrm>
          <a:prstGeom prst="rect">
            <a:avLst/>
          </a:prstGeom>
          <a:solidFill>
            <a:srgbClr val="8A5A9A"/>
          </a:solidFill>
          <a:ln w="12700">
            <a:solidFill>
              <a:srgbClr val="8A5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6791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access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2971800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documentation — VPC architecture, RDS schema, IAM policies, SageMaker configuration — available on request.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758184"/>
            <a:ext cx="4114800" cy="1042416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758184"/>
            <a:ext cx="45720" cy="1042416"/>
          </a:xfrm>
          <a:prstGeom prst="rect">
            <a:avLst/>
          </a:prstGeom>
          <a:solidFill>
            <a:srgbClr val="9A8A4A"/>
          </a:solidFill>
          <a:ln w="12700">
            <a:solidFill>
              <a:srgbClr val="9A8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496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input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142232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input into product development. Founding Mandate partner workflow shapes what gets built next and in what order.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758184"/>
            <a:ext cx="4114800" cy="1042416"/>
          </a:xfrm>
          <a:prstGeom prst="rect">
            <a:avLst/>
          </a:prstGeom>
          <a:solidFill>
            <a:srgbClr val="111116"/>
          </a:solidFill>
          <a:ln w="6350">
            <a:solidFill>
              <a:srgbClr val="2A2A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758184"/>
            <a:ext cx="45720" cy="1042416"/>
          </a:xfrm>
          <a:prstGeom prst="rect">
            <a:avLst/>
          </a:prstGeom>
          <a:solidFill>
            <a:srgbClr val="8A3030"/>
          </a:solidFill>
          <a:ln w="12700">
            <a:solidFill>
              <a:srgbClr val="8A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8496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transparency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4142232"/>
            <a:ext cx="3840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WP-09 documents every known limitation with defined trigger conditions. No surprises after signing. Questions are welcome.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by InvestPuppy  ·  Due Diligence Presentation</a:t>
            </a:r>
            <a:endParaRPr lang="en-US" sz="800" dirty="0"/>
          </a:p>
        </p:txBody>
      </p:sp>
      <p:pic>
        <p:nvPicPr>
          <p:cNvPr id="30" name="Picture 29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4608000"/>
            <a:ext cx="864000" cy="3697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11116"/>
          </a:solidFill>
          <a:ln w="12700">
            <a:solidFill>
              <a:srgbClr val="1111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this presentation has not answered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questions we want to hear.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Mandate due diligence is a conversation, not a document review. Every question a compliance officer, CTO, or risk committee raises is a question the platform needs to answer — and the answer will be documented.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3657600" cy="18288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186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contact@investpuppy.com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5478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investpuppy.com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773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INVESTPUPPY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0" y="477316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Presentation  ·  For professional and institutional investors only</a:t>
            </a:r>
            <a:endParaRPr lang="en-US" sz="800" dirty="0"/>
          </a:p>
        </p:txBody>
      </p:sp>
      <p:pic>
        <p:nvPicPr>
          <p:cNvPr id="12" name="Picture 11" descr="IPHorizontal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000" y="4248000"/>
            <a:ext cx="1080000" cy="4621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2592000"/>
            <a:ext cx="73152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9A9086"/>
                </a:solidFill>
                <a:latin typeface="Helvetica"/>
              </a:rPr>
              <a:t>Serious when it matters.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Vektor Due Diligence Presentation</dc:title>
  <dc:subject>PptxGenJS Presentation</dc:subject>
  <dc:creator>PptxGenJS</dc:creator>
  <cp:lastModifiedBy>PptxGenJS</cp:lastModifiedBy>
  <cp:revision>1</cp:revision>
  <dcterms:created xsi:type="dcterms:W3CDTF">2026-05-05T08:24:45Z</dcterms:created>
  <dcterms:modified xsi:type="dcterms:W3CDTF">2026-05-05T08:24:45Z</dcterms:modified>
</cp:coreProperties>
</file>